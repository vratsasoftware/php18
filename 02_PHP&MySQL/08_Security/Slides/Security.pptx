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70"/>
  </p:notesMasterIdLst>
  <p:sldIdLst>
    <p:sldId id="256" r:id="rId2"/>
    <p:sldId id="257" r:id="rId3"/>
    <p:sldId id="258" r:id="rId4"/>
    <p:sldId id="259" r:id="rId5"/>
    <p:sldId id="260" r:id="rId6"/>
    <p:sldId id="270" r:id="rId7"/>
    <p:sldId id="271" r:id="rId8"/>
    <p:sldId id="273" r:id="rId9"/>
    <p:sldId id="274" r:id="rId10"/>
    <p:sldId id="281" r:id="rId11"/>
    <p:sldId id="276" r:id="rId12"/>
    <p:sldId id="282" r:id="rId13"/>
    <p:sldId id="277" r:id="rId14"/>
    <p:sldId id="283" r:id="rId15"/>
    <p:sldId id="284" r:id="rId16"/>
    <p:sldId id="285" r:id="rId17"/>
    <p:sldId id="286" r:id="rId18"/>
    <p:sldId id="287" r:id="rId19"/>
    <p:sldId id="288" r:id="rId20"/>
    <p:sldId id="290" r:id="rId21"/>
    <p:sldId id="291" r:id="rId22"/>
    <p:sldId id="292" r:id="rId23"/>
    <p:sldId id="293" r:id="rId24"/>
    <p:sldId id="294" r:id="rId25"/>
    <p:sldId id="295" r:id="rId26"/>
    <p:sldId id="337" r:id="rId27"/>
    <p:sldId id="296" r:id="rId28"/>
    <p:sldId id="297" r:id="rId29"/>
    <p:sldId id="298" r:id="rId30"/>
    <p:sldId id="299" r:id="rId31"/>
    <p:sldId id="300" r:id="rId32"/>
    <p:sldId id="301" r:id="rId33"/>
    <p:sldId id="303" r:id="rId34"/>
    <p:sldId id="302" r:id="rId35"/>
    <p:sldId id="304" r:id="rId36"/>
    <p:sldId id="305" r:id="rId37"/>
    <p:sldId id="306" r:id="rId38"/>
    <p:sldId id="307" r:id="rId39"/>
    <p:sldId id="308" r:id="rId40"/>
    <p:sldId id="309" r:id="rId41"/>
    <p:sldId id="310" r:id="rId42"/>
    <p:sldId id="338" r:id="rId43"/>
    <p:sldId id="339" r:id="rId44"/>
    <p:sldId id="311" r:id="rId45"/>
    <p:sldId id="312" r:id="rId46"/>
    <p:sldId id="313" r:id="rId47"/>
    <p:sldId id="314" r:id="rId48"/>
    <p:sldId id="315" r:id="rId49"/>
    <p:sldId id="316" r:id="rId50"/>
    <p:sldId id="317" r:id="rId51"/>
    <p:sldId id="318" r:id="rId52"/>
    <p:sldId id="319" r:id="rId53"/>
    <p:sldId id="322" r:id="rId54"/>
    <p:sldId id="321" r:id="rId55"/>
    <p:sldId id="323" r:id="rId56"/>
    <p:sldId id="324" r:id="rId57"/>
    <p:sldId id="325" r:id="rId58"/>
    <p:sldId id="326" r:id="rId59"/>
    <p:sldId id="327" r:id="rId60"/>
    <p:sldId id="328" r:id="rId61"/>
    <p:sldId id="329" r:id="rId62"/>
    <p:sldId id="330" r:id="rId63"/>
    <p:sldId id="331" r:id="rId64"/>
    <p:sldId id="332" r:id="rId65"/>
    <p:sldId id="333" r:id="rId66"/>
    <p:sldId id="334" r:id="rId67"/>
    <p:sldId id="335" r:id="rId68"/>
    <p:sldId id="336" r:id="rId69"/>
  </p:sldIdLst>
  <p:sldSz cx="9144000" cy="5143500" type="screen16x9"/>
  <p:notesSz cx="6858000" cy="9144000"/>
  <p:embeddedFontLst>
    <p:embeddedFont>
      <p:font typeface="Syncopate" panose="020B0604020202020204" charset="0"/>
      <p:regular r:id="rId71"/>
      <p:bold r:id="rId72"/>
    </p:embeddedFont>
    <p:embeddedFont>
      <p:font typeface="Calibri" panose="020F0502020204030204" pitchFamily="34" charset="0"/>
      <p:regular r:id="rId73"/>
      <p:bold r:id="rId74"/>
      <p:italic r:id="rId75"/>
      <p:boldItalic r:id="rId7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1334E"/>
    <a:srgbClr val="00B5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16" d="100"/>
          <a:sy n="116" d="100"/>
        </p:scale>
        <p:origin x="-413" y="20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font" Target="fonts/font6.fntdata"/><Relationship Id="rId7" Type="http://schemas.openxmlformats.org/officeDocument/2006/relationships/slide" Target="slides/slide6.xml"/><Relationship Id="rId71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font" Target="fonts/font4.fntdata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font" Target="fonts/font3.fntdata"/><Relationship Id="rId7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2.fntdata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75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8549629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" name="Google Shape;68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" name="Google Shape;81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3" name="Google Shape;153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9" name="Google Shape;179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9" name="Google Shape;179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599" cy="20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599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599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898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898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7999" cy="755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7999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49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198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198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457200" marR="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/>
          </p:nvPr>
        </p:nvSpPr>
        <p:spPr>
          <a:xfrm>
            <a:off x="311700" y="1106125"/>
            <a:ext cx="8520599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sz="1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sz="12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sz="12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sz="12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sz="12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sz="12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sz="12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sz="12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sz="1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599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wasp.org/index.php/Cross-site_Scripting_(XSS)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xcess-xss.com/" TargetMode="External"/><Relationship Id="rId4" Type="http://schemas.openxmlformats.org/officeDocument/2006/relationships/hyperlink" Target="https://pentest-tools.com/blog/xss-attacks-practical-scenarios/" TargetMode="Externa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sql/sql_injection.asp" TargetMode="Externa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php/php_mysql_prepared_statements.asp" TargetMode="Externa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://php.net/manual/en/mysqli.real-escape-string.php" TargetMode="Externa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stackoverflow.com/questions/134099/are-pdo-prepared-statements-sufficient-to-prevent-sql-injection/12202218#12202218" TargetMode="External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http://php.net/manual/en/function.filter-var.php" TargetMode="External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://php.net/manual/en/book.ctype.php" TargetMode="External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php/func_filter_var.asp" TargetMode="External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html/html_entities.asp" TargetMode="External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hyperlink" Target="http://php.net/manual/en/book.mcrypt.php" TargetMode="External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hyperlink" Target="http://php.net/manual/en/function.password-hash.php" TargetMode="External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hyperlink" Target="http://php.net/manual/en/faq.passwords.php" TargetMode="External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-24225" y="2850900"/>
            <a:ext cx="9168298" cy="2292599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599" cy="20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Syncopate"/>
              <a:buNone/>
            </a:pPr>
            <a:r>
              <a:rPr lang="en-US" sz="2400" b="1" dirty="0">
                <a:solidFill>
                  <a:srgbClr val="8BC34A"/>
                </a:solidFill>
                <a:latin typeface="Syncopate"/>
                <a:ea typeface="Syncopate"/>
                <a:cs typeface="Syncopate"/>
                <a:sym typeface="Syncopate"/>
              </a:rPr>
              <a:t>web </a:t>
            </a:r>
            <a:r>
              <a:rPr lang="en-US" sz="2400" b="1" dirty="0" smtClean="0">
                <a:solidFill>
                  <a:srgbClr val="8BC34A"/>
                </a:solidFill>
                <a:latin typeface="Syncopate"/>
                <a:ea typeface="Syncopate"/>
                <a:cs typeface="Syncopate"/>
                <a:sym typeface="Syncopate"/>
              </a:rPr>
              <a:t>development</a:t>
            </a:r>
            <a:endParaRPr sz="2400" dirty="0"/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599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lang="en-US" sz="3600" b="1" dirty="0" smtClean="0">
                <a:solidFill>
                  <a:srgbClr val="FFFFFF"/>
                </a:solidFill>
              </a:rPr>
              <a:t>security</a:t>
            </a:r>
            <a:endParaRPr sz="3600" b="1" dirty="0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endParaRPr sz="4800" b="1" dirty="0">
              <a:solidFill>
                <a:srgbClr val="FFFFFF"/>
              </a:solidFill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81361" y="497375"/>
            <a:ext cx="2981276" cy="124962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/>
          <p:nvPr/>
        </p:nvSpPr>
        <p:spPr>
          <a:xfrm>
            <a:off x="-60750" y="4860300"/>
            <a:ext cx="9265500" cy="2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МИЛЕНА ТОМОВА - НПО ВРАЦА СОФТУЕР ОБЩЕСТВО - УЕБ РАЗРАБОТКА - 11.201</a:t>
            </a:r>
            <a:r>
              <a:rPr lang="en-US" b="1">
                <a:solidFill>
                  <a:srgbClr val="CCCCCC"/>
                </a:solidFill>
              </a:rPr>
              <a:t>8</a:t>
            </a:r>
            <a:r>
              <a:rPr lang="en-US" sz="1400" b="1" i="0" u="none" strike="noStrike" cap="non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 - ВЕРСИЯ </a:t>
            </a:r>
            <a:r>
              <a:rPr lang="en-US" b="1">
                <a:solidFill>
                  <a:srgbClr val="CCCCCC"/>
                </a:solidFill>
              </a:rPr>
              <a:t>6</a:t>
            </a:r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endParaRPr dirty="0"/>
          </a:p>
        </p:txBody>
      </p:sp>
      <p:sp>
        <p:nvSpPr>
          <p:cNvPr id="64" name="Google Shape;64;p14"/>
          <p:cNvSpPr/>
          <p:nvPr/>
        </p:nvSpPr>
        <p:spPr>
          <a:xfrm>
            <a:off x="0" y="0"/>
            <a:ext cx="9144000" cy="764398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0" y="30300"/>
            <a:ext cx="6805500" cy="703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Съдържание</a:t>
            </a:r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9933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>
            <a:spLocks noGrp="1"/>
          </p:cNvSpPr>
          <p:nvPr>
            <p:ph type="title"/>
          </p:nvPr>
        </p:nvSpPr>
        <p:spPr>
          <a:xfrm>
            <a:off x="311700" y="1767300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r>
              <a:rPr lang="en-US" sz="3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3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3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				</a:t>
            </a:r>
            <a:endParaRPr sz="30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5"/>
          <p:cNvSpPr/>
          <p:nvPr/>
        </p:nvSpPr>
        <p:spPr>
          <a:xfrm>
            <a:off x="1115616" y="1823794"/>
            <a:ext cx="72008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sz="36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Intro</a:t>
            </a:r>
            <a:endParaRPr sz="36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Security is a major concern for web applications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Even </a:t>
            </a:r>
            <a:r>
              <a:rPr lang="en-US" dirty="0"/>
              <a:t>major organizations such as </a:t>
            </a:r>
            <a:r>
              <a:rPr lang="en-US" dirty="0" smtClean="0"/>
              <a:t>the United </a:t>
            </a:r>
            <a:r>
              <a:rPr lang="en-US" dirty="0"/>
              <a:t>Nations have been hacked using </a:t>
            </a:r>
            <a:endParaRPr lang="en-US" dirty="0" smtClean="0"/>
          </a:p>
          <a:p>
            <a:r>
              <a:rPr lang="en-US" dirty="0" smtClean="0"/>
              <a:t>very </a:t>
            </a:r>
            <a:r>
              <a:rPr lang="en-US" dirty="0"/>
              <a:t>simple security flaws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77" name="Google Shape;77;p16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0071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339933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lang="en-US" sz="3200" b="1" i="0" u="none" strike="noStrike" cap="none" dirty="0" smtClea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Intro</a:t>
            </a:r>
            <a:endParaRPr sz="3200" b="1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 smtClean="0"/>
              <a:t>There </a:t>
            </a:r>
            <a:r>
              <a:rPr lang="en-US" dirty="0"/>
              <a:t>is no such thing as a completely secure system. 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Our aim when </a:t>
            </a:r>
            <a:r>
              <a:rPr lang="en-US" dirty="0"/>
              <a:t>securing an application is two-fold. </a:t>
            </a:r>
            <a:endParaRPr lang="en-US" dirty="0" smtClean="0"/>
          </a:p>
          <a:p>
            <a:endParaRPr lang="en-US" dirty="0" smtClean="0"/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dirty="0" smtClean="0"/>
              <a:t>First - to </a:t>
            </a:r>
            <a:r>
              <a:rPr lang="en-US" dirty="0"/>
              <a:t>make it take as long as </a:t>
            </a:r>
            <a:r>
              <a:rPr lang="en-US" dirty="0" smtClean="0"/>
              <a:t>possible for </a:t>
            </a:r>
            <a:r>
              <a:rPr lang="en-US" dirty="0"/>
              <a:t>an attacker to gain access</a:t>
            </a:r>
            <a:r>
              <a:rPr lang="en-US" dirty="0" smtClean="0"/>
              <a:t>.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dirty="0" smtClean="0"/>
              <a:t>Next - to </a:t>
            </a:r>
            <a:r>
              <a:rPr lang="en-US" dirty="0"/>
              <a:t>minimize the value of any </a:t>
            </a:r>
            <a:r>
              <a:rPr lang="en-US" dirty="0" smtClean="0"/>
              <a:t>information they </a:t>
            </a:r>
            <a:r>
              <a:rPr lang="en-US" dirty="0"/>
              <a:t>can retrieve.</a:t>
            </a:r>
            <a:endParaRPr lang="en-US" b="1" dirty="0"/>
          </a:p>
        </p:txBody>
      </p:sp>
      <p:sp>
        <p:nvSpPr>
          <p:cNvPr id="84" name="Google Shape;84;p17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0071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339933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lang="en-US" sz="3200" b="1" dirty="0" smtClean="0">
                <a:solidFill>
                  <a:srgbClr val="FFFFFF"/>
                </a:solidFill>
              </a:rPr>
              <a:t>Intro</a:t>
            </a:r>
            <a:endParaRPr sz="3200" b="1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3366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7"/>
          <p:cNvSpPr txBox="1">
            <a:spLocks noGrp="1"/>
          </p:cNvSpPr>
          <p:nvPr>
            <p:ph type="title"/>
          </p:nvPr>
        </p:nvSpPr>
        <p:spPr>
          <a:xfrm>
            <a:off x="311700" y="1767300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r>
              <a:rPr lang="en-US" sz="3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3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3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				</a:t>
            </a:r>
            <a:endParaRPr sz="30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7"/>
          <p:cNvSpPr/>
          <p:nvPr/>
        </p:nvSpPr>
        <p:spPr>
          <a:xfrm>
            <a:off x="1115616" y="1823794"/>
            <a:ext cx="45720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Arial"/>
              <a:buNone/>
            </a:pPr>
            <a:r>
              <a:rPr lang="en-US" sz="44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Configuration</a:t>
            </a:r>
            <a:endParaRPr sz="44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 smtClean="0"/>
              <a:t>When </a:t>
            </a:r>
            <a:r>
              <a:rPr lang="en-US" dirty="0"/>
              <a:t>configuring PHP </a:t>
            </a:r>
            <a:r>
              <a:rPr lang="en-US" dirty="0" smtClean="0"/>
              <a:t>make </a:t>
            </a:r>
            <a:r>
              <a:rPr lang="en-US" dirty="0"/>
              <a:t>sure that you keep up to date </a:t>
            </a:r>
            <a:r>
              <a:rPr lang="en-US" dirty="0" smtClean="0"/>
              <a:t>with the </a:t>
            </a:r>
            <a:r>
              <a:rPr lang="en-US" dirty="0"/>
              <a:t>releases and use the improvements they bring.</a:t>
            </a:r>
          </a:p>
          <a:p>
            <a:endParaRPr lang="en-US" dirty="0" smtClean="0"/>
          </a:p>
          <a:p>
            <a:r>
              <a:rPr lang="en-US" dirty="0" smtClean="0"/>
              <a:t>You </a:t>
            </a:r>
            <a:r>
              <a:rPr lang="en-US" dirty="0"/>
              <a:t>should have a very strong reason if you are not using the most </a:t>
            </a:r>
            <a:r>
              <a:rPr lang="en-US" dirty="0" smtClean="0"/>
              <a:t>current stable release </a:t>
            </a:r>
            <a:r>
              <a:rPr lang="en-US" dirty="0"/>
              <a:t>of PHP in favor of an older version.</a:t>
            </a:r>
            <a:endParaRPr dirty="0"/>
          </a:p>
        </p:txBody>
      </p:sp>
      <p:sp>
        <p:nvSpPr>
          <p:cNvPr id="162" name="Google Shape;162;p28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0071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8"/>
          <p:cNvSpPr txBox="1"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993366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lang="en-US" sz="3200" b="1" i="0" u="none" strike="noStrike" cap="none" dirty="0" smtClea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Configuration</a:t>
            </a:r>
            <a:endParaRPr sz="3200" b="1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6699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0"/>
          <p:cNvSpPr txBox="1">
            <a:spLocks noGrp="1"/>
          </p:cNvSpPr>
          <p:nvPr>
            <p:ph type="title"/>
          </p:nvPr>
        </p:nvSpPr>
        <p:spPr>
          <a:xfrm>
            <a:off x="311700" y="1767300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r>
              <a:rPr lang="en-US" sz="3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3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3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				</a:t>
            </a:r>
            <a:endParaRPr sz="30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30"/>
          <p:cNvSpPr/>
          <p:nvPr/>
        </p:nvSpPr>
        <p:spPr>
          <a:xfrm>
            <a:off x="1115616" y="1823794"/>
            <a:ext cx="72008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Clr>
                <a:schemeClr val="lt1"/>
              </a:buClr>
              <a:buSzPts val="4800"/>
            </a:pPr>
            <a:r>
              <a:rPr lang="en-US" sz="4800" b="1" dirty="0">
                <a:solidFill>
                  <a:schemeClr val="bg1"/>
                </a:solidFill>
              </a:rPr>
              <a:t>Errors and Warnings</a:t>
            </a:r>
            <a:endParaRPr sz="4800" b="1" i="0" u="none" strike="noStrike" cap="none" dirty="0">
              <a:solidFill>
                <a:schemeClr val="bg1"/>
              </a:solidFill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You should configure PHP to hide warnings and errors while in </a:t>
            </a:r>
            <a:r>
              <a:rPr lang="en-US" dirty="0" smtClean="0"/>
              <a:t>production.</a:t>
            </a:r>
          </a:p>
          <a:p>
            <a:endParaRPr lang="en-US" dirty="0"/>
          </a:p>
          <a:p>
            <a:r>
              <a:rPr lang="en-US" dirty="0" smtClean="0"/>
              <a:t>Errors and warnings </a:t>
            </a:r>
            <a:r>
              <a:rPr lang="en-US" dirty="0"/>
              <a:t>can give a person a clue about the internal workings of your code such </a:t>
            </a:r>
            <a:r>
              <a:rPr lang="en-US" dirty="0" smtClean="0"/>
              <a:t>as directory </a:t>
            </a:r>
            <a:r>
              <a:rPr lang="en-US" dirty="0"/>
              <a:t>names and what libraries you are using. </a:t>
            </a:r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/>
              <a:t>sort of information can help </a:t>
            </a:r>
            <a:r>
              <a:rPr lang="en-US" dirty="0" smtClean="0"/>
              <a:t>them exploit </a:t>
            </a:r>
            <a:r>
              <a:rPr lang="en-US" dirty="0"/>
              <a:t>vulnerabilities in your stack.</a:t>
            </a:r>
            <a:endParaRPr dirty="0"/>
          </a:p>
        </p:txBody>
      </p:sp>
      <p:sp>
        <p:nvSpPr>
          <p:cNvPr id="182" name="Google Shape;182;p31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0071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31"/>
          <p:cNvSpPr txBox="1"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666699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lang="en-US" sz="3200" b="1" i="0" u="none" strike="noStrike" cap="none" dirty="0" smtClea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Errors and Warnings</a:t>
            </a:r>
            <a:endParaRPr sz="3200" b="1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php.ini file or at runtime with </a:t>
            </a:r>
            <a:r>
              <a:rPr lang="en-US" dirty="0" smtClean="0"/>
              <a:t>the </a:t>
            </a:r>
            <a:r>
              <a:rPr lang="en-US" dirty="0" err="1" smtClean="0"/>
              <a:t>error_reporting</a:t>
            </a:r>
            <a:r>
              <a:rPr lang="en-US" dirty="0"/>
              <a:t>() </a:t>
            </a:r>
            <a:r>
              <a:rPr lang="en-US" dirty="0" smtClean="0"/>
              <a:t>function</a:t>
            </a:r>
          </a:p>
          <a:p>
            <a:endParaRPr lang="en-US" dirty="0"/>
          </a:p>
          <a:p>
            <a:r>
              <a:rPr lang="en-US" b="1" dirty="0"/>
              <a:t>Setting </a:t>
            </a:r>
            <a:r>
              <a:rPr lang="en-US" b="1" dirty="0" smtClean="0"/>
              <a:t>		Value</a:t>
            </a:r>
            <a:endParaRPr lang="en-US" b="1" dirty="0"/>
          </a:p>
          <a:p>
            <a:r>
              <a:rPr lang="en-US" dirty="0" err="1"/>
              <a:t>display_errors</a:t>
            </a:r>
            <a:r>
              <a:rPr lang="en-US" dirty="0"/>
              <a:t> </a:t>
            </a:r>
            <a:r>
              <a:rPr lang="en-US" dirty="0" smtClean="0"/>
              <a:t>		Off</a:t>
            </a:r>
            <a:endParaRPr lang="en-US" dirty="0"/>
          </a:p>
          <a:p>
            <a:r>
              <a:rPr lang="en-US" dirty="0" err="1"/>
              <a:t>log_errors</a:t>
            </a:r>
            <a:r>
              <a:rPr lang="en-US" dirty="0"/>
              <a:t> </a:t>
            </a:r>
            <a:r>
              <a:rPr lang="en-US" dirty="0" smtClean="0"/>
              <a:t>		On</a:t>
            </a:r>
            <a:endParaRPr lang="en-US" dirty="0"/>
          </a:p>
          <a:p>
            <a:r>
              <a:rPr lang="en-US" dirty="0" err="1"/>
              <a:t>error_reporting</a:t>
            </a:r>
            <a:r>
              <a:rPr lang="en-US" dirty="0"/>
              <a:t> </a:t>
            </a:r>
            <a:r>
              <a:rPr lang="en-US" dirty="0" smtClean="0"/>
              <a:t>		E_ALL </a:t>
            </a:r>
            <a:r>
              <a:rPr lang="en-US" dirty="0"/>
              <a:t>&amp; ~E_DEPRECATED &amp; ~E_STRICT</a:t>
            </a:r>
            <a:endParaRPr dirty="0"/>
          </a:p>
        </p:txBody>
      </p:sp>
      <p:sp>
        <p:nvSpPr>
          <p:cNvPr id="182" name="Google Shape;182;p31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0071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31"/>
          <p:cNvSpPr txBox="1"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666699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lang="en-US" sz="3200" b="1" i="0" u="none" strike="noStrike" cap="none" dirty="0" smtClea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Errors and Warnings</a:t>
            </a:r>
            <a:endParaRPr sz="3200" b="1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55443757"/>
      </p:ext>
    </p:extLst>
  </p:cSld>
  <p:clrMapOvr>
    <a:masterClrMapping/>
  </p:clrMapOvr>
  <p:transition spd="slow"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66CC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3"/>
          <p:cNvSpPr txBox="1">
            <a:spLocks noGrp="1"/>
          </p:cNvSpPr>
          <p:nvPr>
            <p:ph type="title"/>
          </p:nvPr>
        </p:nvSpPr>
        <p:spPr>
          <a:xfrm>
            <a:off x="311700" y="1767300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r>
              <a:rPr lang="en-US" sz="30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30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0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30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0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				</a:t>
            </a:r>
            <a:endParaRPr sz="3000" b="1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33"/>
          <p:cNvSpPr/>
          <p:nvPr/>
        </p:nvSpPr>
        <p:spPr>
          <a:xfrm>
            <a:off x="1115616" y="1823794"/>
            <a:ext cx="72008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lang="en-US" sz="48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Session Security</a:t>
            </a:r>
            <a:endParaRPr sz="48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US" dirty="0" smtClean="0"/>
          </a:p>
          <a:p>
            <a:r>
              <a:rPr lang="en-US" dirty="0" smtClean="0"/>
              <a:t>HTTP </a:t>
            </a:r>
            <a:r>
              <a:rPr lang="en-US" dirty="0"/>
              <a:t>is a stateless protocol and a web server can be expected to be serving </a:t>
            </a:r>
            <a:r>
              <a:rPr lang="en-US" dirty="0" smtClean="0"/>
              <a:t>multiple different </a:t>
            </a:r>
            <a:r>
              <a:rPr lang="en-US" dirty="0"/>
              <a:t>visitors at the same time.</a:t>
            </a:r>
          </a:p>
          <a:p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server needs to be able to tell clients apart and does so by assigning each </a:t>
            </a:r>
            <a:r>
              <a:rPr lang="en-US" dirty="0" smtClean="0"/>
              <a:t>client a </a:t>
            </a:r>
            <a:r>
              <a:rPr lang="en-US" b="1" dirty="0">
                <a:solidFill>
                  <a:srgbClr val="0070C0"/>
                </a:solidFill>
              </a:rPr>
              <a:t>session identifier</a:t>
            </a:r>
            <a:r>
              <a:rPr lang="en-US" dirty="0"/>
              <a:t>. </a:t>
            </a:r>
            <a:endParaRPr lang="en-US" dirty="0" smtClean="0"/>
          </a:p>
          <a:p>
            <a:endParaRPr lang="en-US" dirty="0"/>
          </a:p>
          <a:p>
            <a:r>
              <a:rPr lang="en-US" i="1" dirty="0" smtClean="0"/>
              <a:t>The </a:t>
            </a:r>
            <a:r>
              <a:rPr lang="en-US" i="1" dirty="0"/>
              <a:t>session identifier can be retrieved by calling </a:t>
            </a:r>
            <a:r>
              <a:rPr lang="en-US" b="1" i="1" dirty="0" err="1">
                <a:solidFill>
                  <a:srgbClr val="0070C0"/>
                </a:solidFill>
              </a:rPr>
              <a:t>session_id</a:t>
            </a:r>
            <a:r>
              <a:rPr lang="en-US" b="1" i="1" dirty="0">
                <a:solidFill>
                  <a:srgbClr val="0070C0"/>
                </a:solidFill>
              </a:rPr>
              <a:t>()</a:t>
            </a:r>
            <a:r>
              <a:rPr lang="en-US" i="1" dirty="0"/>
              <a:t>. It is</a:t>
            </a:r>
          </a:p>
          <a:p>
            <a:r>
              <a:rPr lang="en-US" i="1" dirty="0"/>
              <a:t>created after the </a:t>
            </a:r>
            <a:r>
              <a:rPr lang="en-US" b="1" i="1" dirty="0" err="1">
                <a:solidFill>
                  <a:srgbClr val="0070C0"/>
                </a:solidFill>
              </a:rPr>
              <a:t>session_start</a:t>
            </a:r>
            <a:r>
              <a:rPr lang="en-US" b="1" i="1" dirty="0">
                <a:solidFill>
                  <a:srgbClr val="0070C0"/>
                </a:solidFill>
              </a:rPr>
              <a:t>()</a:t>
            </a:r>
            <a:r>
              <a:rPr lang="en-US" i="1" dirty="0"/>
              <a:t> function is called</a:t>
            </a:r>
            <a:r>
              <a:rPr lang="en-US" i="1" dirty="0" smtClean="0"/>
              <a:t>.</a:t>
            </a:r>
            <a:endParaRPr lang="en-US" i="1" dirty="0"/>
          </a:p>
        </p:txBody>
      </p:sp>
      <p:sp>
        <p:nvSpPr>
          <p:cNvPr id="203" name="Google Shape;203;p34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0071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4"/>
          <p:cNvSpPr txBox="1"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3366CC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>
              <a:buClr>
                <a:srgbClr val="FFFFFF"/>
              </a:buClr>
              <a:buSzPts val="800"/>
            </a:pPr>
            <a:r>
              <a:rPr lang="en-US" sz="3200" b="1" dirty="0">
                <a:solidFill>
                  <a:schemeClr val="bg1"/>
                </a:solidFill>
              </a:rPr>
              <a:t>Session Hijacking</a:t>
            </a:r>
            <a:endParaRPr sz="3200" b="1" i="0" u="none" strike="noStrike" cap="none" dirty="0">
              <a:solidFill>
                <a:schemeClr val="bg1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8404406"/>
      </p:ext>
    </p:extLst>
  </p:cSld>
  <p:clrMapOvr>
    <a:masterClrMapping/>
  </p:clrMapOvr>
  <p:transition spd="slow">
    <p:fade thruBlk="1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US" dirty="0" smtClean="0"/>
          </a:p>
          <a:p>
            <a:r>
              <a:rPr lang="en-US" dirty="0" smtClean="0"/>
              <a:t>When </a:t>
            </a:r>
            <a:r>
              <a:rPr lang="en-US" dirty="0"/>
              <a:t>the client makes subsequent requests to the server, they provide the </a:t>
            </a:r>
            <a:r>
              <a:rPr lang="en-US" dirty="0" smtClean="0"/>
              <a:t>session identifier</a:t>
            </a:r>
            <a:r>
              <a:rPr lang="en-US" dirty="0"/>
              <a:t>, which allows the server associate the request with a session.</a:t>
            </a:r>
          </a:p>
          <a:p>
            <a:endParaRPr lang="en-US" dirty="0" smtClean="0"/>
          </a:p>
          <a:p>
            <a:r>
              <a:rPr lang="en-US" dirty="0" smtClean="0"/>
              <a:t>Clients </a:t>
            </a:r>
            <a:r>
              <a:rPr lang="en-US" dirty="0"/>
              <a:t>can provide the session either with cookies or with a URL parameter.</a:t>
            </a:r>
          </a:p>
          <a:p>
            <a:endParaRPr lang="en-US" dirty="0" smtClean="0"/>
          </a:p>
          <a:p>
            <a:r>
              <a:rPr lang="en-US" dirty="0" smtClean="0"/>
              <a:t>Cookies </a:t>
            </a:r>
            <a:r>
              <a:rPr lang="en-US" dirty="0"/>
              <a:t>are preferable but are not always available. If PHP cannot use a cookie, it </a:t>
            </a:r>
            <a:r>
              <a:rPr lang="en-US" dirty="0" smtClean="0"/>
              <a:t>will automatically </a:t>
            </a:r>
            <a:r>
              <a:rPr lang="en-US" dirty="0"/>
              <a:t>and transparently use the </a:t>
            </a:r>
            <a:r>
              <a:rPr lang="en-US" dirty="0" smtClean="0"/>
              <a:t>URL. </a:t>
            </a:r>
            <a:endParaRPr dirty="0"/>
          </a:p>
        </p:txBody>
      </p:sp>
      <p:sp>
        <p:nvSpPr>
          <p:cNvPr id="203" name="Google Shape;203;p34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0071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4"/>
          <p:cNvSpPr txBox="1"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3366CC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>
              <a:buClr>
                <a:srgbClr val="FFFFFF"/>
              </a:buClr>
              <a:buSzPts val="800"/>
            </a:pPr>
            <a:r>
              <a:rPr lang="en-US" sz="3200" b="1" dirty="0">
                <a:solidFill>
                  <a:schemeClr val="bg1"/>
                </a:solidFill>
              </a:rPr>
              <a:t>Session Hijacking</a:t>
            </a:r>
            <a:endParaRPr sz="3200" b="1" i="0" u="none" strike="noStrike" cap="none" dirty="0">
              <a:solidFill>
                <a:schemeClr val="bg1"/>
              </a:solidFill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US" dirty="0" smtClean="0"/>
          </a:p>
          <a:p>
            <a:endParaRPr lang="en-US" dirty="0"/>
          </a:p>
          <a:p>
            <a:r>
              <a:rPr lang="en-US" i="1" dirty="0" smtClean="0">
                <a:solidFill>
                  <a:srgbClr val="0070C0"/>
                </a:solidFill>
              </a:rPr>
              <a:t>If you </a:t>
            </a:r>
            <a:r>
              <a:rPr lang="en-US" i="1" dirty="0">
                <a:solidFill>
                  <a:srgbClr val="0070C0"/>
                </a:solidFill>
              </a:rPr>
              <a:t>are able to present somebody else’s </a:t>
            </a:r>
            <a:r>
              <a:rPr lang="en-US" i="1" dirty="0" smtClean="0">
                <a:solidFill>
                  <a:srgbClr val="0070C0"/>
                </a:solidFill>
              </a:rPr>
              <a:t>session identifier </a:t>
            </a:r>
            <a:r>
              <a:rPr lang="en-US" i="1" dirty="0">
                <a:solidFill>
                  <a:srgbClr val="0070C0"/>
                </a:solidFill>
              </a:rPr>
              <a:t>to the server, you can masquerade as that </a:t>
            </a:r>
            <a:r>
              <a:rPr lang="en-US" i="1" dirty="0" smtClean="0">
                <a:solidFill>
                  <a:srgbClr val="0070C0"/>
                </a:solidFill>
              </a:rPr>
              <a:t>user or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0070C0"/>
                </a:solidFill>
              </a:rPr>
              <a:t>hijack his session.</a:t>
            </a:r>
            <a:endParaRPr b="1" dirty="0">
              <a:solidFill>
                <a:srgbClr val="0070C0"/>
              </a:solidFill>
            </a:endParaRPr>
          </a:p>
        </p:txBody>
      </p:sp>
      <p:sp>
        <p:nvSpPr>
          <p:cNvPr id="203" name="Google Shape;203;p34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0071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4"/>
          <p:cNvSpPr txBox="1"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3366CC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>
              <a:buClr>
                <a:srgbClr val="FFFFFF"/>
              </a:buClr>
              <a:buSzPts val="800"/>
            </a:pPr>
            <a:r>
              <a:rPr lang="en-US" sz="3200" b="1" dirty="0">
                <a:solidFill>
                  <a:schemeClr val="bg1"/>
                </a:solidFill>
              </a:rPr>
              <a:t>Session Hijacking</a:t>
            </a:r>
            <a:endParaRPr sz="3200" b="1" i="0" u="none" strike="noStrike" cap="none" dirty="0">
              <a:solidFill>
                <a:schemeClr val="bg1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74748524"/>
      </p:ext>
    </p:extLst>
  </p:cSld>
  <p:clrMapOvr>
    <a:masterClrMapping/>
  </p:clrMapOvr>
  <p:transition spd="slow">
    <p:fade thruBlk="1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US" dirty="0" smtClean="0"/>
          </a:p>
          <a:p>
            <a:endParaRPr lang="en-US" dirty="0"/>
          </a:p>
        </p:txBody>
      </p:sp>
      <p:sp>
        <p:nvSpPr>
          <p:cNvPr id="203" name="Google Shape;203;p34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0071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4"/>
          <p:cNvSpPr txBox="1"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3366CC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>
              <a:buClr>
                <a:srgbClr val="FFFFFF"/>
              </a:buClr>
              <a:buSzPts val="800"/>
            </a:pPr>
            <a:r>
              <a:rPr lang="en-US" sz="3200" b="1" dirty="0">
                <a:solidFill>
                  <a:schemeClr val="bg1"/>
                </a:solidFill>
              </a:rPr>
              <a:t>Session Hijacking</a:t>
            </a:r>
            <a:endParaRPr sz="3200" b="1" i="0" u="none" strike="noStrike" cap="none" dirty="0">
              <a:solidFill>
                <a:schemeClr val="bg1"/>
              </a:solidFill>
              <a:sym typeface="Arial"/>
            </a:endParaRPr>
          </a:p>
        </p:txBody>
      </p:sp>
      <p:pic>
        <p:nvPicPr>
          <p:cNvPr id="2" name="Картина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4786" y="1028566"/>
            <a:ext cx="5174428" cy="3086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161627"/>
      </p:ext>
    </p:extLst>
  </p:cSld>
  <p:clrMapOvr>
    <a:masterClrMapping/>
  </p:clrMapOvr>
  <p:transition spd="slow">
    <p:fade thruBlk="1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Obtaining the session identifier of another user can be accomplished in several ways.</a:t>
            </a:r>
          </a:p>
          <a:p>
            <a:r>
              <a:rPr lang="en-US" dirty="0"/>
              <a:t>• If the session identifier follows a predictable </a:t>
            </a:r>
            <a:r>
              <a:rPr lang="en-US" dirty="0" smtClean="0"/>
              <a:t>pattern. </a:t>
            </a:r>
            <a:r>
              <a:rPr lang="en-US" sz="1400" i="1" dirty="0" smtClean="0">
                <a:solidFill>
                  <a:srgbClr val="0070C0"/>
                </a:solidFill>
              </a:rPr>
              <a:t>PHP uses a </a:t>
            </a:r>
            <a:r>
              <a:rPr lang="en-US" sz="1400" i="1" dirty="0">
                <a:solidFill>
                  <a:srgbClr val="0070C0"/>
                </a:solidFill>
              </a:rPr>
              <a:t>very random way to generate session identifiers, so you </a:t>
            </a:r>
            <a:r>
              <a:rPr lang="en-US" sz="1400" i="1" dirty="0" smtClean="0">
                <a:solidFill>
                  <a:srgbClr val="0070C0"/>
                </a:solidFill>
              </a:rPr>
              <a:t>don’t need </a:t>
            </a:r>
            <a:r>
              <a:rPr lang="en-US" sz="1400" i="1" dirty="0">
                <a:solidFill>
                  <a:srgbClr val="0070C0"/>
                </a:solidFill>
              </a:rPr>
              <a:t>to worry about this.</a:t>
            </a:r>
          </a:p>
          <a:p>
            <a:r>
              <a:rPr lang="en-US" dirty="0"/>
              <a:t>• By inspecting network traffic between the client and </a:t>
            </a:r>
            <a:r>
              <a:rPr lang="en-US" dirty="0" smtClean="0"/>
              <a:t>the server</a:t>
            </a:r>
            <a:r>
              <a:rPr lang="en-US" dirty="0"/>
              <a:t>, the attacker could read the session identifier. </a:t>
            </a:r>
            <a:endParaRPr lang="en-US" dirty="0" smtClean="0"/>
          </a:p>
          <a:p>
            <a:r>
              <a:rPr lang="en-US" sz="1400" i="1" dirty="0" smtClean="0">
                <a:solidFill>
                  <a:srgbClr val="0070C0"/>
                </a:solidFill>
              </a:rPr>
              <a:t>You can set </a:t>
            </a:r>
            <a:r>
              <a:rPr lang="en-US" sz="1400" i="1" dirty="0" err="1">
                <a:solidFill>
                  <a:srgbClr val="0070C0"/>
                </a:solidFill>
              </a:rPr>
              <a:t>session.cookie_secure</a:t>
            </a:r>
            <a:r>
              <a:rPr lang="en-US" sz="1400" i="1" dirty="0">
                <a:solidFill>
                  <a:srgbClr val="0070C0"/>
                </a:solidFill>
              </a:rPr>
              <a:t>=On to make session cookies </a:t>
            </a:r>
            <a:r>
              <a:rPr lang="en-US" sz="1400" i="1" dirty="0" smtClean="0">
                <a:solidFill>
                  <a:srgbClr val="0070C0"/>
                </a:solidFill>
              </a:rPr>
              <a:t>only available </a:t>
            </a:r>
            <a:r>
              <a:rPr lang="en-US" sz="1400" i="1" dirty="0">
                <a:solidFill>
                  <a:srgbClr val="0070C0"/>
                </a:solidFill>
              </a:rPr>
              <a:t>over HTTPS to mitigate this.</a:t>
            </a:r>
            <a:r>
              <a:rPr lang="en-US" sz="1400" dirty="0"/>
              <a:t> </a:t>
            </a:r>
            <a:endParaRPr lang="en-US" sz="1400" dirty="0" smtClean="0"/>
          </a:p>
          <a:p>
            <a:r>
              <a:rPr lang="en-US" sz="1600" i="1" dirty="0" smtClean="0">
                <a:solidFill>
                  <a:srgbClr val="0070C0"/>
                </a:solidFill>
              </a:rPr>
              <a:t>HTTPS </a:t>
            </a:r>
            <a:r>
              <a:rPr lang="en-US" sz="1600" i="1" dirty="0">
                <a:solidFill>
                  <a:srgbClr val="0070C0"/>
                </a:solidFill>
              </a:rPr>
              <a:t>will also </a:t>
            </a:r>
            <a:r>
              <a:rPr lang="en-US" sz="1600" i="1" dirty="0" smtClean="0">
                <a:solidFill>
                  <a:srgbClr val="0070C0"/>
                </a:solidFill>
              </a:rPr>
              <a:t>encrypt the </a:t>
            </a:r>
            <a:r>
              <a:rPr lang="en-US" sz="1600" i="1" dirty="0">
                <a:solidFill>
                  <a:srgbClr val="0070C0"/>
                </a:solidFill>
              </a:rPr>
              <a:t>URL being requested, and so if the session identifier is </a:t>
            </a:r>
            <a:r>
              <a:rPr lang="en-US" sz="1600" i="1" dirty="0" smtClean="0">
                <a:solidFill>
                  <a:srgbClr val="0070C0"/>
                </a:solidFill>
              </a:rPr>
              <a:t>being passed </a:t>
            </a:r>
            <a:r>
              <a:rPr lang="en-US" sz="1600" i="1" dirty="0">
                <a:solidFill>
                  <a:srgbClr val="0070C0"/>
                </a:solidFill>
              </a:rPr>
              <a:t>as a parameter in the request, it will be encrypted.</a:t>
            </a:r>
          </a:p>
          <a:p>
            <a:endParaRPr b="1" dirty="0">
              <a:solidFill>
                <a:srgbClr val="0070C0"/>
              </a:solidFill>
            </a:endParaRPr>
          </a:p>
        </p:txBody>
      </p:sp>
      <p:sp>
        <p:nvSpPr>
          <p:cNvPr id="203" name="Google Shape;203;p34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0071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4"/>
          <p:cNvSpPr txBox="1"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3366CC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>
              <a:buClr>
                <a:srgbClr val="FFFFFF"/>
              </a:buClr>
              <a:buSzPts val="800"/>
            </a:pPr>
            <a:r>
              <a:rPr lang="en-US" sz="3200" b="1" dirty="0">
                <a:solidFill>
                  <a:schemeClr val="bg1"/>
                </a:solidFill>
              </a:rPr>
              <a:t>Session Hijacking</a:t>
            </a:r>
            <a:endParaRPr sz="3200" b="1" i="0" u="none" strike="noStrike" cap="none" dirty="0">
              <a:solidFill>
                <a:schemeClr val="bg1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93473267"/>
      </p:ext>
    </p:extLst>
  </p:cSld>
  <p:clrMapOvr>
    <a:masterClrMapping/>
  </p:clrMapOvr>
  <p:transition spd="slow">
    <p:fade thruBlk="1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 smtClean="0"/>
              <a:t>• </a:t>
            </a:r>
            <a:r>
              <a:rPr lang="en-US" dirty="0"/>
              <a:t>Attacks made against the client, such as an XSS attack or Trojan</a:t>
            </a:r>
          </a:p>
          <a:p>
            <a:r>
              <a:rPr lang="en-US" dirty="0"/>
              <a:t>program running on their computer, could also reveal the session</a:t>
            </a:r>
          </a:p>
          <a:p>
            <a:r>
              <a:rPr lang="en-US" dirty="0"/>
              <a:t>identifier. </a:t>
            </a:r>
            <a:r>
              <a:rPr lang="en-US" sz="1600" b="1" i="1" dirty="0">
                <a:solidFill>
                  <a:srgbClr val="0070C0"/>
                </a:solidFill>
              </a:rPr>
              <a:t>This can be partially mitigated by setting the session.</a:t>
            </a:r>
          </a:p>
          <a:p>
            <a:r>
              <a:rPr lang="en-US" sz="1600" b="1" i="1" dirty="0" err="1">
                <a:solidFill>
                  <a:srgbClr val="0070C0"/>
                </a:solidFill>
              </a:rPr>
              <a:t>cookie_httponly</a:t>
            </a:r>
            <a:r>
              <a:rPr lang="en-US" sz="1600" b="1" i="1" dirty="0">
                <a:solidFill>
                  <a:srgbClr val="0070C0"/>
                </a:solidFill>
              </a:rPr>
              <a:t> directive on.</a:t>
            </a:r>
            <a:endParaRPr sz="1600" b="1" i="1" dirty="0">
              <a:solidFill>
                <a:srgbClr val="0070C0"/>
              </a:solidFill>
            </a:endParaRPr>
          </a:p>
        </p:txBody>
      </p:sp>
      <p:sp>
        <p:nvSpPr>
          <p:cNvPr id="203" name="Google Shape;203;p34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0071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4"/>
          <p:cNvSpPr txBox="1"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3366CC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>
              <a:buClr>
                <a:srgbClr val="FFFFFF"/>
              </a:buClr>
              <a:buSzPts val="800"/>
            </a:pPr>
            <a:r>
              <a:rPr lang="en-US" sz="3200" b="1" dirty="0">
                <a:solidFill>
                  <a:schemeClr val="bg1"/>
                </a:solidFill>
              </a:rPr>
              <a:t>Session Hijacking</a:t>
            </a:r>
            <a:endParaRPr sz="3200" b="1" i="0" u="none" strike="noStrike" cap="none" dirty="0">
              <a:solidFill>
                <a:schemeClr val="bg1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24335451"/>
      </p:ext>
    </p:extLst>
  </p:cSld>
  <p:clrMapOvr>
    <a:masterClrMapping/>
  </p:clrMapOvr>
  <p:transition spd="slow">
    <p:fade thruBlk="1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US" dirty="0" smtClean="0"/>
          </a:p>
          <a:p>
            <a:r>
              <a:rPr lang="en-US" dirty="0"/>
              <a:t>Session fixation exploits a weakness in the web application. Some applications do </a:t>
            </a:r>
            <a:r>
              <a:rPr lang="en-US" dirty="0" smtClean="0"/>
              <a:t>not generate </a:t>
            </a:r>
            <a:r>
              <a:rPr lang="en-US" dirty="0"/>
              <a:t>a new session ID for a user when authenticating them. Instead they allow </a:t>
            </a:r>
            <a:r>
              <a:rPr lang="en-US" dirty="0" smtClean="0"/>
              <a:t>an </a:t>
            </a:r>
            <a:r>
              <a:rPr lang="en-US" i="1" dirty="0" smtClean="0">
                <a:solidFill>
                  <a:srgbClr val="0070C0"/>
                </a:solidFill>
              </a:rPr>
              <a:t>existing </a:t>
            </a:r>
            <a:r>
              <a:rPr lang="en-US" i="1" dirty="0">
                <a:solidFill>
                  <a:srgbClr val="0070C0"/>
                </a:solidFill>
              </a:rPr>
              <a:t>session ID to be used.</a:t>
            </a:r>
          </a:p>
          <a:p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attack occurs when an opponent creates a session on the web server. </a:t>
            </a:r>
          </a:p>
          <a:p>
            <a:r>
              <a:rPr lang="en-US" dirty="0" smtClean="0"/>
              <a:t>They know </a:t>
            </a:r>
            <a:r>
              <a:rPr lang="en-US" dirty="0"/>
              <a:t>the session ID for this session. They then trick a user into using this session </a:t>
            </a:r>
            <a:r>
              <a:rPr lang="en-US" dirty="0" smtClean="0"/>
              <a:t>and authenticating </a:t>
            </a:r>
            <a:r>
              <a:rPr lang="en-US" dirty="0"/>
              <a:t>themselves.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attacker is then able to use the known session ID and </a:t>
            </a:r>
            <a:r>
              <a:rPr lang="en-US" i="1" dirty="0" smtClean="0">
                <a:solidFill>
                  <a:srgbClr val="0070C0"/>
                </a:solidFill>
              </a:rPr>
              <a:t>has the </a:t>
            </a:r>
            <a:r>
              <a:rPr lang="en-US" i="1" dirty="0">
                <a:solidFill>
                  <a:srgbClr val="0070C0"/>
                </a:solidFill>
              </a:rPr>
              <a:t>privileges of the authenticated user.</a:t>
            </a:r>
          </a:p>
        </p:txBody>
      </p:sp>
      <p:sp>
        <p:nvSpPr>
          <p:cNvPr id="203" name="Google Shape;203;p34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0071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4"/>
          <p:cNvSpPr txBox="1"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3366CC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>
              <a:buClr>
                <a:srgbClr val="FFFFFF"/>
              </a:buClr>
              <a:buSzPts val="800"/>
            </a:pPr>
            <a:r>
              <a:rPr lang="en-US" sz="3200" b="1" dirty="0">
                <a:solidFill>
                  <a:schemeClr val="bg1"/>
                </a:solidFill>
              </a:rPr>
              <a:t>Session </a:t>
            </a:r>
            <a:r>
              <a:rPr lang="en-US" sz="3200" b="1" dirty="0" smtClean="0">
                <a:solidFill>
                  <a:schemeClr val="bg1"/>
                </a:solidFill>
              </a:rPr>
              <a:t>Fixation</a:t>
            </a:r>
            <a:endParaRPr sz="3200" b="1" i="0" u="none" strike="noStrike" cap="none" dirty="0">
              <a:solidFill>
                <a:schemeClr val="bg1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77906805"/>
      </p:ext>
    </p:extLst>
  </p:cSld>
  <p:clrMapOvr>
    <a:masterClrMapping/>
  </p:clrMapOvr>
  <p:transition spd="slow">
    <p:fade thruBlk="1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There are several ways to set the session ID and the actual method used will </a:t>
            </a:r>
            <a:r>
              <a:rPr lang="en-US" dirty="0" smtClean="0"/>
              <a:t>depend on </a:t>
            </a:r>
            <a:r>
              <a:rPr lang="en-US" dirty="0"/>
              <a:t>how the application accepts the identifier.</a:t>
            </a:r>
          </a:p>
          <a:p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simplest way to do it would be to pass the session identifier in the URL, like this</a:t>
            </a:r>
          </a:p>
          <a:p>
            <a:r>
              <a:rPr lang="en-US" dirty="0">
                <a:solidFill>
                  <a:srgbClr val="0070C0"/>
                </a:solidFill>
              </a:rPr>
              <a:t>http://example.org/index.php?PHPSESSID=1234.</a:t>
            </a:r>
            <a:endParaRPr lang="en-US" dirty="0" smtClean="0">
              <a:solidFill>
                <a:srgbClr val="0070C0"/>
              </a:solidFill>
            </a:endParaRPr>
          </a:p>
        </p:txBody>
      </p:sp>
      <p:sp>
        <p:nvSpPr>
          <p:cNvPr id="203" name="Google Shape;203;p34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0071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4"/>
          <p:cNvSpPr txBox="1"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3366CC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>
              <a:buClr>
                <a:srgbClr val="FFFFFF"/>
              </a:buClr>
              <a:buSzPts val="800"/>
            </a:pPr>
            <a:r>
              <a:rPr lang="en-US" sz="3200" b="1" dirty="0">
                <a:solidFill>
                  <a:schemeClr val="bg1"/>
                </a:solidFill>
              </a:rPr>
              <a:t>Session </a:t>
            </a:r>
            <a:r>
              <a:rPr lang="en-US" sz="3200" b="1" dirty="0" smtClean="0">
                <a:solidFill>
                  <a:schemeClr val="bg1"/>
                </a:solidFill>
              </a:rPr>
              <a:t>Fixation</a:t>
            </a:r>
            <a:endParaRPr sz="3200" b="1" i="0" u="none" strike="noStrike" cap="none" dirty="0">
              <a:solidFill>
                <a:schemeClr val="bg1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37275741"/>
      </p:ext>
    </p:extLst>
  </p:cSld>
  <p:clrMapOvr>
    <a:masterClrMapping/>
  </p:clrMapOvr>
  <p:transition spd="slow">
    <p:fade thruBlk="1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 smtClean="0"/>
              <a:t>How </a:t>
            </a:r>
            <a:r>
              <a:rPr lang="en-US" dirty="0"/>
              <a:t>to mitigate the risk of session fixation </a:t>
            </a:r>
            <a:endParaRPr lang="en-US" dirty="0" smtClean="0"/>
          </a:p>
          <a:p>
            <a:r>
              <a:rPr lang="en-US" dirty="0" smtClean="0"/>
              <a:t>- </a:t>
            </a:r>
            <a:r>
              <a:rPr lang="en-US" dirty="0"/>
              <a:t>call the function </a:t>
            </a:r>
            <a:r>
              <a:rPr lang="en-US" i="1" dirty="0" err="1" smtClean="0">
                <a:solidFill>
                  <a:srgbClr val="0070C0"/>
                </a:solidFill>
              </a:rPr>
              <a:t>session_regenerate_id</a:t>
            </a:r>
            <a:r>
              <a:rPr lang="en-US" i="1" dirty="0">
                <a:solidFill>
                  <a:srgbClr val="0070C0"/>
                </a:solidFill>
              </a:rPr>
              <a:t>()</a:t>
            </a:r>
            <a:r>
              <a:rPr lang="en-US" dirty="0"/>
              <a:t> every time the privilege level changes, for example after logging in.</a:t>
            </a:r>
          </a:p>
          <a:p>
            <a:r>
              <a:rPr lang="en-US" dirty="0" smtClean="0"/>
              <a:t>- set </a:t>
            </a:r>
            <a:r>
              <a:rPr lang="en-US" b="1" dirty="0" err="1">
                <a:solidFill>
                  <a:srgbClr val="0070C0"/>
                </a:solidFill>
              </a:rPr>
              <a:t>session.use_strict_mode</a:t>
            </a:r>
            <a:r>
              <a:rPr lang="en-US" b="1" dirty="0">
                <a:solidFill>
                  <a:srgbClr val="0070C0"/>
                </a:solidFill>
              </a:rPr>
              <a:t>=On</a:t>
            </a:r>
            <a:r>
              <a:rPr lang="en-US" dirty="0"/>
              <a:t> in your </a:t>
            </a:r>
            <a:r>
              <a:rPr lang="en-US" dirty="0" err="1"/>
              <a:t>config</a:t>
            </a:r>
            <a:r>
              <a:rPr lang="en-US" dirty="0"/>
              <a:t> file. This setting will force</a:t>
            </a:r>
          </a:p>
          <a:p>
            <a:r>
              <a:rPr lang="en-US" dirty="0"/>
              <a:t>PHP to only use session identifiers that it creates itself. It will reject a </a:t>
            </a:r>
            <a:r>
              <a:rPr lang="en-US" dirty="0" smtClean="0"/>
              <a:t>user-supplied session </a:t>
            </a:r>
            <a:r>
              <a:rPr lang="en-US" dirty="0"/>
              <a:t>identifier. This will mitigate attempts to manipulate the cookie.</a:t>
            </a:r>
          </a:p>
          <a:p>
            <a:r>
              <a:rPr lang="en-US" dirty="0" smtClean="0"/>
              <a:t>- </a:t>
            </a:r>
            <a:r>
              <a:rPr lang="en-US" i="1" dirty="0" err="1" smtClean="0">
                <a:solidFill>
                  <a:srgbClr val="0070C0"/>
                </a:solidFill>
              </a:rPr>
              <a:t>session.use_cookies</a:t>
            </a:r>
            <a:r>
              <a:rPr lang="en-US" i="1" dirty="0" smtClean="0">
                <a:solidFill>
                  <a:srgbClr val="0070C0"/>
                </a:solidFill>
              </a:rPr>
              <a:t>=On</a:t>
            </a:r>
            <a:r>
              <a:rPr lang="en-US" dirty="0" smtClean="0"/>
              <a:t> </a:t>
            </a:r>
            <a:r>
              <a:rPr lang="en-US" dirty="0"/>
              <a:t>and </a:t>
            </a:r>
            <a:r>
              <a:rPr lang="en-US" i="1" dirty="0" err="1">
                <a:solidFill>
                  <a:srgbClr val="0070C0"/>
                </a:solidFill>
              </a:rPr>
              <a:t>session.use_only_cookies</a:t>
            </a:r>
            <a:r>
              <a:rPr lang="en-US" i="1" dirty="0">
                <a:solidFill>
                  <a:srgbClr val="0070C0"/>
                </a:solidFill>
              </a:rPr>
              <a:t>=On</a:t>
            </a:r>
            <a:r>
              <a:rPr lang="en-US" dirty="0"/>
              <a:t> will</a:t>
            </a:r>
          </a:p>
          <a:p>
            <a:r>
              <a:rPr lang="en-US" dirty="0"/>
              <a:t>prevent PHP from accepting the session identifier from the URL.</a:t>
            </a:r>
            <a:endParaRPr lang="en-US" dirty="0" smtClean="0">
              <a:solidFill>
                <a:srgbClr val="0070C0"/>
              </a:solidFill>
            </a:endParaRPr>
          </a:p>
        </p:txBody>
      </p:sp>
      <p:sp>
        <p:nvSpPr>
          <p:cNvPr id="203" name="Google Shape;203;p34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0071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4"/>
          <p:cNvSpPr txBox="1"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3366CC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>
              <a:buClr>
                <a:srgbClr val="FFFFFF"/>
              </a:buClr>
              <a:buSzPts val="800"/>
            </a:pPr>
            <a:r>
              <a:rPr lang="en-US" sz="3200" b="1" dirty="0">
                <a:solidFill>
                  <a:schemeClr val="bg1"/>
                </a:solidFill>
              </a:rPr>
              <a:t>Session </a:t>
            </a:r>
            <a:r>
              <a:rPr lang="en-US" sz="3200" b="1" dirty="0" smtClean="0">
                <a:solidFill>
                  <a:schemeClr val="bg1"/>
                </a:solidFill>
              </a:rPr>
              <a:t>Fixation</a:t>
            </a:r>
            <a:endParaRPr sz="3200" b="1" i="0" u="none" strike="noStrike" cap="none" dirty="0">
              <a:solidFill>
                <a:schemeClr val="bg1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33992473"/>
      </p:ext>
    </p:extLst>
  </p:cSld>
  <p:clrMapOvr>
    <a:masterClrMapping/>
  </p:clrMapOvr>
  <p:transition spd="slow">
    <p:fade thruBlk="1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US" dirty="0" smtClean="0">
              <a:solidFill>
                <a:srgbClr val="0070C0"/>
              </a:solidFill>
            </a:endParaRPr>
          </a:p>
          <a:p>
            <a:endParaRPr lang="en-US" dirty="0">
              <a:solidFill>
                <a:srgbClr val="0070C0"/>
              </a:solidFill>
            </a:endParaRPr>
          </a:p>
          <a:p>
            <a:endParaRPr lang="en-US" dirty="0" smtClean="0">
              <a:solidFill>
                <a:srgbClr val="0070C0"/>
              </a:solidFill>
            </a:endParaRPr>
          </a:p>
          <a:p>
            <a:r>
              <a:rPr lang="en-US" dirty="0" smtClean="0">
                <a:solidFill>
                  <a:srgbClr val="0070C0"/>
                </a:solidFill>
              </a:rPr>
              <a:t>Use </a:t>
            </a:r>
            <a:r>
              <a:rPr lang="en-US" dirty="0">
                <a:solidFill>
                  <a:srgbClr val="0070C0"/>
                </a:solidFill>
              </a:rPr>
              <a:t>several layers of </a:t>
            </a:r>
            <a:r>
              <a:rPr lang="en-US" dirty="0" smtClean="0">
                <a:solidFill>
                  <a:srgbClr val="0070C0"/>
                </a:solidFill>
              </a:rPr>
              <a:t>security.</a:t>
            </a:r>
          </a:p>
          <a:p>
            <a:endParaRPr lang="en-US" dirty="0" smtClean="0">
              <a:solidFill>
                <a:srgbClr val="0070C0"/>
              </a:solidFill>
            </a:endParaRPr>
          </a:p>
        </p:txBody>
      </p:sp>
      <p:sp>
        <p:nvSpPr>
          <p:cNvPr id="203" name="Google Shape;203;p34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0071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4"/>
          <p:cNvSpPr txBox="1"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3366CC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>
              <a:buClr>
                <a:srgbClr val="FFFFFF"/>
              </a:buClr>
              <a:buSzPts val="800"/>
            </a:pPr>
            <a:r>
              <a:rPr lang="en-US" sz="3200" b="1" dirty="0">
                <a:solidFill>
                  <a:schemeClr val="bg1"/>
                </a:solidFill>
              </a:rPr>
              <a:t>Improving Session Security</a:t>
            </a:r>
            <a:endParaRPr sz="3200" b="1" i="0" u="none" strike="noStrike" cap="none" dirty="0">
              <a:solidFill>
                <a:schemeClr val="bg1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39388349"/>
      </p:ext>
    </p:extLst>
  </p:cSld>
  <p:clrMapOvr>
    <a:masterClrMapping/>
  </p:clrMapOvr>
  <p:transition spd="slow">
    <p:fade thruBlk="1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US" i="1" dirty="0" smtClean="0">
              <a:solidFill>
                <a:srgbClr val="0070C0"/>
              </a:solidFill>
            </a:endParaRPr>
          </a:p>
          <a:p>
            <a:r>
              <a:rPr lang="en-US" i="1" dirty="0" smtClean="0">
                <a:solidFill>
                  <a:srgbClr val="0070C0"/>
                </a:solidFill>
              </a:rPr>
              <a:t>None </a:t>
            </a:r>
            <a:r>
              <a:rPr lang="en-US" i="1" dirty="0">
                <a:solidFill>
                  <a:srgbClr val="0070C0"/>
                </a:solidFill>
              </a:rPr>
              <a:t>of these is particularly effective by itself but each can contribute toward</a:t>
            </a:r>
          </a:p>
          <a:p>
            <a:r>
              <a:rPr lang="en-US" i="1" dirty="0">
                <a:solidFill>
                  <a:srgbClr val="0070C0"/>
                </a:solidFill>
              </a:rPr>
              <a:t>improving your overall security.</a:t>
            </a:r>
            <a:endParaRPr lang="en-US" i="1" dirty="0" smtClean="0">
              <a:solidFill>
                <a:srgbClr val="0070C0"/>
              </a:solidFill>
            </a:endParaRPr>
          </a:p>
        </p:txBody>
      </p:sp>
      <p:sp>
        <p:nvSpPr>
          <p:cNvPr id="203" name="Google Shape;203;p34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0071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4"/>
          <p:cNvSpPr txBox="1"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3366CC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>
              <a:buClr>
                <a:srgbClr val="FFFFFF"/>
              </a:buClr>
              <a:buSzPts val="800"/>
            </a:pPr>
            <a:r>
              <a:rPr lang="en-US" sz="3200" b="1" dirty="0">
                <a:solidFill>
                  <a:schemeClr val="bg1"/>
                </a:solidFill>
              </a:rPr>
              <a:t>Improving Session Security</a:t>
            </a:r>
            <a:endParaRPr sz="3200" b="1" i="0" u="none" strike="noStrike" cap="none" dirty="0">
              <a:solidFill>
                <a:schemeClr val="bg1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86910064"/>
      </p:ext>
    </p:extLst>
  </p:cSld>
  <p:clrMapOvr>
    <a:masterClrMapping/>
  </p:clrMapOvr>
  <p:transition spd="slow">
    <p:fade thruBlk="1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 smtClean="0"/>
              <a:t>In addition to the mitigation strategies, do the following:</a:t>
            </a:r>
          </a:p>
          <a:p>
            <a:r>
              <a:rPr lang="en-US" dirty="0" smtClean="0"/>
              <a:t>• </a:t>
            </a:r>
            <a:r>
              <a:rPr lang="en-US" i="1" dirty="0" smtClean="0">
                <a:solidFill>
                  <a:srgbClr val="0070C0"/>
                </a:solidFill>
              </a:rPr>
              <a:t>Check that the IP address remains the same between calls</a:t>
            </a:r>
            <a:r>
              <a:rPr lang="en-US" dirty="0" smtClean="0"/>
              <a:t>. This is</a:t>
            </a:r>
          </a:p>
          <a:p>
            <a:r>
              <a:rPr lang="en-US" dirty="0" smtClean="0"/>
              <a:t>not always feasible for mobile phones that move between towers</a:t>
            </a:r>
          </a:p>
          <a:p>
            <a:r>
              <a:rPr lang="en-US" dirty="0" smtClean="0"/>
              <a:t>and so change connections, so check your use-cases before you</a:t>
            </a:r>
          </a:p>
          <a:p>
            <a:r>
              <a:rPr lang="en-US" dirty="0" smtClean="0"/>
              <a:t>do this.</a:t>
            </a:r>
          </a:p>
          <a:p>
            <a:r>
              <a:rPr lang="en-US" dirty="0" smtClean="0"/>
              <a:t>• </a:t>
            </a:r>
            <a:r>
              <a:rPr lang="en-US" i="1" dirty="0" smtClean="0">
                <a:solidFill>
                  <a:srgbClr val="0070C0"/>
                </a:solidFill>
              </a:rPr>
              <a:t>Use short session timeout</a:t>
            </a:r>
            <a:r>
              <a:rPr lang="en-US" dirty="0" smtClean="0"/>
              <a:t> values to reduce the window for</a:t>
            </a:r>
          </a:p>
          <a:p>
            <a:r>
              <a:rPr lang="en-US" dirty="0" smtClean="0"/>
              <a:t>fixation.</a:t>
            </a:r>
          </a:p>
          <a:p>
            <a:r>
              <a:rPr lang="en-US" dirty="0" smtClean="0"/>
              <a:t>• Provide a means for </a:t>
            </a:r>
            <a:r>
              <a:rPr lang="en-US" i="1" dirty="0" smtClean="0">
                <a:solidFill>
                  <a:srgbClr val="0070C0"/>
                </a:solidFill>
              </a:rPr>
              <a:t>users to log out that calls </a:t>
            </a:r>
            <a:r>
              <a:rPr lang="en-US" i="1" dirty="0" err="1" smtClean="0">
                <a:solidFill>
                  <a:srgbClr val="0070C0"/>
                </a:solidFill>
              </a:rPr>
              <a:t>session_destroy</a:t>
            </a:r>
            <a:r>
              <a:rPr lang="en-US" i="1" dirty="0" smtClean="0">
                <a:solidFill>
                  <a:srgbClr val="0070C0"/>
                </a:solidFill>
              </a:rPr>
              <a:t>()</a:t>
            </a:r>
            <a:r>
              <a:rPr lang="en-US" dirty="0" smtClean="0"/>
              <a:t>.</a:t>
            </a:r>
          </a:p>
          <a:p>
            <a:r>
              <a:rPr lang="en-US" dirty="0" smtClean="0"/>
              <a:t>None of these is particularly effective by itself but each can contribute toward</a:t>
            </a:r>
          </a:p>
          <a:p>
            <a:r>
              <a:rPr lang="en-US" dirty="0" smtClean="0"/>
              <a:t>improving your overall security.</a:t>
            </a:r>
            <a:endParaRPr lang="en-US" dirty="0" smtClean="0">
              <a:solidFill>
                <a:srgbClr val="0070C0"/>
              </a:solidFill>
            </a:endParaRPr>
          </a:p>
        </p:txBody>
      </p:sp>
      <p:sp>
        <p:nvSpPr>
          <p:cNvPr id="203" name="Google Shape;203;p34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0071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4"/>
          <p:cNvSpPr txBox="1"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3366CC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>
              <a:buClr>
                <a:srgbClr val="FFFFFF"/>
              </a:buClr>
              <a:buSzPts val="800"/>
            </a:pPr>
            <a:r>
              <a:rPr lang="en-US" sz="3200" b="1" dirty="0">
                <a:solidFill>
                  <a:schemeClr val="bg1"/>
                </a:solidFill>
              </a:rPr>
              <a:t>Improving Session Security</a:t>
            </a:r>
            <a:endParaRPr sz="3200" b="1" i="0" u="none" strike="noStrike" cap="none" dirty="0">
              <a:solidFill>
                <a:schemeClr val="bg1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62621326"/>
      </p:ext>
    </p:extLst>
  </p:cSld>
  <p:clrMapOvr>
    <a:masterClrMapping/>
  </p:clrMapOvr>
  <p:transition spd="slow">
    <p:fade thruBlk="1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3"/>
          <p:cNvSpPr txBox="1">
            <a:spLocks noGrp="1"/>
          </p:cNvSpPr>
          <p:nvPr>
            <p:ph type="title"/>
          </p:nvPr>
        </p:nvSpPr>
        <p:spPr>
          <a:xfrm>
            <a:off x="311700" y="1767300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r>
              <a:rPr lang="en-US" sz="30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30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0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30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0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				</a:t>
            </a:r>
            <a:endParaRPr sz="3000" b="1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33"/>
          <p:cNvSpPr/>
          <p:nvPr/>
        </p:nvSpPr>
        <p:spPr>
          <a:xfrm>
            <a:off x="1115616" y="1823794"/>
            <a:ext cx="72008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Clr>
                <a:schemeClr val="lt1"/>
              </a:buClr>
              <a:buSzPts val="4800"/>
            </a:pPr>
            <a:r>
              <a:rPr lang="en-US" sz="4800" b="1" dirty="0">
                <a:solidFill>
                  <a:schemeClr val="bg1"/>
                </a:solidFill>
              </a:rPr>
              <a:t>Cross-Site </a:t>
            </a:r>
            <a:r>
              <a:rPr lang="en-US" sz="4800" b="1" dirty="0" smtClean="0">
                <a:solidFill>
                  <a:schemeClr val="bg1"/>
                </a:solidFill>
              </a:rPr>
              <a:t>Scripting /XSS/</a:t>
            </a:r>
            <a:endParaRPr sz="4800" b="1" i="0" u="none" strike="noStrike" cap="none" dirty="0">
              <a:solidFill>
                <a:schemeClr val="bg1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2757496"/>
      </p:ext>
    </p:extLst>
  </p:cSld>
  <p:clrMapOvr>
    <a:masterClrMapping/>
  </p:clrMapOvr>
  <p:transition spd="slow">
    <p:fade thruBlk="1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Cross-site scripting (XSS) attacks are attacks where malicious code is injected onto </a:t>
            </a:r>
            <a:r>
              <a:rPr lang="en-US" dirty="0" smtClean="0"/>
              <a:t>an otherwise </a:t>
            </a:r>
            <a:r>
              <a:rPr lang="en-US" dirty="0"/>
              <a:t>benign site. Usually malicious browser-side code like JavaScript is placed </a:t>
            </a:r>
            <a:r>
              <a:rPr lang="en-US" dirty="0" smtClean="0"/>
              <a:t>onto the </a:t>
            </a:r>
            <a:r>
              <a:rPr lang="en-US" dirty="0"/>
              <a:t>web site to be downloaded and run by clients.</a:t>
            </a:r>
          </a:p>
          <a:p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attack is effective because the client thinks that the code originated from the </a:t>
            </a:r>
            <a:r>
              <a:rPr lang="en-US" dirty="0" smtClean="0"/>
              <a:t>web site </a:t>
            </a:r>
            <a:r>
              <a:rPr lang="en-US" dirty="0"/>
              <a:t>that it trusts. The code can access session identifiers, cookies, HTML storage data</a:t>
            </a:r>
            <a:r>
              <a:rPr lang="en-US" dirty="0" smtClean="0"/>
              <a:t>, and </a:t>
            </a:r>
            <a:r>
              <a:rPr lang="en-US" dirty="0"/>
              <a:t>other information related to the site</a:t>
            </a:r>
            <a:r>
              <a:rPr lang="en-US" dirty="0" smtClean="0"/>
              <a:t>.</a:t>
            </a:r>
          </a:p>
          <a:p>
            <a:endParaRPr lang="en-US" dirty="0">
              <a:solidFill>
                <a:srgbClr val="0070C0"/>
              </a:solidFill>
            </a:endParaRPr>
          </a:p>
          <a:p>
            <a:r>
              <a:rPr lang="en-US" dirty="0" smtClean="0">
                <a:solidFill>
                  <a:srgbClr val="0070C0"/>
                </a:solidFill>
              </a:rPr>
              <a:t>Example </a:t>
            </a:r>
            <a:r>
              <a:rPr lang="en-US" dirty="0" smtClean="0">
                <a:solidFill>
                  <a:srgbClr val="0070C0"/>
                </a:solidFill>
                <a:hlinkClick r:id="rId3"/>
              </a:rPr>
              <a:t>here</a:t>
            </a:r>
            <a:r>
              <a:rPr lang="en-US" dirty="0" smtClean="0">
                <a:solidFill>
                  <a:srgbClr val="0070C0"/>
                </a:solidFill>
              </a:rPr>
              <a:t> and </a:t>
            </a:r>
            <a:r>
              <a:rPr lang="en-US" dirty="0" smtClean="0">
                <a:solidFill>
                  <a:srgbClr val="0070C0"/>
                </a:solidFill>
                <a:hlinkClick r:id="rId4"/>
              </a:rPr>
              <a:t>here</a:t>
            </a:r>
            <a:r>
              <a:rPr lang="en-US" dirty="0" smtClean="0">
                <a:solidFill>
                  <a:srgbClr val="0070C0"/>
                </a:solidFill>
              </a:rPr>
              <a:t> and </a:t>
            </a:r>
            <a:r>
              <a:rPr lang="en-US" dirty="0" smtClean="0">
                <a:solidFill>
                  <a:srgbClr val="0070C0"/>
                </a:solidFill>
                <a:hlinkClick r:id="rId5"/>
              </a:rPr>
              <a:t>here</a:t>
            </a:r>
            <a:endParaRPr lang="en-US" dirty="0" smtClean="0">
              <a:solidFill>
                <a:srgbClr val="0070C0"/>
              </a:solidFill>
            </a:endParaRPr>
          </a:p>
        </p:txBody>
      </p:sp>
      <p:sp>
        <p:nvSpPr>
          <p:cNvPr id="203" name="Google Shape;203;p34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0071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4"/>
          <p:cNvSpPr txBox="1"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7030A0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>
              <a:buClr>
                <a:srgbClr val="FFFFFF"/>
              </a:buClr>
              <a:buSzPts val="800"/>
            </a:pPr>
            <a:r>
              <a:rPr lang="en-US" sz="3200" b="1" dirty="0" smtClean="0">
                <a:solidFill>
                  <a:schemeClr val="bg1"/>
                </a:solidFill>
              </a:rPr>
              <a:t>XSS</a:t>
            </a:r>
            <a:endParaRPr sz="3200" b="1" i="0" u="none" strike="noStrike" cap="none" dirty="0">
              <a:solidFill>
                <a:schemeClr val="bg1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31633814"/>
      </p:ext>
    </p:extLst>
  </p:cSld>
  <p:clrMapOvr>
    <a:masterClrMapping/>
  </p:clrMapOvr>
  <p:transition spd="slow">
    <p:fade thruBlk="1"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The only way for the attacker to run his malicious JavaScript in the victim's browser </a:t>
            </a:r>
            <a:r>
              <a:rPr lang="en-US" b="1" dirty="0">
                <a:solidFill>
                  <a:srgbClr val="7030A0"/>
                </a:solidFill>
              </a:rPr>
              <a:t>is to inject it into one of the pages</a:t>
            </a:r>
            <a:r>
              <a:rPr lang="en-US" dirty="0"/>
              <a:t> that the victim downloads from the website. This can happen if the website </a:t>
            </a:r>
            <a:r>
              <a:rPr lang="en-US" b="1" dirty="0">
                <a:solidFill>
                  <a:srgbClr val="7030A0"/>
                </a:solidFill>
              </a:rPr>
              <a:t>directly includes user input </a:t>
            </a:r>
            <a:r>
              <a:rPr lang="en-US" dirty="0"/>
              <a:t>in its pages, because the attacker can then insert a string that will be treated as code by the victim's browser.</a:t>
            </a:r>
            <a:endParaRPr lang="en-US" dirty="0" smtClean="0">
              <a:solidFill>
                <a:srgbClr val="0070C0"/>
              </a:solidFill>
            </a:endParaRPr>
          </a:p>
        </p:txBody>
      </p:sp>
      <p:sp>
        <p:nvSpPr>
          <p:cNvPr id="203" name="Google Shape;203;p34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0071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4"/>
          <p:cNvSpPr txBox="1"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7030A0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>
              <a:buClr>
                <a:srgbClr val="FFFFFF"/>
              </a:buClr>
              <a:buSzPts val="800"/>
            </a:pPr>
            <a:r>
              <a:rPr lang="en-US" sz="3200" b="1" dirty="0" smtClean="0">
                <a:solidFill>
                  <a:schemeClr val="bg1"/>
                </a:solidFill>
              </a:rPr>
              <a:t>XSS</a:t>
            </a:r>
            <a:endParaRPr sz="3200" b="1" i="0" u="none" strike="noStrike" cap="none" dirty="0">
              <a:solidFill>
                <a:schemeClr val="bg1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39970904"/>
      </p:ext>
    </p:extLst>
  </p:cSld>
  <p:clrMapOvr>
    <a:masterClrMapping/>
  </p:clrMapOvr>
  <p:transition spd="slow">
    <p:fade thruBlk="1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The most important rule to follow </a:t>
            </a:r>
            <a:r>
              <a:rPr lang="en-US" dirty="0" smtClean="0"/>
              <a:t>is –</a:t>
            </a:r>
          </a:p>
          <a:p>
            <a:endParaRPr lang="en-US" dirty="0" smtClean="0"/>
          </a:p>
          <a:p>
            <a:r>
              <a:rPr lang="en-US" i="1" dirty="0" smtClean="0">
                <a:solidFill>
                  <a:srgbClr val="7030A0"/>
                </a:solidFill>
              </a:rPr>
              <a:t>Never </a:t>
            </a:r>
            <a:r>
              <a:rPr lang="en-US" i="1" dirty="0">
                <a:solidFill>
                  <a:srgbClr val="7030A0"/>
                </a:solidFill>
              </a:rPr>
              <a:t>allow </a:t>
            </a:r>
            <a:r>
              <a:rPr lang="en-US" i="1" dirty="0" err="1">
                <a:solidFill>
                  <a:srgbClr val="7030A0"/>
                </a:solidFill>
              </a:rPr>
              <a:t>unescaped</a:t>
            </a:r>
            <a:r>
              <a:rPr lang="en-US" i="1" dirty="0">
                <a:solidFill>
                  <a:srgbClr val="7030A0"/>
                </a:solidFill>
              </a:rPr>
              <a:t> data to be output to </a:t>
            </a:r>
            <a:r>
              <a:rPr lang="en-US" i="1" dirty="0" smtClean="0">
                <a:solidFill>
                  <a:srgbClr val="7030A0"/>
                </a:solidFill>
              </a:rPr>
              <a:t>the client</a:t>
            </a:r>
            <a:r>
              <a:rPr lang="en-US" i="1" dirty="0">
                <a:solidFill>
                  <a:srgbClr val="7030A0"/>
                </a:solidFill>
              </a:rPr>
              <a:t>. </a:t>
            </a:r>
            <a:endParaRPr lang="en-US" i="1" dirty="0" smtClean="0">
              <a:solidFill>
                <a:srgbClr val="7030A0"/>
              </a:solidFill>
            </a:endParaRPr>
          </a:p>
          <a:p>
            <a:r>
              <a:rPr lang="en-US" i="1" dirty="0" smtClean="0">
                <a:solidFill>
                  <a:srgbClr val="7030A0"/>
                </a:solidFill>
              </a:rPr>
              <a:t>Always </a:t>
            </a:r>
            <a:r>
              <a:rPr lang="en-US" i="1" dirty="0">
                <a:solidFill>
                  <a:srgbClr val="7030A0"/>
                </a:solidFill>
              </a:rPr>
              <a:t>filter data and strip out harmful tags before allowing it to be sent to the</a:t>
            </a:r>
          </a:p>
          <a:p>
            <a:r>
              <a:rPr lang="en-US" i="1" dirty="0">
                <a:solidFill>
                  <a:srgbClr val="7030A0"/>
                </a:solidFill>
              </a:rPr>
              <a:t>client.</a:t>
            </a:r>
            <a:endParaRPr lang="en-US" i="1" dirty="0" smtClean="0">
              <a:solidFill>
                <a:srgbClr val="7030A0"/>
              </a:solidFill>
            </a:endParaRPr>
          </a:p>
        </p:txBody>
      </p:sp>
      <p:sp>
        <p:nvSpPr>
          <p:cNvPr id="203" name="Google Shape;203;p34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0071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4"/>
          <p:cNvSpPr txBox="1"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7030A0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>
              <a:buClr>
                <a:srgbClr val="FFFFFF"/>
              </a:buClr>
              <a:buSzPts val="800"/>
            </a:pPr>
            <a:r>
              <a:rPr lang="en-US" sz="3200" b="1" dirty="0" smtClean="0">
                <a:solidFill>
                  <a:schemeClr val="bg1"/>
                </a:solidFill>
              </a:rPr>
              <a:t>XSS</a:t>
            </a:r>
            <a:endParaRPr sz="3200" b="1" i="0" u="none" strike="noStrike" cap="none" dirty="0">
              <a:solidFill>
                <a:schemeClr val="bg1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02522263"/>
      </p:ext>
    </p:extLst>
  </p:cSld>
  <p:clrMapOvr>
    <a:masterClrMapping/>
  </p:clrMapOvr>
  <p:transition spd="slow">
    <p:fade thruBlk="1"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600" i="1" dirty="0"/>
              <a:t>Remember this mantra</a:t>
            </a:r>
            <a:endParaRPr lang="en-US" sz="1600" i="1" dirty="0" smtClean="0">
              <a:solidFill>
                <a:srgbClr val="7030A0"/>
              </a:solidFill>
            </a:endParaRPr>
          </a:p>
          <a:p>
            <a:pPr algn="ctr"/>
            <a:endParaRPr lang="en-US" sz="3200" dirty="0">
              <a:solidFill>
                <a:srgbClr val="7030A0"/>
              </a:solidFill>
            </a:endParaRPr>
          </a:p>
          <a:p>
            <a:pPr algn="ctr"/>
            <a:r>
              <a:rPr lang="en-US" sz="3200" dirty="0" smtClean="0">
                <a:solidFill>
                  <a:srgbClr val="7030A0"/>
                </a:solidFill>
              </a:rPr>
              <a:t>“</a:t>
            </a:r>
            <a:r>
              <a:rPr lang="en-US" sz="3200" dirty="0">
                <a:solidFill>
                  <a:srgbClr val="7030A0"/>
                </a:solidFill>
              </a:rPr>
              <a:t>Filter input, escape output”</a:t>
            </a:r>
            <a:endParaRPr lang="en-US" sz="3200" i="1" dirty="0" smtClean="0">
              <a:solidFill>
                <a:srgbClr val="7030A0"/>
              </a:solidFill>
            </a:endParaRPr>
          </a:p>
        </p:txBody>
      </p:sp>
      <p:sp>
        <p:nvSpPr>
          <p:cNvPr id="203" name="Google Shape;203;p34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0071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4"/>
          <p:cNvSpPr txBox="1"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7030A0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>
              <a:buClr>
                <a:srgbClr val="FFFFFF"/>
              </a:buClr>
              <a:buSzPts val="800"/>
            </a:pPr>
            <a:r>
              <a:rPr lang="en-US" sz="3200" b="1" dirty="0" smtClean="0">
                <a:solidFill>
                  <a:schemeClr val="bg1"/>
                </a:solidFill>
              </a:rPr>
              <a:t>XSS</a:t>
            </a:r>
            <a:endParaRPr sz="3200" b="1" i="0" u="none" strike="noStrike" cap="none" dirty="0">
              <a:solidFill>
                <a:schemeClr val="bg1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52098919"/>
      </p:ext>
    </p:extLst>
  </p:cSld>
  <p:clrMapOvr>
    <a:masterClrMapping/>
  </p:clrMapOvr>
  <p:transition spd="slow">
    <p:fade thruBlk="1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400" dirty="0" err="1" smtClean="0"/>
              <a:t>htmlspecialchars</a:t>
            </a:r>
            <a:r>
              <a:rPr lang="en-US" sz="2400" dirty="0" smtClean="0"/>
              <a:t>()</a:t>
            </a:r>
          </a:p>
          <a:p>
            <a:r>
              <a:rPr lang="en-US" sz="2400" dirty="0" err="1" smtClean="0"/>
              <a:t>htmlentities</a:t>
            </a:r>
            <a:r>
              <a:rPr lang="en-US" sz="2400" dirty="0" smtClean="0"/>
              <a:t>()</a:t>
            </a:r>
          </a:p>
          <a:p>
            <a:r>
              <a:rPr lang="en-US" sz="2400" dirty="0" err="1" smtClean="0"/>
              <a:t>strip_tags</a:t>
            </a:r>
            <a:endParaRPr lang="en-US" sz="2400" dirty="0" smtClean="0"/>
          </a:p>
          <a:p>
            <a:endParaRPr lang="en-US" sz="2400" dirty="0"/>
          </a:p>
          <a:p>
            <a:r>
              <a:rPr lang="en-US" sz="2400" dirty="0" err="1" smtClean="0"/>
              <a:t>filter_var</a:t>
            </a:r>
            <a:r>
              <a:rPr lang="en-US" sz="2400" dirty="0"/>
              <a:t>($string, FILTER_SANITIZE_STRING</a:t>
            </a:r>
            <a:r>
              <a:rPr lang="en-US" sz="2400" dirty="0" smtClean="0"/>
              <a:t>)</a:t>
            </a:r>
          </a:p>
          <a:p>
            <a:r>
              <a:rPr lang="en-US" sz="2400" i="1" dirty="0" smtClean="0">
                <a:solidFill>
                  <a:srgbClr val="7030A0"/>
                </a:solidFill>
              </a:rPr>
              <a:t>/safest way to escape output before </a:t>
            </a:r>
            <a:r>
              <a:rPr lang="en-US" sz="2400" i="1" dirty="0" smtClean="0">
                <a:solidFill>
                  <a:srgbClr val="7030A0"/>
                </a:solidFill>
              </a:rPr>
              <a:t>displ</a:t>
            </a:r>
            <a:r>
              <a:rPr lang="en-US" sz="2400" i="1" dirty="0">
                <a:solidFill>
                  <a:srgbClr val="7030A0"/>
                </a:solidFill>
              </a:rPr>
              <a:t>a</a:t>
            </a:r>
            <a:r>
              <a:rPr lang="en-US" sz="2400" i="1" dirty="0" smtClean="0">
                <a:solidFill>
                  <a:srgbClr val="7030A0"/>
                </a:solidFill>
              </a:rPr>
              <a:t>ying </a:t>
            </a:r>
            <a:r>
              <a:rPr lang="en-US" sz="2400" i="1" dirty="0" smtClean="0">
                <a:solidFill>
                  <a:srgbClr val="7030A0"/>
                </a:solidFill>
              </a:rPr>
              <a:t>it/</a:t>
            </a:r>
          </a:p>
        </p:txBody>
      </p:sp>
      <p:sp>
        <p:nvSpPr>
          <p:cNvPr id="203" name="Google Shape;203;p34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0071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4"/>
          <p:cNvSpPr txBox="1"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7030A0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>
              <a:buClr>
                <a:srgbClr val="FFFFFF"/>
              </a:buClr>
              <a:buSzPts val="800"/>
            </a:pPr>
            <a:r>
              <a:rPr lang="en-US" sz="3200" b="1" dirty="0" smtClean="0">
                <a:solidFill>
                  <a:schemeClr val="bg1"/>
                </a:solidFill>
              </a:rPr>
              <a:t>XSS</a:t>
            </a:r>
            <a:endParaRPr sz="3200" b="1" i="0" u="none" strike="noStrike" cap="none" dirty="0">
              <a:solidFill>
                <a:schemeClr val="bg1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20449739"/>
      </p:ext>
    </p:extLst>
  </p:cSld>
  <p:clrMapOvr>
    <a:masterClrMapping/>
  </p:clrMapOvr>
  <p:transition spd="slow">
    <p:fade thruBlk="1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3"/>
          <p:cNvSpPr txBox="1">
            <a:spLocks noGrp="1"/>
          </p:cNvSpPr>
          <p:nvPr>
            <p:ph type="title"/>
          </p:nvPr>
        </p:nvSpPr>
        <p:spPr>
          <a:xfrm>
            <a:off x="311700" y="1767300"/>
            <a:ext cx="8520599" cy="572699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r>
              <a:rPr lang="en-US" sz="30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30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0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30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0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				</a:t>
            </a:r>
            <a:endParaRPr sz="3000" b="1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33"/>
          <p:cNvSpPr/>
          <p:nvPr/>
        </p:nvSpPr>
        <p:spPr>
          <a:xfrm>
            <a:off x="1115616" y="1823794"/>
            <a:ext cx="72008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Clr>
                <a:schemeClr val="lt1"/>
              </a:buClr>
              <a:buSzPts val="4800"/>
            </a:pPr>
            <a:r>
              <a:rPr lang="en-US" sz="4800" b="1" dirty="0">
                <a:solidFill>
                  <a:schemeClr val="bg1"/>
                </a:solidFill>
              </a:rPr>
              <a:t>Cross-Site </a:t>
            </a:r>
            <a:r>
              <a:rPr lang="en-US" sz="4800" b="1" dirty="0" smtClean="0">
                <a:solidFill>
                  <a:schemeClr val="bg1"/>
                </a:solidFill>
              </a:rPr>
              <a:t>Request Forgeries /</a:t>
            </a:r>
            <a:r>
              <a:rPr lang="en-US" sz="4800" b="1" dirty="0">
                <a:solidFill>
                  <a:schemeClr val="bg1"/>
                </a:solidFill>
              </a:rPr>
              <a:t>CSRF</a:t>
            </a:r>
            <a:r>
              <a:rPr lang="en-US" sz="4800" b="1" dirty="0" smtClean="0">
                <a:solidFill>
                  <a:schemeClr val="bg1"/>
                </a:solidFill>
              </a:rPr>
              <a:t>/</a:t>
            </a:r>
            <a:endParaRPr sz="4800" b="1" i="0" u="none" strike="noStrike" cap="none" dirty="0">
              <a:solidFill>
                <a:schemeClr val="bg1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73357389"/>
      </p:ext>
    </p:extLst>
  </p:cSld>
  <p:clrMapOvr>
    <a:masterClrMapping/>
  </p:clrMapOvr>
  <p:transition spd="slow">
    <p:fade thruBlk="1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US" sz="2400" dirty="0" smtClean="0"/>
          </a:p>
          <a:p>
            <a:r>
              <a:rPr lang="en-US" sz="2400" dirty="0" smtClean="0"/>
              <a:t>CSRF </a:t>
            </a:r>
            <a:r>
              <a:rPr lang="en-US" sz="2400" dirty="0"/>
              <a:t>attacks exploit the trust that a web site has in a client. </a:t>
            </a:r>
            <a:endParaRPr lang="en-US" sz="2400" dirty="0" smtClean="0"/>
          </a:p>
          <a:p>
            <a:r>
              <a:rPr lang="en-US" sz="2400" dirty="0" smtClean="0"/>
              <a:t>In </a:t>
            </a:r>
            <a:r>
              <a:rPr lang="en-US" sz="2400" dirty="0"/>
              <a:t>these attacks, the </a:t>
            </a:r>
            <a:r>
              <a:rPr lang="en-US" sz="2400" dirty="0" smtClean="0"/>
              <a:t>opponent tricks </a:t>
            </a:r>
            <a:r>
              <a:rPr lang="en-US" sz="2400" dirty="0"/>
              <a:t>the client into executing a command on a web site that trusts that client.</a:t>
            </a:r>
            <a:endParaRPr lang="en-US" sz="2400" i="1" dirty="0" smtClean="0">
              <a:solidFill>
                <a:srgbClr val="7030A0"/>
              </a:solidFill>
            </a:endParaRPr>
          </a:p>
        </p:txBody>
      </p:sp>
      <p:sp>
        <p:nvSpPr>
          <p:cNvPr id="203" name="Google Shape;203;p34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0071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4"/>
          <p:cNvSpPr txBox="1"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>
              <a:buClr>
                <a:srgbClr val="FFFFFF"/>
              </a:buClr>
              <a:buSzPts val="800"/>
            </a:pPr>
            <a:r>
              <a:rPr lang="en-US" sz="3200" b="1" dirty="0" smtClean="0">
                <a:solidFill>
                  <a:schemeClr val="bg1"/>
                </a:solidFill>
              </a:rPr>
              <a:t>CSRF</a:t>
            </a:r>
            <a:endParaRPr sz="3200" b="1" i="0" u="none" strike="noStrike" cap="none" dirty="0">
              <a:solidFill>
                <a:schemeClr val="bg1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55392104"/>
      </p:ext>
    </p:extLst>
  </p:cSld>
  <p:clrMapOvr>
    <a:masterClrMapping/>
  </p:clrMapOvr>
  <p:transition spd="slow">
    <p:fade thruBlk="1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000" dirty="0"/>
              <a:t>Imagine that Alice is logged onto her bank web site that has a form that allows </a:t>
            </a:r>
            <a:r>
              <a:rPr lang="en-US" sz="2000" dirty="0" smtClean="0"/>
              <a:t>her to </a:t>
            </a:r>
            <a:r>
              <a:rPr lang="en-US" sz="2000" dirty="0"/>
              <a:t>transfer money to another account. </a:t>
            </a:r>
            <a:endParaRPr lang="en-US" sz="2000" dirty="0" smtClean="0"/>
          </a:p>
          <a:p>
            <a:r>
              <a:rPr lang="en-US" sz="2000" dirty="0" smtClean="0"/>
              <a:t>Chuck </a:t>
            </a:r>
            <a:r>
              <a:rPr lang="en-US" sz="2000" dirty="0"/>
              <a:t>knows the endpoint of that form and </a:t>
            </a:r>
            <a:r>
              <a:rPr lang="en-US" sz="2000" dirty="0" smtClean="0"/>
              <a:t>what input </a:t>
            </a:r>
            <a:r>
              <a:rPr lang="en-US" sz="2000" dirty="0"/>
              <a:t>fields it has. He somehow manages to trick Alice’s web browser into sending a </a:t>
            </a:r>
            <a:r>
              <a:rPr lang="en-US" sz="2000" dirty="0" smtClean="0"/>
              <a:t>POST request </a:t>
            </a:r>
            <a:r>
              <a:rPr lang="en-US" sz="2000" dirty="0"/>
              <a:t>to that form instructing the bank to transfer money into his </a:t>
            </a:r>
            <a:r>
              <a:rPr lang="en-US" sz="2000" dirty="0" smtClean="0"/>
              <a:t>account.</a:t>
            </a:r>
          </a:p>
          <a:p>
            <a:r>
              <a:rPr lang="en-US" sz="2000" dirty="0" smtClean="0"/>
              <a:t>The bank trusts </a:t>
            </a:r>
            <a:r>
              <a:rPr lang="en-US" sz="2000" dirty="0"/>
              <a:t>Alice’s web browser because it has a valid session and performs the request.</a:t>
            </a:r>
            <a:endParaRPr lang="en-US" sz="2000" i="1" dirty="0" smtClean="0">
              <a:solidFill>
                <a:srgbClr val="7030A0"/>
              </a:solidFill>
            </a:endParaRPr>
          </a:p>
        </p:txBody>
      </p:sp>
      <p:sp>
        <p:nvSpPr>
          <p:cNvPr id="203" name="Google Shape;203;p34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0071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4"/>
          <p:cNvSpPr txBox="1"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>
              <a:buClr>
                <a:srgbClr val="FFFFFF"/>
              </a:buClr>
              <a:buSzPts val="800"/>
            </a:pPr>
            <a:r>
              <a:rPr lang="en-US" sz="3200" b="1" dirty="0" smtClean="0">
                <a:solidFill>
                  <a:schemeClr val="bg1"/>
                </a:solidFill>
              </a:rPr>
              <a:t>CSRF</a:t>
            </a:r>
            <a:endParaRPr sz="3200" b="1" i="0" u="none" strike="noStrike" cap="none" dirty="0">
              <a:solidFill>
                <a:schemeClr val="bg1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42921379"/>
      </p:ext>
    </p:extLst>
  </p:cSld>
  <p:clrMapOvr>
    <a:masterClrMapping/>
  </p:clrMapOvr>
  <p:transition spd="slow">
    <p:fade thruBlk="1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000" dirty="0"/>
              <a:t>To mitigate these requests, you should generate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a unique and very random </a:t>
            </a:r>
            <a:r>
              <a:rPr lang="en-US" sz="2000" b="1" dirty="0" smtClean="0">
                <a:solidFill>
                  <a:schemeClr val="accent6">
                    <a:lumMod val="50000"/>
                  </a:schemeClr>
                </a:solidFill>
              </a:rPr>
              <a:t>token that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you store in Alice’s session</a:t>
            </a:r>
            <a:r>
              <a:rPr lang="en-US" sz="2000" dirty="0"/>
              <a:t>. When you output the form, you include this token so </a:t>
            </a:r>
            <a:r>
              <a:rPr lang="en-US" sz="2000" dirty="0" smtClean="0"/>
              <a:t>that when </a:t>
            </a:r>
            <a:r>
              <a:rPr lang="en-US" sz="2000" dirty="0"/>
              <a:t>Alice submits the form, she also submits the token. </a:t>
            </a:r>
            <a:endParaRPr lang="en-US" sz="2000" dirty="0" smtClean="0"/>
          </a:p>
        </p:txBody>
      </p:sp>
      <p:sp>
        <p:nvSpPr>
          <p:cNvPr id="203" name="Google Shape;203;p34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0071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4"/>
          <p:cNvSpPr txBox="1"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>
              <a:buClr>
                <a:srgbClr val="FFFFFF"/>
              </a:buClr>
              <a:buSzPts val="800"/>
            </a:pPr>
            <a:r>
              <a:rPr lang="en-US" sz="3200" b="1" dirty="0" smtClean="0">
                <a:solidFill>
                  <a:schemeClr val="bg1"/>
                </a:solidFill>
              </a:rPr>
              <a:t>CSRF</a:t>
            </a:r>
            <a:endParaRPr sz="3200" b="1" i="0" u="none" strike="noStrike" cap="none" dirty="0">
              <a:solidFill>
                <a:schemeClr val="bg1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94618038"/>
      </p:ext>
    </p:extLst>
  </p:cSld>
  <p:clrMapOvr>
    <a:masterClrMapping/>
  </p:clrMapOvr>
  <p:transition spd="slow">
    <p:fade thruBlk="1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000" dirty="0" smtClean="0"/>
              <a:t>Before </a:t>
            </a:r>
            <a:r>
              <a:rPr lang="en-US" sz="2000" dirty="0"/>
              <a:t>you process the form</a:t>
            </a:r>
            <a:r>
              <a:rPr lang="en-US" sz="2000" dirty="0" smtClean="0"/>
              <a:t>, </a:t>
            </a:r>
            <a:r>
              <a:rPr lang="en-US" sz="2000" b="1" dirty="0" smtClean="0">
                <a:solidFill>
                  <a:schemeClr val="accent6">
                    <a:lumMod val="50000"/>
                  </a:schemeClr>
                </a:solidFill>
              </a:rPr>
              <a:t>you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check </a:t>
            </a:r>
            <a:r>
              <a:rPr lang="en-US" sz="2000" dirty="0"/>
              <a:t>that the submitted token matches the token stored in her session.</a:t>
            </a:r>
          </a:p>
          <a:p>
            <a:endParaRPr lang="en-US" sz="2000" dirty="0" smtClean="0"/>
          </a:p>
          <a:p>
            <a:r>
              <a:rPr lang="en-US" sz="2000" dirty="0" smtClean="0"/>
              <a:t>Chuck </a:t>
            </a:r>
            <a:r>
              <a:rPr lang="en-US" sz="2000" dirty="0"/>
              <a:t>has no way of knowing what token is in Alice’s session and so won’t be able </a:t>
            </a:r>
            <a:r>
              <a:rPr lang="en-US" sz="2000" dirty="0" smtClean="0"/>
              <a:t>to include </a:t>
            </a:r>
            <a:r>
              <a:rPr lang="en-US" sz="2000" dirty="0"/>
              <a:t>it in his POST. </a:t>
            </a:r>
            <a:endParaRPr lang="en-US" sz="2000" dirty="0" smtClean="0"/>
          </a:p>
          <a:p>
            <a:r>
              <a:rPr lang="en-US" sz="2000" dirty="0" smtClean="0"/>
              <a:t>Your </a:t>
            </a:r>
            <a:r>
              <a:rPr lang="en-US" sz="2000" dirty="0"/>
              <a:t>code will reject the request that he tricked Alice into making</a:t>
            </a:r>
          </a:p>
          <a:p>
            <a:r>
              <a:rPr lang="en-US" sz="2000" dirty="0"/>
              <a:t>because it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doesn’t have a valid token</a:t>
            </a:r>
            <a:r>
              <a:rPr lang="en-US" sz="2000" dirty="0" smtClean="0"/>
              <a:t>.</a:t>
            </a:r>
            <a:endParaRPr lang="en-US" sz="2000" dirty="0"/>
          </a:p>
        </p:txBody>
      </p:sp>
      <p:sp>
        <p:nvSpPr>
          <p:cNvPr id="203" name="Google Shape;203;p34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0071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4"/>
          <p:cNvSpPr txBox="1"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>
              <a:buClr>
                <a:srgbClr val="FFFFFF"/>
              </a:buClr>
              <a:buSzPts val="800"/>
            </a:pPr>
            <a:r>
              <a:rPr lang="en-US" sz="3200" b="1" dirty="0" smtClean="0">
                <a:solidFill>
                  <a:schemeClr val="bg1"/>
                </a:solidFill>
              </a:rPr>
              <a:t>CSRF</a:t>
            </a:r>
            <a:endParaRPr sz="3200" b="1" i="0" u="none" strike="noStrike" cap="none" dirty="0">
              <a:solidFill>
                <a:schemeClr val="bg1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13113324"/>
      </p:ext>
    </p:extLst>
  </p:cSld>
  <p:clrMapOvr>
    <a:masterClrMapping/>
  </p:clrMapOvr>
  <p:transition spd="slow">
    <p:fade thruBlk="1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US" sz="2000" dirty="0"/>
          </a:p>
          <a:p>
            <a:r>
              <a:rPr lang="en-US" sz="2000" dirty="0"/>
              <a:t>Actual banks often require a person to re-authenticate when performing a </a:t>
            </a:r>
            <a:r>
              <a:rPr lang="en-US" sz="2000" dirty="0" smtClean="0"/>
              <a:t>sensitive operation </a:t>
            </a:r>
            <a:r>
              <a:rPr lang="en-US" sz="2000" dirty="0"/>
              <a:t>and will often require two-factor authentication as part of this process.</a:t>
            </a:r>
            <a:endParaRPr lang="en-US" sz="2000" i="1" dirty="0" smtClean="0">
              <a:solidFill>
                <a:srgbClr val="7030A0"/>
              </a:solidFill>
            </a:endParaRPr>
          </a:p>
        </p:txBody>
      </p:sp>
      <p:sp>
        <p:nvSpPr>
          <p:cNvPr id="203" name="Google Shape;203;p34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0071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4"/>
          <p:cNvSpPr txBox="1"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>
              <a:buClr>
                <a:srgbClr val="FFFFFF"/>
              </a:buClr>
              <a:buSzPts val="800"/>
            </a:pPr>
            <a:r>
              <a:rPr lang="en-US" sz="3200" b="1" dirty="0" smtClean="0">
                <a:solidFill>
                  <a:schemeClr val="bg1"/>
                </a:solidFill>
              </a:rPr>
              <a:t>CSRF</a:t>
            </a:r>
            <a:endParaRPr sz="3200" b="1" i="0" u="none" strike="noStrike" cap="none" dirty="0">
              <a:solidFill>
                <a:schemeClr val="bg1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36615733"/>
      </p:ext>
    </p:extLst>
  </p:cSld>
  <p:clrMapOvr>
    <a:masterClrMapping/>
  </p:clrMapOvr>
  <p:transition spd="slow">
    <p:fade thruBlk="1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75000"/>
          </a:schemeClr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3"/>
          <p:cNvSpPr txBox="1">
            <a:spLocks noGrp="1"/>
          </p:cNvSpPr>
          <p:nvPr>
            <p:ph type="title"/>
          </p:nvPr>
        </p:nvSpPr>
        <p:spPr>
          <a:xfrm>
            <a:off x="311700" y="1767300"/>
            <a:ext cx="8520599" cy="57269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r>
              <a:rPr lang="en-US" sz="30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30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0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30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0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				</a:t>
            </a:r>
            <a:endParaRPr sz="3000" b="1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33"/>
          <p:cNvSpPr/>
          <p:nvPr/>
        </p:nvSpPr>
        <p:spPr>
          <a:xfrm>
            <a:off x="1115616" y="1823794"/>
            <a:ext cx="72008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Clr>
                <a:schemeClr val="lt1"/>
              </a:buClr>
              <a:buSzPts val="4800"/>
            </a:pPr>
            <a:r>
              <a:rPr lang="en-US" sz="4800" b="1" dirty="0">
                <a:solidFill>
                  <a:schemeClr val="bg1"/>
                </a:solidFill>
              </a:rPr>
              <a:t>SQL Injection</a:t>
            </a:r>
            <a:endParaRPr sz="4800" b="1" i="0" u="none" strike="noStrike" cap="none" dirty="0">
              <a:solidFill>
                <a:schemeClr val="bg1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70811629"/>
      </p:ext>
    </p:extLst>
  </p:cSld>
  <p:clrMapOvr>
    <a:masterClrMapping/>
  </p:clrMapOvr>
  <p:transition spd="slow">
    <p:fade thruBlk="1"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000" dirty="0"/>
              <a:t>SQL injection is the most common form of attack on the web, and one of the easiest </a:t>
            </a:r>
            <a:r>
              <a:rPr lang="en-US" sz="2000" dirty="0" smtClean="0"/>
              <a:t>to defend </a:t>
            </a:r>
            <a:r>
              <a:rPr lang="en-US" sz="2000" dirty="0"/>
              <a:t>against. </a:t>
            </a:r>
            <a:endParaRPr lang="en-US" sz="2000" dirty="0" smtClean="0"/>
          </a:p>
          <a:p>
            <a:r>
              <a:rPr lang="en-US" sz="2000" dirty="0" smtClean="0"/>
              <a:t>SQL </a:t>
            </a:r>
            <a:r>
              <a:rPr lang="en-US" sz="2000" dirty="0"/>
              <a:t>injection occurs when the attacker can insert malicious commands</a:t>
            </a:r>
          </a:p>
          <a:p>
            <a:r>
              <a:rPr lang="en-US" sz="2000" dirty="0"/>
              <a:t>into a SQL statement for execution by the database</a:t>
            </a:r>
            <a:r>
              <a:rPr lang="en-US" sz="2000" dirty="0" smtClean="0"/>
              <a:t>.</a:t>
            </a:r>
          </a:p>
          <a:p>
            <a:endParaRPr lang="en-US" sz="2000" dirty="0"/>
          </a:p>
          <a:p>
            <a:r>
              <a:rPr lang="en-US" sz="2000" dirty="0" smtClean="0"/>
              <a:t>Examples </a:t>
            </a:r>
            <a:r>
              <a:rPr lang="en-US" sz="2000" dirty="0" smtClean="0">
                <a:hlinkClick r:id="rId3"/>
              </a:rPr>
              <a:t>here</a:t>
            </a:r>
            <a:endParaRPr lang="en-US" sz="2000" dirty="0"/>
          </a:p>
        </p:txBody>
      </p:sp>
      <p:sp>
        <p:nvSpPr>
          <p:cNvPr id="203" name="Google Shape;203;p34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0071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4"/>
          <p:cNvSpPr txBox="1"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>
              <a:buClr>
                <a:srgbClr val="FFFFFF"/>
              </a:buClr>
              <a:buSzPts val="800"/>
            </a:pPr>
            <a:r>
              <a:rPr lang="en-US" sz="3200" b="1" dirty="0" smtClean="0">
                <a:solidFill>
                  <a:schemeClr val="bg1"/>
                </a:solidFill>
              </a:rPr>
              <a:t>SQL injection</a:t>
            </a:r>
            <a:endParaRPr sz="3200" b="1" i="0" u="none" strike="noStrike" cap="none" dirty="0">
              <a:solidFill>
                <a:schemeClr val="bg1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52715896"/>
      </p:ext>
    </p:extLst>
  </p:cSld>
  <p:clrMapOvr>
    <a:masterClrMapping/>
  </p:clrMapOvr>
  <p:transition spd="slow">
    <p:fade thruBlk="1"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000" dirty="0"/>
              <a:t>At its heart the problem with SQL injection comes from the fact that a SQL </a:t>
            </a:r>
            <a:r>
              <a:rPr lang="en-US" sz="2000" dirty="0" smtClean="0"/>
              <a:t>statement has </a:t>
            </a:r>
            <a:r>
              <a:rPr lang="en-US" sz="2000" dirty="0"/>
              <a:t>a mix of data and syntax. </a:t>
            </a:r>
            <a:endParaRPr lang="en-US" sz="2000" dirty="0" smtClean="0"/>
          </a:p>
          <a:p>
            <a:r>
              <a:rPr lang="en-US" sz="2000" dirty="0" smtClean="0"/>
              <a:t>By </a:t>
            </a:r>
            <a:r>
              <a:rPr lang="en-US" sz="2000" dirty="0"/>
              <a:t>allowing user-supplied data to be incorporated </a:t>
            </a:r>
            <a:r>
              <a:rPr lang="en-US" sz="2000" dirty="0" smtClean="0"/>
              <a:t>with function </a:t>
            </a:r>
            <a:r>
              <a:rPr lang="en-US" sz="2000" dirty="0"/>
              <a:t>syntax, we create the possibility that malicious data can interfere with the syntax.</a:t>
            </a:r>
          </a:p>
        </p:txBody>
      </p:sp>
      <p:sp>
        <p:nvSpPr>
          <p:cNvPr id="203" name="Google Shape;203;p34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0071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4"/>
          <p:cNvSpPr txBox="1"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>
              <a:buClr>
                <a:srgbClr val="FFFFFF"/>
              </a:buClr>
              <a:buSzPts val="800"/>
            </a:pPr>
            <a:r>
              <a:rPr lang="en-US" sz="3200" b="1" dirty="0" smtClean="0">
                <a:solidFill>
                  <a:schemeClr val="bg1"/>
                </a:solidFill>
              </a:rPr>
              <a:t>SQL injection</a:t>
            </a:r>
            <a:endParaRPr sz="3200" b="1" i="0" u="none" strike="noStrike" cap="none" dirty="0">
              <a:solidFill>
                <a:schemeClr val="bg1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1805533"/>
      </p:ext>
    </p:extLst>
  </p:cSld>
  <p:clrMapOvr>
    <a:masterClrMapping/>
  </p:clrMapOvr>
  <p:transition spd="slow">
    <p:fade thruBlk="1"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000" dirty="0"/>
              <a:t>The most effective way to start to mitigate SQL injection in the PHP language is </a:t>
            </a:r>
            <a:r>
              <a:rPr lang="en-US" sz="2000" dirty="0" smtClean="0"/>
              <a:t>to exclusively </a:t>
            </a:r>
            <a:r>
              <a:rPr lang="en-US" sz="2000" dirty="0"/>
              <a:t>use 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</a:rPr>
              <a:t>prepared statements </a:t>
            </a:r>
            <a:r>
              <a:rPr lang="en-US" sz="2000" dirty="0"/>
              <a:t>to interact with your database</a:t>
            </a:r>
            <a:r>
              <a:rPr lang="en-US" sz="2000" dirty="0" smtClean="0"/>
              <a:t>.</a:t>
            </a:r>
          </a:p>
          <a:p>
            <a:endParaRPr lang="en-US" sz="2000" dirty="0"/>
          </a:p>
          <a:p>
            <a:r>
              <a:rPr lang="en-US" sz="2000" dirty="0" smtClean="0"/>
              <a:t>Example </a:t>
            </a:r>
            <a:r>
              <a:rPr lang="en-US" sz="2000" dirty="0" smtClean="0">
                <a:hlinkClick r:id="rId3"/>
              </a:rPr>
              <a:t>here</a:t>
            </a:r>
            <a:endParaRPr lang="en-US" sz="2000" dirty="0"/>
          </a:p>
        </p:txBody>
      </p:sp>
      <p:sp>
        <p:nvSpPr>
          <p:cNvPr id="203" name="Google Shape;203;p34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0071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4"/>
          <p:cNvSpPr txBox="1"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>
              <a:buClr>
                <a:srgbClr val="FFFFFF"/>
              </a:buClr>
              <a:buSzPts val="800"/>
            </a:pPr>
            <a:r>
              <a:rPr lang="en-US" sz="3200" b="1" dirty="0" smtClean="0">
                <a:solidFill>
                  <a:schemeClr val="bg1"/>
                </a:solidFill>
              </a:rPr>
              <a:t>SQL injection</a:t>
            </a:r>
            <a:endParaRPr sz="3200" b="1" i="0" u="none" strike="noStrike" cap="none" dirty="0">
              <a:solidFill>
                <a:schemeClr val="bg1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56797301"/>
      </p:ext>
    </p:extLst>
  </p:cSld>
  <p:clrMapOvr>
    <a:masterClrMapping/>
  </p:clrMapOvr>
  <p:transition spd="slow">
    <p:fade thruBlk="1"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000" dirty="0" smtClean="0"/>
              <a:t>A </a:t>
            </a:r>
            <a:r>
              <a:rPr lang="en-US" sz="2000" dirty="0"/>
              <a:t>less effective way to mitigate SQL injection is to 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</a:rPr>
              <a:t>escape special characters</a:t>
            </a:r>
            <a:r>
              <a:rPr lang="en-US" sz="2000" dirty="0"/>
              <a:t> </a:t>
            </a:r>
            <a:r>
              <a:rPr lang="en-US" sz="2000" dirty="0" smtClean="0"/>
              <a:t>before sending </a:t>
            </a:r>
            <a:r>
              <a:rPr lang="en-US" sz="2000" dirty="0"/>
              <a:t>them to the database. This is more prone to error than using </a:t>
            </a:r>
            <a:r>
              <a:rPr lang="en-US" sz="2000" dirty="0" smtClean="0"/>
              <a:t>prepared statements.</a:t>
            </a:r>
          </a:p>
          <a:p>
            <a:endParaRPr lang="en-US" sz="2000" dirty="0"/>
          </a:p>
          <a:p>
            <a:r>
              <a:rPr lang="en-US" sz="2000" dirty="0"/>
              <a:t>If you are going to try escaping special characters, you must use the database </a:t>
            </a:r>
            <a:r>
              <a:rPr lang="en-US" sz="2000" dirty="0" smtClean="0"/>
              <a:t>specific function </a:t>
            </a:r>
            <a:r>
              <a:rPr lang="en-US" sz="2000" dirty="0"/>
              <a:t>(e.g., </a:t>
            </a:r>
            <a:r>
              <a:rPr lang="en-US" sz="2000" b="1" dirty="0" err="1">
                <a:solidFill>
                  <a:schemeClr val="accent5">
                    <a:lumMod val="75000"/>
                  </a:schemeClr>
                </a:solidFill>
              </a:rPr>
              <a:t>mysqli_real_escape_string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</a:rPr>
              <a:t>()</a:t>
            </a:r>
            <a:r>
              <a:rPr lang="en-US" sz="2000" dirty="0"/>
              <a:t>) or PDO::quote() and </a:t>
            </a:r>
            <a:r>
              <a:rPr lang="en-US" sz="2000" dirty="0" smtClean="0"/>
              <a:t>not </a:t>
            </a:r>
            <a:r>
              <a:rPr lang="en-US" sz="2000" dirty="0"/>
              <a:t>a </a:t>
            </a:r>
            <a:r>
              <a:rPr lang="en-US" sz="2000" dirty="0" smtClean="0"/>
              <a:t>generic function </a:t>
            </a:r>
            <a:r>
              <a:rPr lang="en-US" sz="2000" dirty="0"/>
              <a:t>like </a:t>
            </a:r>
            <a:r>
              <a:rPr lang="en-US" sz="2000" dirty="0" err="1"/>
              <a:t>addslashes</a:t>
            </a:r>
            <a:r>
              <a:rPr lang="en-US" sz="2000" dirty="0" smtClean="0"/>
              <a:t>().</a:t>
            </a:r>
          </a:p>
          <a:p>
            <a:endParaRPr lang="en-US" sz="1200" dirty="0" smtClean="0">
              <a:hlinkClick r:id="rId3"/>
            </a:endParaRPr>
          </a:p>
          <a:p>
            <a:r>
              <a:rPr lang="en-US" sz="1200" dirty="0" smtClean="0">
                <a:hlinkClick r:id="rId3"/>
              </a:rPr>
              <a:t>http</a:t>
            </a:r>
            <a:r>
              <a:rPr lang="en-US" sz="1200" dirty="0">
                <a:hlinkClick r:id="rId3"/>
              </a:rPr>
              <a:t>://</a:t>
            </a:r>
            <a:r>
              <a:rPr lang="en-US" sz="1200" dirty="0" smtClean="0">
                <a:hlinkClick r:id="rId3"/>
              </a:rPr>
              <a:t>php.net/manual/en/mysqli.real-escape-string.php</a:t>
            </a:r>
            <a:endParaRPr lang="en-US" sz="1200" dirty="0" smtClean="0"/>
          </a:p>
          <a:p>
            <a:endParaRPr lang="en-US" sz="1200" dirty="0" smtClean="0"/>
          </a:p>
          <a:p>
            <a:endParaRPr lang="en-US" sz="2000" dirty="0"/>
          </a:p>
        </p:txBody>
      </p:sp>
      <p:sp>
        <p:nvSpPr>
          <p:cNvPr id="203" name="Google Shape;203;p34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0071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4"/>
          <p:cNvSpPr txBox="1"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>
              <a:buClr>
                <a:srgbClr val="FFFFFF"/>
              </a:buClr>
              <a:buSzPts val="800"/>
            </a:pPr>
            <a:r>
              <a:rPr lang="en-US" sz="3200" b="1" dirty="0" smtClean="0">
                <a:solidFill>
                  <a:schemeClr val="bg1"/>
                </a:solidFill>
              </a:rPr>
              <a:t>SQL injection</a:t>
            </a:r>
            <a:endParaRPr sz="3200" b="1" i="0" u="none" strike="noStrike" cap="none" dirty="0">
              <a:solidFill>
                <a:schemeClr val="bg1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08992178"/>
      </p:ext>
    </p:extLst>
  </p:cSld>
  <p:clrMapOvr>
    <a:masterClrMapping/>
  </p:clrMapOvr>
  <p:transition spd="slow">
    <p:fade thruBlk="1"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000" b="1" dirty="0">
                <a:solidFill>
                  <a:schemeClr val="accent5">
                    <a:lumMod val="75000"/>
                  </a:schemeClr>
                </a:solidFill>
              </a:rPr>
              <a:t>General Principles</a:t>
            </a:r>
          </a:p>
          <a:p>
            <a:endParaRPr lang="en-US" sz="2000" dirty="0" smtClean="0"/>
          </a:p>
          <a:p>
            <a:r>
              <a:rPr lang="en-US" sz="2000" dirty="0" smtClean="0"/>
              <a:t>You </a:t>
            </a:r>
            <a:r>
              <a:rPr lang="en-US" sz="2000" dirty="0"/>
              <a:t>should also always connect to the database with a user who has the least </a:t>
            </a:r>
            <a:r>
              <a:rPr lang="en-US" sz="2000" dirty="0" smtClean="0"/>
              <a:t>amount of </a:t>
            </a:r>
            <a:r>
              <a:rPr lang="en-US" sz="2000" dirty="0"/>
              <a:t>privileges that are required for the application to function. </a:t>
            </a:r>
            <a:endParaRPr lang="en-US" sz="2000" dirty="0" smtClean="0"/>
          </a:p>
        </p:txBody>
      </p:sp>
      <p:sp>
        <p:nvSpPr>
          <p:cNvPr id="203" name="Google Shape;203;p34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0071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4"/>
          <p:cNvSpPr txBox="1"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>
              <a:buClr>
                <a:srgbClr val="FFFFFF"/>
              </a:buClr>
              <a:buSzPts val="800"/>
            </a:pPr>
            <a:r>
              <a:rPr lang="en-US" sz="3200" b="1" dirty="0" smtClean="0">
                <a:solidFill>
                  <a:schemeClr val="bg1"/>
                </a:solidFill>
              </a:rPr>
              <a:t>SQL injection</a:t>
            </a:r>
            <a:endParaRPr sz="3200" b="1" i="0" u="none" strike="noStrike" cap="none" dirty="0">
              <a:solidFill>
                <a:schemeClr val="bg1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9410842"/>
      </p:ext>
    </p:extLst>
  </p:cSld>
  <p:clrMapOvr>
    <a:masterClrMapping/>
  </p:clrMapOvr>
  <p:transition spd="slow">
    <p:fade thruBlk="1"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000" b="1" dirty="0">
                <a:solidFill>
                  <a:schemeClr val="accent5">
                    <a:lumMod val="75000"/>
                  </a:schemeClr>
                </a:solidFill>
              </a:rPr>
              <a:t>General Principles</a:t>
            </a:r>
          </a:p>
          <a:p>
            <a:endParaRPr lang="en-US" sz="2000" dirty="0" smtClean="0"/>
          </a:p>
          <a:p>
            <a:r>
              <a:rPr lang="en-US" sz="2000" dirty="0" smtClean="0"/>
              <a:t>Never </a:t>
            </a:r>
            <a:r>
              <a:rPr lang="en-US" sz="2000" dirty="0"/>
              <a:t>allow your </a:t>
            </a:r>
            <a:r>
              <a:rPr lang="en-US" sz="2000" dirty="0" smtClean="0"/>
              <a:t>web application </a:t>
            </a:r>
            <a:r>
              <a:rPr lang="en-US" sz="2000" dirty="0"/>
              <a:t>to connect to the database as its root user.</a:t>
            </a:r>
          </a:p>
          <a:p>
            <a:r>
              <a:rPr lang="en-US" sz="2000" dirty="0"/>
              <a:t>If you host multiple databases on your server, use a different user for each </a:t>
            </a:r>
            <a:r>
              <a:rPr lang="en-US" sz="2000" dirty="0" smtClean="0"/>
              <a:t>database on </a:t>
            </a:r>
            <a:r>
              <a:rPr lang="en-US" sz="2000" dirty="0"/>
              <a:t>your server and make sure that their passwords are unique. This will help prevent </a:t>
            </a:r>
            <a:r>
              <a:rPr lang="en-US" sz="2000" dirty="0" smtClean="0"/>
              <a:t>a SQL </a:t>
            </a:r>
            <a:r>
              <a:rPr lang="en-US" sz="2000" dirty="0"/>
              <a:t>injection attack on one site from affecting the databases of other sites</a:t>
            </a:r>
            <a:r>
              <a:rPr lang="en-US" sz="2000" dirty="0" smtClean="0"/>
              <a:t>.</a:t>
            </a:r>
            <a:endParaRPr lang="en-US" sz="2000" dirty="0"/>
          </a:p>
        </p:txBody>
      </p:sp>
      <p:sp>
        <p:nvSpPr>
          <p:cNvPr id="203" name="Google Shape;203;p34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0071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4"/>
          <p:cNvSpPr txBox="1"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>
              <a:buClr>
                <a:srgbClr val="FFFFFF"/>
              </a:buClr>
              <a:buSzPts val="800"/>
            </a:pPr>
            <a:r>
              <a:rPr lang="en-US" sz="3200" b="1" dirty="0" smtClean="0">
                <a:solidFill>
                  <a:schemeClr val="bg1"/>
                </a:solidFill>
              </a:rPr>
              <a:t>SQL injection</a:t>
            </a:r>
            <a:endParaRPr sz="3200" b="1" i="0" u="none" strike="noStrike" cap="none" dirty="0">
              <a:solidFill>
                <a:schemeClr val="bg1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76215237"/>
      </p:ext>
    </p:extLst>
  </p:cSld>
  <p:clrMapOvr>
    <a:masterClrMapping/>
  </p:clrMapOvr>
  <p:transition spd="slow">
    <p:fade thruBlk="1"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000" b="1" dirty="0">
                <a:solidFill>
                  <a:schemeClr val="accent5">
                    <a:lumMod val="75000"/>
                  </a:schemeClr>
                </a:solidFill>
              </a:rPr>
              <a:t>General Principles</a:t>
            </a:r>
          </a:p>
          <a:p>
            <a:endParaRPr lang="en-US" sz="2000" dirty="0" smtClean="0"/>
          </a:p>
          <a:p>
            <a:r>
              <a:rPr lang="en-US" sz="2000" dirty="0" smtClean="0"/>
              <a:t>Make </a:t>
            </a:r>
            <a:r>
              <a:rPr lang="en-US" sz="2000" dirty="0"/>
              <a:t>sure that you’re using an up-to-date version of MySQL and enforce the use </a:t>
            </a:r>
            <a:r>
              <a:rPr lang="en-US" sz="2000" dirty="0" smtClean="0"/>
              <a:t>of a </a:t>
            </a:r>
            <a:r>
              <a:rPr lang="en-US" sz="2000" dirty="0"/>
              <a:t>character set in the client DSN. There is a very subtle way to use mismatching </a:t>
            </a:r>
            <a:r>
              <a:rPr lang="en-US" sz="2000" dirty="0" smtClean="0"/>
              <a:t>character sets </a:t>
            </a:r>
            <a:r>
              <a:rPr lang="en-US" sz="2000" dirty="0"/>
              <a:t>in certain vulnerable encoding schemes to deploy a SQL injection</a:t>
            </a:r>
            <a:r>
              <a:rPr lang="en-US" sz="2000" dirty="0" smtClean="0"/>
              <a:t>;</a:t>
            </a:r>
          </a:p>
          <a:p>
            <a:endParaRPr lang="en-US" sz="1600" dirty="0" smtClean="0">
              <a:hlinkClick r:id="rId3"/>
            </a:endParaRPr>
          </a:p>
          <a:p>
            <a:r>
              <a:rPr lang="en-US" sz="1600" dirty="0" smtClean="0">
                <a:hlinkClick r:id="rId3"/>
              </a:rPr>
              <a:t>see </a:t>
            </a:r>
            <a:r>
              <a:rPr lang="en-US" sz="1600" dirty="0">
                <a:hlinkClick r:id="rId3"/>
              </a:rPr>
              <a:t>the </a:t>
            </a:r>
            <a:r>
              <a:rPr lang="en-US" sz="1600" dirty="0" smtClean="0">
                <a:hlinkClick r:id="rId3"/>
              </a:rPr>
              <a:t>second answer </a:t>
            </a:r>
            <a:r>
              <a:rPr lang="en-US" sz="1600" dirty="0">
                <a:hlinkClick r:id="rId3"/>
              </a:rPr>
              <a:t>(not the accepted one) on this </a:t>
            </a:r>
            <a:r>
              <a:rPr lang="en-US" sz="1600" dirty="0" err="1">
                <a:hlinkClick r:id="rId3"/>
              </a:rPr>
              <a:t>StackOverflow</a:t>
            </a:r>
            <a:r>
              <a:rPr lang="en-US" sz="1600">
                <a:hlinkClick r:id="rId3"/>
              </a:rPr>
              <a:t> </a:t>
            </a:r>
            <a:r>
              <a:rPr lang="en-US" sz="1600" smtClean="0">
                <a:hlinkClick r:id="rId3"/>
              </a:rPr>
              <a:t>article </a:t>
            </a:r>
            <a:r>
              <a:rPr lang="en-US" sz="1600" dirty="0">
                <a:hlinkClick r:id="rId3"/>
              </a:rPr>
              <a:t>for an exposition.</a:t>
            </a:r>
            <a:endParaRPr lang="en-US" sz="1600" dirty="0"/>
          </a:p>
        </p:txBody>
      </p:sp>
      <p:sp>
        <p:nvSpPr>
          <p:cNvPr id="203" name="Google Shape;203;p34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0071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4"/>
          <p:cNvSpPr txBox="1"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>
              <a:buClr>
                <a:srgbClr val="FFFFFF"/>
              </a:buClr>
              <a:buSzPts val="800"/>
            </a:pPr>
            <a:r>
              <a:rPr lang="en-US" sz="3200" b="1" dirty="0" smtClean="0">
                <a:solidFill>
                  <a:schemeClr val="bg1"/>
                </a:solidFill>
              </a:rPr>
              <a:t>SQL injection</a:t>
            </a:r>
            <a:endParaRPr sz="3200" b="1" i="0" u="none" strike="noStrike" cap="none" dirty="0">
              <a:solidFill>
                <a:schemeClr val="bg1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01346092"/>
      </p:ext>
    </p:extLst>
  </p:cSld>
  <p:clrMapOvr>
    <a:masterClrMapping/>
  </p:clrMapOvr>
  <p:transition spd="slow">
    <p:fade thruBlk="1"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75000"/>
          </a:schemeClr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3"/>
          <p:cNvSpPr txBox="1">
            <a:spLocks noGrp="1"/>
          </p:cNvSpPr>
          <p:nvPr>
            <p:ph type="title"/>
          </p:nvPr>
        </p:nvSpPr>
        <p:spPr>
          <a:xfrm>
            <a:off x="311700" y="1767300"/>
            <a:ext cx="8520599" cy="572699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r>
              <a:rPr lang="en-US" sz="30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30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0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30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0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				</a:t>
            </a:r>
            <a:endParaRPr sz="3000" b="1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33"/>
          <p:cNvSpPr/>
          <p:nvPr/>
        </p:nvSpPr>
        <p:spPr>
          <a:xfrm>
            <a:off x="1115616" y="1823794"/>
            <a:ext cx="72008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Clr>
                <a:schemeClr val="lt1"/>
              </a:buClr>
              <a:buSzPts val="4800"/>
            </a:pPr>
            <a:r>
              <a:rPr lang="en-US" sz="4800" b="1" dirty="0" smtClean="0">
                <a:solidFill>
                  <a:schemeClr val="bg1"/>
                </a:solidFill>
              </a:rPr>
              <a:t>Remote Code </a:t>
            </a:r>
            <a:r>
              <a:rPr lang="en-US" sz="4800" b="1" dirty="0">
                <a:solidFill>
                  <a:schemeClr val="bg1"/>
                </a:solidFill>
              </a:rPr>
              <a:t>Injection</a:t>
            </a:r>
            <a:endParaRPr sz="4800" b="1" i="0" u="none" strike="noStrike" cap="none" dirty="0">
              <a:solidFill>
                <a:schemeClr val="bg1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68429948"/>
      </p:ext>
    </p:extLst>
  </p:cSld>
  <p:clrMapOvr>
    <a:masterClrMapping/>
  </p:clrMapOvr>
  <p:transition spd="slow">
    <p:fade thruBlk="1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000" dirty="0"/>
              <a:t>Remote code injection is an attack where an opponent can get the server to include </a:t>
            </a:r>
            <a:r>
              <a:rPr lang="en-US" sz="2000" dirty="0" smtClean="0"/>
              <a:t>and execute </a:t>
            </a:r>
            <a:r>
              <a:rPr lang="en-US" sz="2000" dirty="0"/>
              <a:t>their code.</a:t>
            </a:r>
          </a:p>
        </p:txBody>
      </p:sp>
      <p:sp>
        <p:nvSpPr>
          <p:cNvPr id="203" name="Google Shape;203;p34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0071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4"/>
          <p:cNvSpPr txBox="1"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>
              <a:buClr>
                <a:srgbClr val="FFFFFF"/>
              </a:buClr>
              <a:buSzPts val="800"/>
            </a:pPr>
            <a:r>
              <a:rPr lang="en-US" sz="3200" b="1" dirty="0" smtClean="0">
                <a:solidFill>
                  <a:schemeClr val="bg1"/>
                </a:solidFill>
              </a:rPr>
              <a:t>Remote Code Injection</a:t>
            </a:r>
            <a:endParaRPr sz="3200" b="1" i="0" u="none" strike="noStrike" cap="none" dirty="0">
              <a:solidFill>
                <a:schemeClr val="bg1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68210835"/>
      </p:ext>
    </p:extLst>
  </p:cSld>
  <p:clrMapOvr>
    <a:masterClrMapping/>
  </p:clrMapOvr>
  <p:transition spd="slow">
    <p:fade thruBlk="1"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3"/>
          <p:cNvSpPr txBox="1">
            <a:spLocks noGrp="1"/>
          </p:cNvSpPr>
          <p:nvPr>
            <p:ph type="title"/>
          </p:nvPr>
        </p:nvSpPr>
        <p:spPr>
          <a:xfrm>
            <a:off x="311700" y="1767300"/>
            <a:ext cx="8520599" cy="572699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r>
              <a:rPr lang="en-US" sz="30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30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0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30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0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				</a:t>
            </a:r>
            <a:endParaRPr sz="3000" b="1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33"/>
          <p:cNvSpPr/>
          <p:nvPr/>
        </p:nvSpPr>
        <p:spPr>
          <a:xfrm>
            <a:off x="1115616" y="1823794"/>
            <a:ext cx="72008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Clr>
                <a:schemeClr val="lt1"/>
              </a:buClr>
              <a:buSzPts val="4800"/>
            </a:pPr>
            <a:r>
              <a:rPr lang="en-US" sz="4800" b="1" dirty="0" smtClean="0">
                <a:solidFill>
                  <a:schemeClr val="bg1"/>
                </a:solidFill>
              </a:rPr>
              <a:t>Email Injection</a:t>
            </a:r>
            <a:endParaRPr sz="4800" b="1" i="0" u="none" strike="noStrike" cap="none" dirty="0">
              <a:solidFill>
                <a:schemeClr val="bg1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94943440"/>
      </p:ext>
    </p:extLst>
  </p:cSld>
  <p:clrMapOvr>
    <a:masterClrMapping/>
  </p:clrMapOvr>
  <p:transition spd="slow">
    <p:fade thruBlk="1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600" dirty="0"/>
              <a:t>It is possible for users to supply hexadecimal control characters that allow them to </a:t>
            </a:r>
            <a:r>
              <a:rPr lang="en-US" sz="1600" dirty="0" smtClean="0"/>
              <a:t>change the </a:t>
            </a:r>
            <a:r>
              <a:rPr lang="en-US" sz="1600" dirty="0"/>
              <a:t>message body or recipient list.</a:t>
            </a:r>
          </a:p>
          <a:p>
            <a:r>
              <a:rPr lang="en-US" sz="1600" dirty="0"/>
              <a:t>For example, if your form allows the person to enter their e-mail address as a “from</a:t>
            </a:r>
            <a:r>
              <a:rPr lang="en-US" sz="1600" dirty="0" smtClean="0"/>
              <a:t>” field </a:t>
            </a:r>
            <a:r>
              <a:rPr lang="en-US" sz="1600" dirty="0"/>
              <a:t>for the e-mail, the following string will cause additional recipients to be included </a:t>
            </a:r>
            <a:r>
              <a:rPr lang="en-US" sz="1600" dirty="0" smtClean="0"/>
              <a:t>as cc </a:t>
            </a:r>
            <a:r>
              <a:rPr lang="en-US" sz="1600" dirty="0"/>
              <a:t>and blind carbon copy recipients of the message</a:t>
            </a:r>
            <a:r>
              <a:rPr lang="en-US" sz="1600" dirty="0" smtClean="0"/>
              <a:t>:</a:t>
            </a:r>
          </a:p>
          <a:p>
            <a:endParaRPr lang="en-US" sz="1600" dirty="0"/>
          </a:p>
          <a:p>
            <a:r>
              <a:rPr lang="en-US" sz="1600" dirty="0">
                <a:solidFill>
                  <a:schemeClr val="accent3">
                    <a:lumMod val="75000"/>
                  </a:schemeClr>
                </a:solidFill>
              </a:rPr>
              <a:t>sender@example.com%0ACc:target@email.com%0ABcc:anotherperson@emailexample.</a:t>
            </a:r>
          </a:p>
          <a:p>
            <a:r>
              <a:rPr lang="en-US" sz="1600" dirty="0" err="1" smtClean="0">
                <a:solidFill>
                  <a:schemeClr val="accent3">
                    <a:lumMod val="75000"/>
                  </a:schemeClr>
                </a:solidFill>
              </a:rPr>
              <a:t>com,stranger@shouldhavefiltered.com</a:t>
            </a:r>
            <a:endParaRPr lang="en-US" sz="1600" dirty="0" smtClean="0">
              <a:solidFill>
                <a:schemeClr val="accent3">
                  <a:lumMod val="75000"/>
                </a:schemeClr>
              </a:solidFill>
            </a:endParaRPr>
          </a:p>
          <a:p>
            <a:endParaRPr lang="en-US" sz="1600" dirty="0"/>
          </a:p>
          <a:p>
            <a:r>
              <a:rPr lang="en-US" sz="1600" dirty="0"/>
              <a:t>It is also possible for the attacker to provide their own body, and even to change</a:t>
            </a:r>
          </a:p>
          <a:p>
            <a:r>
              <a:rPr lang="en-US" sz="1600" dirty="0"/>
              <a:t>the MIME type of the message being sent. This means that your form could be used by</a:t>
            </a:r>
          </a:p>
          <a:p>
            <a:r>
              <a:rPr lang="en-US" sz="1600" dirty="0"/>
              <a:t>spammers to send mail.</a:t>
            </a:r>
          </a:p>
        </p:txBody>
      </p:sp>
      <p:sp>
        <p:nvSpPr>
          <p:cNvPr id="203" name="Google Shape;203;p34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0071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4"/>
          <p:cNvSpPr txBox="1"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>
              <a:buClr>
                <a:srgbClr val="FFFFFF"/>
              </a:buClr>
              <a:buSzPts val="800"/>
            </a:pPr>
            <a:r>
              <a:rPr lang="en-US" sz="3200" b="1" dirty="0" smtClean="0">
                <a:solidFill>
                  <a:schemeClr val="bg1"/>
                </a:solidFill>
              </a:rPr>
              <a:t>Email Injection</a:t>
            </a:r>
            <a:endParaRPr sz="3200" b="1" i="0" u="none" strike="noStrike" cap="none" dirty="0">
              <a:solidFill>
                <a:schemeClr val="bg1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23948544"/>
      </p:ext>
    </p:extLst>
  </p:cSld>
  <p:clrMapOvr>
    <a:masterClrMapping/>
  </p:clrMapOvr>
  <p:transition spd="slow">
    <p:fade thruBlk="1"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  <a:lumOff val="25000"/>
          </a:schemeClr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3"/>
          <p:cNvSpPr txBox="1">
            <a:spLocks noGrp="1"/>
          </p:cNvSpPr>
          <p:nvPr>
            <p:ph type="title"/>
          </p:nvPr>
        </p:nvSpPr>
        <p:spPr>
          <a:xfrm>
            <a:off x="311700" y="1767300"/>
            <a:ext cx="8520599" cy="572699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r>
              <a:rPr lang="en-US" sz="30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30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0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30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0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				</a:t>
            </a:r>
            <a:endParaRPr sz="3000" b="1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33"/>
          <p:cNvSpPr/>
          <p:nvPr/>
        </p:nvSpPr>
        <p:spPr>
          <a:xfrm>
            <a:off x="1115616" y="1823794"/>
            <a:ext cx="72008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Clr>
                <a:schemeClr val="lt1"/>
              </a:buClr>
              <a:buSzPts val="4800"/>
            </a:pPr>
            <a:r>
              <a:rPr lang="en-US" sz="4800" b="1" dirty="0" smtClean="0">
                <a:solidFill>
                  <a:schemeClr val="bg1"/>
                </a:solidFill>
              </a:rPr>
              <a:t>Filter Input</a:t>
            </a:r>
            <a:endParaRPr sz="4800" b="1" i="0" u="none" strike="noStrike" cap="none" dirty="0">
              <a:solidFill>
                <a:schemeClr val="bg1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5821039"/>
      </p:ext>
    </p:extLst>
  </p:cSld>
  <p:clrMapOvr>
    <a:masterClrMapping/>
  </p:clrMapOvr>
  <p:transition spd="slow">
    <p:fade thruBlk="1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000" dirty="0"/>
              <a:t>When approaching security, it is best to plan for the worst-case scenario and assume </a:t>
            </a:r>
            <a:r>
              <a:rPr lang="en-US" sz="2000" dirty="0" smtClean="0"/>
              <a:t>that all </a:t>
            </a:r>
            <a:r>
              <a:rPr lang="en-US" sz="2000" dirty="0"/>
              <a:t>input is tainted, and that all user behavior is malicious. You should only use input </a:t>
            </a:r>
            <a:r>
              <a:rPr lang="en-US" sz="2000" dirty="0" smtClean="0"/>
              <a:t>that you’ve </a:t>
            </a:r>
            <a:r>
              <a:rPr lang="en-US" sz="2000" dirty="0"/>
              <a:t>manually confirmed to be safe.</a:t>
            </a:r>
          </a:p>
          <a:p>
            <a:endParaRPr lang="en-US" sz="2000" dirty="0"/>
          </a:p>
        </p:txBody>
      </p:sp>
      <p:sp>
        <p:nvSpPr>
          <p:cNvPr id="203" name="Google Shape;203;p34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0071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4"/>
          <p:cNvSpPr txBox="1"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>
              <a:buClr>
                <a:srgbClr val="FFFFFF"/>
              </a:buClr>
              <a:buSzPts val="800"/>
            </a:pPr>
            <a:r>
              <a:rPr lang="en-US" sz="3200" b="1" dirty="0">
                <a:solidFill>
                  <a:schemeClr val="bg1"/>
                </a:solidFill>
              </a:rPr>
              <a:t>Filter Input</a:t>
            </a:r>
            <a:endParaRPr sz="3200" b="1" i="0" u="none" strike="noStrike" cap="none" dirty="0">
              <a:solidFill>
                <a:schemeClr val="bg1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61575120"/>
      </p:ext>
    </p:extLst>
  </p:cSld>
  <p:clrMapOvr>
    <a:masterClrMapping/>
  </p:clrMapOvr>
  <p:transition spd="slow">
    <p:fade thruBlk="1"/>
  </p:transition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000" dirty="0"/>
              <a:t>PHP has a very robust filtering function, </a:t>
            </a:r>
            <a:r>
              <a:rPr lang="en-US" sz="2000" dirty="0" err="1"/>
              <a:t>filter_var</a:t>
            </a:r>
            <a:r>
              <a:rPr lang="en-US" sz="2000" dirty="0"/>
              <a:t>(), which can be used </a:t>
            </a:r>
            <a:r>
              <a:rPr lang="en-US" sz="2000" dirty="0" smtClean="0"/>
              <a:t>to perform </a:t>
            </a:r>
            <a:r>
              <a:rPr lang="en-US" sz="2000" dirty="0"/>
              <a:t>a number of different filtering and sanitizing operations. You can find a list of </a:t>
            </a:r>
            <a:r>
              <a:rPr lang="en-US" sz="2000" dirty="0" smtClean="0"/>
              <a:t>the filters </a:t>
            </a:r>
            <a:r>
              <a:rPr lang="en-US" sz="2000" dirty="0"/>
              <a:t>in the PHP Manual</a:t>
            </a:r>
            <a:r>
              <a:rPr lang="en-US" sz="2000" dirty="0" smtClean="0"/>
              <a:t>.</a:t>
            </a:r>
          </a:p>
          <a:p>
            <a:endParaRPr lang="en-US" sz="2000" dirty="0"/>
          </a:p>
          <a:p>
            <a:r>
              <a:rPr lang="en-US" sz="2000" dirty="0">
                <a:hlinkClick r:id="rId3"/>
              </a:rPr>
              <a:t>http://</a:t>
            </a:r>
            <a:r>
              <a:rPr lang="en-US" sz="2000" dirty="0" smtClean="0">
                <a:hlinkClick r:id="rId3"/>
              </a:rPr>
              <a:t>php.net/manual/en/function.filter-var.php</a:t>
            </a:r>
            <a:endParaRPr lang="en-US" sz="2000" dirty="0" smtClean="0"/>
          </a:p>
          <a:p>
            <a:endParaRPr lang="en-US" sz="2000" dirty="0"/>
          </a:p>
        </p:txBody>
      </p:sp>
      <p:sp>
        <p:nvSpPr>
          <p:cNvPr id="203" name="Google Shape;203;p34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0071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4"/>
          <p:cNvSpPr txBox="1"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>
              <a:buClr>
                <a:srgbClr val="FFFFFF"/>
              </a:buClr>
              <a:buSzPts val="800"/>
            </a:pPr>
            <a:r>
              <a:rPr lang="en-US" sz="3200" b="1" dirty="0">
                <a:solidFill>
                  <a:schemeClr val="bg1"/>
                </a:solidFill>
              </a:rPr>
              <a:t>Filter Input</a:t>
            </a:r>
            <a:endParaRPr sz="3200" b="1" i="0" u="none" strike="noStrike" cap="none" dirty="0">
              <a:solidFill>
                <a:schemeClr val="bg1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02638818"/>
      </p:ext>
    </p:extLst>
  </p:cSld>
  <p:clrMapOvr>
    <a:masterClrMapping/>
  </p:clrMapOvr>
  <p:transition spd="slow">
    <p:fade thruBlk="1"/>
  </p:transition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000" dirty="0"/>
              <a:t>There are also several functions that can be used to check for individual types </a:t>
            </a:r>
            <a:r>
              <a:rPr lang="en-US" sz="2000" dirty="0" smtClean="0"/>
              <a:t>of strings</a:t>
            </a:r>
            <a:r>
              <a:rPr lang="en-US" sz="2000" dirty="0"/>
              <a:t>. They are locale-aware and so will take language characters into account. </a:t>
            </a:r>
            <a:r>
              <a:rPr lang="en-US" sz="2000" dirty="0" smtClean="0"/>
              <a:t>The functions </a:t>
            </a:r>
            <a:r>
              <a:rPr lang="en-US" sz="2000" dirty="0"/>
              <a:t>will return true if the string contains only characters in the filter and </a:t>
            </a:r>
            <a:r>
              <a:rPr lang="en-US" sz="2000" dirty="0" smtClean="0"/>
              <a:t>false otherwise.</a:t>
            </a:r>
          </a:p>
          <a:p>
            <a:endParaRPr lang="en-US" sz="2000" dirty="0" smtClean="0"/>
          </a:p>
          <a:p>
            <a:r>
              <a:rPr lang="en-US" sz="2000" dirty="0" err="1" smtClean="0"/>
              <a:t>ctype</a:t>
            </a:r>
            <a:r>
              <a:rPr lang="en-US" sz="2000" dirty="0"/>
              <a:t>_ functions </a:t>
            </a:r>
            <a:endParaRPr lang="en-US" sz="2000" dirty="0" smtClean="0"/>
          </a:p>
          <a:p>
            <a:r>
              <a:rPr lang="en-US" sz="2000" dirty="0" smtClean="0">
                <a:hlinkClick r:id="rId3"/>
              </a:rPr>
              <a:t>http</a:t>
            </a:r>
            <a:r>
              <a:rPr lang="en-US" sz="2000" dirty="0">
                <a:hlinkClick r:id="rId3"/>
              </a:rPr>
              <a:t>://</a:t>
            </a:r>
            <a:r>
              <a:rPr lang="en-US" sz="2000" dirty="0" smtClean="0">
                <a:hlinkClick r:id="rId3"/>
              </a:rPr>
              <a:t>php.net/manual/en/book.ctype.php</a:t>
            </a:r>
            <a:endParaRPr lang="en-US" sz="2000" dirty="0" smtClean="0"/>
          </a:p>
          <a:p>
            <a:endParaRPr lang="en-US" sz="2000" dirty="0"/>
          </a:p>
        </p:txBody>
      </p:sp>
      <p:sp>
        <p:nvSpPr>
          <p:cNvPr id="203" name="Google Shape;203;p34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0071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4"/>
          <p:cNvSpPr txBox="1"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>
              <a:buClr>
                <a:srgbClr val="FFFFFF"/>
              </a:buClr>
              <a:buSzPts val="800"/>
            </a:pPr>
            <a:r>
              <a:rPr lang="en-US" sz="3200" b="1" dirty="0">
                <a:solidFill>
                  <a:schemeClr val="bg1"/>
                </a:solidFill>
              </a:rPr>
              <a:t>Filter Input</a:t>
            </a:r>
            <a:endParaRPr sz="3200" b="1" i="0" u="none" strike="noStrike" cap="none" dirty="0">
              <a:solidFill>
                <a:schemeClr val="bg1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89236243"/>
      </p:ext>
    </p:extLst>
  </p:cSld>
  <p:clrMapOvr>
    <a:masterClrMapping/>
  </p:clrMapOvr>
  <p:transition spd="slow">
    <p:fade thruBlk="1"/>
  </p:transition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US" sz="2000" dirty="0"/>
          </a:p>
          <a:p>
            <a:r>
              <a:rPr lang="en-US" sz="2000" dirty="0"/>
              <a:t>It is common to perform filtering on the client side, for example using JavaScript in </a:t>
            </a:r>
            <a:r>
              <a:rPr lang="en-US" sz="2000" dirty="0" smtClean="0"/>
              <a:t>the browser</a:t>
            </a:r>
            <a:r>
              <a:rPr lang="en-US" sz="2000" dirty="0"/>
              <a:t>. This is not sufficient and you must filter and validate on the server side as well.</a:t>
            </a:r>
          </a:p>
        </p:txBody>
      </p:sp>
      <p:sp>
        <p:nvSpPr>
          <p:cNvPr id="203" name="Google Shape;203;p34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0071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4"/>
          <p:cNvSpPr txBox="1"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>
              <a:buClr>
                <a:srgbClr val="FFFFFF"/>
              </a:buClr>
              <a:buSzPts val="800"/>
            </a:pPr>
            <a:r>
              <a:rPr lang="en-US" sz="3200" b="1" dirty="0">
                <a:solidFill>
                  <a:schemeClr val="bg1"/>
                </a:solidFill>
              </a:rPr>
              <a:t>Filter Input</a:t>
            </a:r>
            <a:endParaRPr sz="3200" b="1" i="0" u="none" strike="noStrike" cap="none" dirty="0">
              <a:solidFill>
                <a:schemeClr val="bg1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55475473"/>
      </p:ext>
    </p:extLst>
  </p:cSld>
  <p:clrMapOvr>
    <a:masterClrMapping/>
  </p:clrMapOvr>
  <p:transition spd="slow">
    <p:fade thruBlk="1"/>
  </p:transition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5C8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3"/>
          <p:cNvSpPr txBox="1">
            <a:spLocks noGrp="1"/>
          </p:cNvSpPr>
          <p:nvPr>
            <p:ph type="title"/>
          </p:nvPr>
        </p:nvSpPr>
        <p:spPr>
          <a:xfrm>
            <a:off x="311700" y="1767300"/>
            <a:ext cx="8520599" cy="572699"/>
          </a:xfrm>
          <a:prstGeom prst="rect">
            <a:avLst/>
          </a:prstGeom>
          <a:solidFill>
            <a:srgbClr val="00B5C8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r>
              <a:rPr lang="en-US" sz="30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30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0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30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0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				</a:t>
            </a:r>
            <a:endParaRPr sz="3000" b="1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33"/>
          <p:cNvSpPr/>
          <p:nvPr/>
        </p:nvSpPr>
        <p:spPr>
          <a:xfrm>
            <a:off x="1115616" y="1823794"/>
            <a:ext cx="72008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Clr>
                <a:schemeClr val="lt1"/>
              </a:buClr>
              <a:buSzPts val="4800"/>
            </a:pPr>
            <a:r>
              <a:rPr lang="en-US" sz="4800" b="1" dirty="0" smtClean="0">
                <a:solidFill>
                  <a:schemeClr val="bg1"/>
                </a:solidFill>
              </a:rPr>
              <a:t>Escape output</a:t>
            </a:r>
            <a:endParaRPr sz="4800" b="1" i="0" u="none" strike="noStrike" cap="none" dirty="0">
              <a:solidFill>
                <a:schemeClr val="bg1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7293482"/>
      </p:ext>
    </p:extLst>
  </p:cSld>
  <p:clrMapOvr>
    <a:masterClrMapping/>
  </p:clrMapOvr>
  <p:transition spd="slow">
    <p:fade thruBlk="1"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000" dirty="0"/>
              <a:t>Before you emit data, you must make sure that </a:t>
            </a:r>
            <a:r>
              <a:rPr lang="en-US" sz="2000" b="1" dirty="0">
                <a:solidFill>
                  <a:srgbClr val="00B0F0"/>
                </a:solidFill>
              </a:rPr>
              <a:t>it is safe for </a:t>
            </a:r>
            <a:r>
              <a:rPr lang="en-US" sz="2000" dirty="0"/>
              <a:t>the client. Recall how </a:t>
            </a:r>
            <a:r>
              <a:rPr lang="en-US" sz="2000" dirty="0" smtClean="0"/>
              <a:t>XSS attacks </a:t>
            </a:r>
            <a:r>
              <a:rPr lang="en-US" sz="2000" dirty="0"/>
              <a:t>work as an example of why you need to make sure that what you send to the </a:t>
            </a:r>
            <a:r>
              <a:rPr lang="en-US" sz="2000" dirty="0" smtClean="0"/>
              <a:t>client is </a:t>
            </a:r>
            <a:r>
              <a:rPr lang="en-US" sz="2000" dirty="0"/>
              <a:t>properly sanitized.</a:t>
            </a:r>
          </a:p>
          <a:p>
            <a:endParaRPr lang="en-US" sz="2000" dirty="0" smtClean="0"/>
          </a:p>
          <a:p>
            <a:r>
              <a:rPr lang="en-US" sz="2000" dirty="0" smtClean="0"/>
              <a:t>If </a:t>
            </a:r>
            <a:r>
              <a:rPr lang="en-US" sz="2000" dirty="0"/>
              <a:t>the data you send to a client includes </a:t>
            </a:r>
            <a:r>
              <a:rPr lang="en-US" sz="2000" u="sng" dirty="0"/>
              <a:t>instructions for it to execute code</a:t>
            </a:r>
            <a:r>
              <a:rPr lang="en-US" sz="2000" dirty="0"/>
              <a:t>, then it </a:t>
            </a:r>
            <a:r>
              <a:rPr lang="en-US" sz="2000" dirty="0" smtClean="0"/>
              <a:t>will do </a:t>
            </a:r>
            <a:r>
              <a:rPr lang="en-US" sz="2000" dirty="0"/>
              <a:t>so blindly. You must make sure that you send only code you intend for the client </a:t>
            </a:r>
            <a:r>
              <a:rPr lang="en-US" sz="2000" dirty="0" smtClean="0"/>
              <a:t>to execute</a:t>
            </a:r>
            <a:r>
              <a:rPr lang="en-US" sz="2000" dirty="0"/>
              <a:t>, and </a:t>
            </a:r>
            <a:r>
              <a:rPr lang="en-US" sz="2000" u="sng" dirty="0"/>
              <a:t>not code injected </a:t>
            </a:r>
            <a:r>
              <a:rPr lang="en-US" sz="2000" dirty="0"/>
              <a:t>by an attacker.</a:t>
            </a:r>
          </a:p>
        </p:txBody>
      </p:sp>
      <p:sp>
        <p:nvSpPr>
          <p:cNvPr id="203" name="Google Shape;203;p34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0071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4"/>
          <p:cNvSpPr txBox="1"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00B5C8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>
              <a:buClr>
                <a:srgbClr val="FFFFFF"/>
              </a:buClr>
              <a:buSzPts val="800"/>
            </a:pPr>
            <a:r>
              <a:rPr lang="en-US" sz="3200" b="1" dirty="0" smtClean="0">
                <a:solidFill>
                  <a:schemeClr val="bg1"/>
                </a:solidFill>
              </a:rPr>
              <a:t>Escape Output</a:t>
            </a:r>
            <a:endParaRPr sz="3200" b="1" i="0" u="none" strike="noStrike" cap="none" dirty="0">
              <a:solidFill>
                <a:schemeClr val="bg1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94786930"/>
      </p:ext>
    </p:extLst>
  </p:cSld>
  <p:clrMapOvr>
    <a:masterClrMapping/>
  </p:clrMapOvr>
  <p:transition spd="slow">
    <p:fade thruBlk="1"/>
  </p:transition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000" dirty="0"/>
              <a:t>The most secure way to filter output is using </a:t>
            </a:r>
            <a:r>
              <a:rPr lang="en-US" sz="2000" b="1" dirty="0" err="1">
                <a:solidFill>
                  <a:srgbClr val="00B0F0"/>
                </a:solidFill>
              </a:rPr>
              <a:t>filter_var</a:t>
            </a:r>
            <a:r>
              <a:rPr lang="en-US" sz="2000" b="1" dirty="0">
                <a:solidFill>
                  <a:srgbClr val="00B0F0"/>
                </a:solidFill>
              </a:rPr>
              <a:t>() </a:t>
            </a:r>
            <a:r>
              <a:rPr lang="en-US" sz="2000" dirty="0"/>
              <a:t>with the </a:t>
            </a:r>
            <a:r>
              <a:rPr lang="en-US" sz="2000" dirty="0" smtClean="0"/>
              <a:t>FILTER_SANITIZE_STRING </a:t>
            </a:r>
            <a:r>
              <a:rPr lang="en-US" sz="2000" dirty="0"/>
              <a:t>flag. </a:t>
            </a:r>
            <a:endParaRPr lang="en-US" sz="2000" dirty="0" smtClean="0"/>
          </a:p>
          <a:p>
            <a:r>
              <a:rPr lang="en-US" sz="2000" dirty="0">
                <a:hlinkClick r:id="rId3"/>
              </a:rPr>
              <a:t>https://</a:t>
            </a:r>
            <a:r>
              <a:rPr lang="en-US" sz="2000" dirty="0" smtClean="0">
                <a:hlinkClick r:id="rId3"/>
              </a:rPr>
              <a:t>www.w3schools.com/php/func_filter_var.asp</a:t>
            </a:r>
            <a:endParaRPr lang="en-US" sz="2000" dirty="0" smtClean="0"/>
          </a:p>
          <a:p>
            <a:endParaRPr lang="en-US" sz="2000" dirty="0"/>
          </a:p>
          <a:p>
            <a:r>
              <a:rPr lang="en-US" sz="2000" dirty="0" smtClean="0"/>
              <a:t>There </a:t>
            </a:r>
            <a:r>
              <a:rPr lang="en-US" sz="2000" dirty="0"/>
              <a:t>might be use-cases where this is too restrictive for you, </a:t>
            </a:r>
            <a:r>
              <a:rPr lang="en-US" sz="2000" dirty="0" smtClean="0"/>
              <a:t>in which </a:t>
            </a:r>
            <a:r>
              <a:rPr lang="en-US" sz="2000" dirty="0"/>
              <a:t>case you will need to look at functions like </a:t>
            </a:r>
            <a:r>
              <a:rPr lang="en-US" sz="2000" b="1" dirty="0" err="1">
                <a:solidFill>
                  <a:srgbClr val="00B0F0"/>
                </a:solidFill>
              </a:rPr>
              <a:t>htmlspecialchars</a:t>
            </a:r>
            <a:r>
              <a:rPr lang="en-US" sz="2000" b="1" dirty="0">
                <a:solidFill>
                  <a:srgbClr val="00B0F0"/>
                </a:solidFill>
              </a:rPr>
              <a:t>(), </a:t>
            </a:r>
            <a:r>
              <a:rPr lang="en-US" sz="2000" b="1" dirty="0" err="1">
                <a:solidFill>
                  <a:srgbClr val="00B0F0"/>
                </a:solidFill>
              </a:rPr>
              <a:t>strip_tags</a:t>
            </a:r>
            <a:r>
              <a:rPr lang="en-US" sz="2000" b="1" dirty="0" smtClean="0">
                <a:solidFill>
                  <a:srgbClr val="00B0F0"/>
                </a:solidFill>
              </a:rPr>
              <a:t>(), and </a:t>
            </a:r>
            <a:r>
              <a:rPr lang="en-US" sz="2000" b="1" dirty="0" err="1">
                <a:solidFill>
                  <a:srgbClr val="00B0F0"/>
                </a:solidFill>
              </a:rPr>
              <a:t>htmlentities</a:t>
            </a:r>
            <a:r>
              <a:rPr lang="en-US" sz="2000" b="1" dirty="0">
                <a:solidFill>
                  <a:srgbClr val="00B0F0"/>
                </a:solidFill>
              </a:rPr>
              <a:t>()</a:t>
            </a:r>
            <a:r>
              <a:rPr lang="en-US" sz="2000" dirty="0"/>
              <a:t>.</a:t>
            </a:r>
          </a:p>
        </p:txBody>
      </p:sp>
      <p:sp>
        <p:nvSpPr>
          <p:cNvPr id="203" name="Google Shape;203;p34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0071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4"/>
          <p:cNvSpPr txBox="1"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00B5C8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>
              <a:buClr>
                <a:srgbClr val="FFFFFF"/>
              </a:buClr>
              <a:buSzPts val="800"/>
            </a:pPr>
            <a:r>
              <a:rPr lang="en-US" sz="3200" b="1" dirty="0" smtClean="0">
                <a:solidFill>
                  <a:schemeClr val="bg1"/>
                </a:solidFill>
              </a:rPr>
              <a:t>Escape Output</a:t>
            </a:r>
            <a:endParaRPr sz="3200" b="1" i="0" u="none" strike="noStrike" cap="none" dirty="0">
              <a:solidFill>
                <a:schemeClr val="bg1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60159431"/>
      </p:ext>
    </p:extLst>
  </p:cSld>
  <p:clrMapOvr>
    <a:masterClrMapping/>
  </p:clrMapOvr>
  <p:transition spd="slow">
    <p:fade thruBlk="1"/>
  </p:transition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000" b="1" dirty="0" err="1">
                <a:solidFill>
                  <a:srgbClr val="00B0F0"/>
                </a:solidFill>
              </a:rPr>
              <a:t>htmlentities</a:t>
            </a:r>
            <a:r>
              <a:rPr lang="en-US" sz="2000" b="1" dirty="0">
                <a:solidFill>
                  <a:srgbClr val="00B0F0"/>
                </a:solidFill>
              </a:rPr>
              <a:t>() </a:t>
            </a:r>
            <a:r>
              <a:rPr lang="en-US" sz="2000" dirty="0"/>
              <a:t>will encode anything that has an HTML entity</a:t>
            </a:r>
          </a:p>
          <a:p>
            <a:r>
              <a:rPr lang="en-US" sz="2000" dirty="0"/>
              <a:t>representation, </a:t>
            </a:r>
            <a:endParaRPr lang="en-US" sz="2000" dirty="0" smtClean="0"/>
          </a:p>
          <a:p>
            <a:r>
              <a:rPr lang="en-US" sz="2000" dirty="0">
                <a:hlinkClick r:id="rId3"/>
              </a:rPr>
              <a:t>https://</a:t>
            </a:r>
            <a:r>
              <a:rPr lang="en-US" sz="2000" dirty="0" smtClean="0">
                <a:hlinkClick r:id="rId3"/>
              </a:rPr>
              <a:t>www.w3schools.com/html/html_entities.asp</a:t>
            </a:r>
            <a:endParaRPr lang="en-US" sz="2000" dirty="0" smtClean="0"/>
          </a:p>
          <a:p>
            <a:endParaRPr lang="en-US" sz="2000" dirty="0" smtClean="0"/>
          </a:p>
          <a:p>
            <a:r>
              <a:rPr lang="en-US" sz="2000" dirty="0" smtClean="0"/>
              <a:t>whereas </a:t>
            </a:r>
            <a:r>
              <a:rPr lang="en-US" sz="2000" b="1" dirty="0" err="1">
                <a:solidFill>
                  <a:srgbClr val="00B0F0"/>
                </a:solidFill>
              </a:rPr>
              <a:t>htmlspecialchars</a:t>
            </a:r>
            <a:r>
              <a:rPr lang="en-US" sz="2000" b="1" dirty="0">
                <a:solidFill>
                  <a:srgbClr val="00B0F0"/>
                </a:solidFill>
              </a:rPr>
              <a:t>() </a:t>
            </a:r>
            <a:r>
              <a:rPr lang="en-US" sz="2000" dirty="0"/>
              <a:t>will only encode characters that have</a:t>
            </a:r>
          </a:p>
          <a:p>
            <a:r>
              <a:rPr lang="en-US" sz="2000" dirty="0"/>
              <a:t>special significance in HTML.</a:t>
            </a:r>
          </a:p>
        </p:txBody>
      </p:sp>
      <p:sp>
        <p:nvSpPr>
          <p:cNvPr id="203" name="Google Shape;203;p34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0071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4"/>
          <p:cNvSpPr txBox="1"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00B5C8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>
              <a:buClr>
                <a:srgbClr val="FFFFFF"/>
              </a:buClr>
              <a:buSzPts val="800"/>
            </a:pPr>
            <a:r>
              <a:rPr lang="en-US" sz="3200" b="1" dirty="0" smtClean="0">
                <a:solidFill>
                  <a:schemeClr val="bg1"/>
                </a:solidFill>
              </a:rPr>
              <a:t>Escape Output</a:t>
            </a:r>
            <a:endParaRPr sz="3200" b="1" i="0" u="none" strike="noStrike" cap="none" dirty="0">
              <a:solidFill>
                <a:schemeClr val="bg1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971719"/>
      </p:ext>
    </p:extLst>
  </p:cSld>
  <p:clrMapOvr>
    <a:masterClrMapping/>
  </p:clrMapOvr>
  <p:transition spd="slow">
    <p:fade thruBlk="1"/>
  </p:transition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000" dirty="0"/>
              <a:t>&lt;?</a:t>
            </a:r>
            <a:r>
              <a:rPr lang="en-US" sz="2000" dirty="0" err="1"/>
              <a:t>php</a:t>
            </a:r>
            <a:endParaRPr lang="en-US" sz="2000" dirty="0"/>
          </a:p>
          <a:p>
            <a:r>
              <a:rPr lang="en-US" sz="2000" dirty="0"/>
              <a:t>$string = '© 1982 Sinclair Research Ltd.';</a:t>
            </a:r>
          </a:p>
          <a:p>
            <a:r>
              <a:rPr lang="en-US" sz="2000" dirty="0"/>
              <a:t>echo </a:t>
            </a:r>
            <a:r>
              <a:rPr lang="en-US" sz="2000" dirty="0" err="1"/>
              <a:t>htmlentities</a:t>
            </a:r>
            <a:r>
              <a:rPr lang="en-US" sz="2000" dirty="0"/>
              <a:t>($string); // &amp;copy; 1982 Sinclair Research Ltd.</a:t>
            </a:r>
          </a:p>
          <a:p>
            <a:r>
              <a:rPr lang="en-US" sz="2000" dirty="0"/>
              <a:t>echo PHP_EOL;</a:t>
            </a:r>
          </a:p>
          <a:p>
            <a:r>
              <a:rPr lang="en-US" sz="2000" dirty="0"/>
              <a:t>echo </a:t>
            </a:r>
            <a:r>
              <a:rPr lang="en-US" sz="2000" dirty="0" err="1"/>
              <a:t>htmlspecialchars</a:t>
            </a:r>
            <a:r>
              <a:rPr lang="en-US" sz="2000" dirty="0"/>
              <a:t>($string); // © 1982 Sinclair Research Ltd.</a:t>
            </a:r>
          </a:p>
        </p:txBody>
      </p:sp>
      <p:sp>
        <p:nvSpPr>
          <p:cNvPr id="203" name="Google Shape;203;p34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0071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4"/>
          <p:cNvSpPr txBox="1"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00B5C8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>
              <a:buClr>
                <a:srgbClr val="FFFFFF"/>
              </a:buClr>
              <a:buSzPts val="800"/>
            </a:pPr>
            <a:r>
              <a:rPr lang="en-US" sz="3200" b="1" dirty="0" smtClean="0">
                <a:solidFill>
                  <a:schemeClr val="bg1"/>
                </a:solidFill>
              </a:rPr>
              <a:t>Escape Output</a:t>
            </a:r>
            <a:endParaRPr sz="3200" b="1" i="0" u="none" strike="noStrike" cap="none" dirty="0">
              <a:solidFill>
                <a:schemeClr val="bg1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35556424"/>
      </p:ext>
    </p:extLst>
  </p:cSld>
  <p:clrMapOvr>
    <a:masterClrMapping/>
  </p:clrMapOvr>
  <p:transition spd="slow">
    <p:fade thruBlk="1"/>
  </p:transition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000" dirty="0"/>
              <a:t>This table shows the characters that will be converted by </a:t>
            </a:r>
            <a:r>
              <a:rPr lang="en-US" sz="2000" dirty="0" err="1"/>
              <a:t>htmlspecialchars</a:t>
            </a:r>
            <a:r>
              <a:rPr lang="en-US" sz="2000" dirty="0"/>
              <a:t>().</a:t>
            </a:r>
          </a:p>
          <a:p>
            <a:r>
              <a:rPr lang="en-US" sz="2000" b="1" dirty="0"/>
              <a:t>Character </a:t>
            </a:r>
            <a:r>
              <a:rPr lang="en-US" sz="2000" b="1" dirty="0" smtClean="0"/>
              <a:t>		Becomes</a:t>
            </a:r>
            <a:endParaRPr lang="en-US" sz="2000" b="1" dirty="0"/>
          </a:p>
          <a:p>
            <a:r>
              <a:rPr lang="en-US" sz="2000" dirty="0"/>
              <a:t>&amp; (Ampersand) </a:t>
            </a:r>
            <a:r>
              <a:rPr lang="en-US" sz="2000" dirty="0" smtClean="0"/>
              <a:t>	&amp;</a:t>
            </a:r>
            <a:r>
              <a:rPr lang="en-US" sz="2000" dirty="0"/>
              <a:t>amp;</a:t>
            </a:r>
          </a:p>
          <a:p>
            <a:r>
              <a:rPr lang="en-US" sz="2000" dirty="0"/>
              <a:t>" </a:t>
            </a:r>
            <a:r>
              <a:rPr lang="en-US" sz="2000" dirty="0" smtClean="0"/>
              <a:t>(</a:t>
            </a:r>
            <a:r>
              <a:rPr lang="en-US" sz="2000" dirty="0"/>
              <a:t>Double quote) </a:t>
            </a:r>
            <a:r>
              <a:rPr lang="en-US" sz="2000" dirty="0" smtClean="0"/>
              <a:t>	&amp;</a:t>
            </a:r>
            <a:r>
              <a:rPr lang="en-US" sz="2000" dirty="0" err="1"/>
              <a:t>quot</a:t>
            </a:r>
            <a:r>
              <a:rPr lang="en-US" sz="2000" dirty="0"/>
              <a:t>;</a:t>
            </a:r>
          </a:p>
          <a:p>
            <a:r>
              <a:rPr lang="en-US" sz="2000" dirty="0"/>
              <a:t>' (Single quote) </a:t>
            </a:r>
            <a:r>
              <a:rPr lang="en-US" sz="2000" dirty="0" smtClean="0"/>
              <a:t>	&amp;#</a:t>
            </a:r>
            <a:r>
              <a:rPr lang="en-US" sz="2000" dirty="0"/>
              <a:t>039;</a:t>
            </a:r>
          </a:p>
          <a:p>
            <a:r>
              <a:rPr lang="en-US" sz="2000" dirty="0"/>
              <a:t>&lt; (Less than) </a:t>
            </a:r>
            <a:r>
              <a:rPr lang="en-US" sz="2000" dirty="0" smtClean="0"/>
              <a:t>		&amp;</a:t>
            </a:r>
            <a:r>
              <a:rPr lang="en-US" sz="2000" dirty="0" err="1"/>
              <a:t>lt</a:t>
            </a:r>
            <a:r>
              <a:rPr lang="en-US" sz="2000" dirty="0"/>
              <a:t>;</a:t>
            </a:r>
          </a:p>
          <a:p>
            <a:r>
              <a:rPr lang="en-US" sz="2000" dirty="0"/>
              <a:t>&gt; (Greater than) </a:t>
            </a:r>
            <a:r>
              <a:rPr lang="en-US" sz="2000" dirty="0" smtClean="0"/>
              <a:t>	&amp;</a:t>
            </a:r>
            <a:r>
              <a:rPr lang="en-US" sz="2000" dirty="0" err="1"/>
              <a:t>gt</a:t>
            </a:r>
            <a:r>
              <a:rPr lang="en-US" sz="2000" dirty="0"/>
              <a:t>;</a:t>
            </a:r>
          </a:p>
        </p:txBody>
      </p:sp>
      <p:sp>
        <p:nvSpPr>
          <p:cNvPr id="203" name="Google Shape;203;p34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0071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4"/>
          <p:cNvSpPr txBox="1"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00B5C8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>
              <a:buClr>
                <a:srgbClr val="FFFFFF"/>
              </a:buClr>
              <a:buSzPts val="800"/>
            </a:pPr>
            <a:r>
              <a:rPr lang="en-US" sz="3200" b="1" dirty="0" smtClean="0">
                <a:solidFill>
                  <a:schemeClr val="bg1"/>
                </a:solidFill>
              </a:rPr>
              <a:t>Escape Output</a:t>
            </a:r>
            <a:endParaRPr sz="3200" b="1" i="0" u="none" strike="noStrike" cap="none" dirty="0">
              <a:solidFill>
                <a:schemeClr val="bg1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69163859"/>
      </p:ext>
    </p:extLst>
  </p:cSld>
  <p:clrMapOvr>
    <a:masterClrMapping/>
  </p:clrMapOvr>
  <p:transition spd="slow">
    <p:fade thruBlk="1"/>
  </p:transition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000" dirty="0"/>
              <a:t>Both functions take a flag as their second parameter. </a:t>
            </a:r>
            <a:endParaRPr lang="en-US" sz="2000" dirty="0" smtClean="0"/>
          </a:p>
          <a:p>
            <a:r>
              <a:rPr lang="en-US" sz="2000" dirty="0" smtClean="0"/>
              <a:t>You </a:t>
            </a:r>
            <a:r>
              <a:rPr lang="en-US" sz="2000" dirty="0"/>
              <a:t>should make sure </a:t>
            </a:r>
            <a:r>
              <a:rPr lang="en-US" sz="2000" dirty="0" smtClean="0"/>
              <a:t>that you </a:t>
            </a:r>
            <a:r>
              <a:rPr lang="en-US" sz="2000" dirty="0"/>
              <a:t>know at least these three flags as they are important for escaping JavaScript </a:t>
            </a:r>
            <a:r>
              <a:rPr lang="en-US" sz="2000" dirty="0" smtClean="0"/>
              <a:t>you’re outputting</a:t>
            </a:r>
            <a:r>
              <a:rPr lang="en-US" sz="2000" dirty="0"/>
              <a:t>:</a:t>
            </a:r>
          </a:p>
          <a:p>
            <a:r>
              <a:rPr lang="en-US" sz="2000" b="1" dirty="0"/>
              <a:t>Flag </a:t>
            </a:r>
            <a:r>
              <a:rPr lang="en-US" sz="2000" b="1" dirty="0" smtClean="0"/>
              <a:t>			Description</a:t>
            </a:r>
            <a:endParaRPr lang="en-US" sz="2000" b="1" dirty="0"/>
          </a:p>
          <a:p>
            <a:r>
              <a:rPr lang="fr-FR" sz="2000" dirty="0"/>
              <a:t>ENT_COMPAT </a:t>
            </a:r>
            <a:r>
              <a:rPr lang="fr-FR" sz="2000" dirty="0" smtClean="0"/>
              <a:t>	Converts </a:t>
            </a:r>
            <a:r>
              <a:rPr lang="fr-FR" sz="2000" dirty="0"/>
              <a:t>double quotes, not single quotes</a:t>
            </a:r>
          </a:p>
          <a:p>
            <a:r>
              <a:rPr lang="fr-FR" sz="2000" dirty="0"/>
              <a:t>ENT_QUOTES </a:t>
            </a:r>
            <a:r>
              <a:rPr lang="fr-FR" sz="2000" dirty="0" smtClean="0"/>
              <a:t>	Converts </a:t>
            </a:r>
            <a:r>
              <a:rPr lang="fr-FR" sz="2000" dirty="0"/>
              <a:t>double quotes and single quotes</a:t>
            </a:r>
          </a:p>
          <a:p>
            <a:r>
              <a:rPr lang="en-US" sz="2000" dirty="0"/>
              <a:t>ENT_NOQUOTES </a:t>
            </a:r>
            <a:r>
              <a:rPr lang="en-US" sz="2000" dirty="0" smtClean="0"/>
              <a:t>	Does </a:t>
            </a:r>
            <a:r>
              <a:rPr lang="en-US" sz="2000" dirty="0"/>
              <a:t>not convert any quotes</a:t>
            </a:r>
          </a:p>
        </p:txBody>
      </p:sp>
      <p:sp>
        <p:nvSpPr>
          <p:cNvPr id="203" name="Google Shape;203;p34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0071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4"/>
          <p:cNvSpPr txBox="1"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00B5C8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>
              <a:buClr>
                <a:srgbClr val="FFFFFF"/>
              </a:buClr>
              <a:buSzPts val="800"/>
            </a:pPr>
            <a:r>
              <a:rPr lang="en-US" sz="3200" b="1" dirty="0" smtClean="0">
                <a:solidFill>
                  <a:schemeClr val="bg1"/>
                </a:solidFill>
              </a:rPr>
              <a:t>Escape Output</a:t>
            </a:r>
            <a:endParaRPr sz="3200" b="1" i="0" u="none" strike="noStrike" cap="none" dirty="0">
              <a:solidFill>
                <a:schemeClr val="bg1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54015755"/>
      </p:ext>
    </p:extLst>
  </p:cSld>
  <p:clrMapOvr>
    <a:masterClrMapping/>
  </p:clrMapOvr>
  <p:transition spd="slow">
    <p:fade thruBlk="1"/>
  </p:transition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000" dirty="0"/>
              <a:t>When escaping a JavaScript string, you should use the </a:t>
            </a:r>
            <a:endParaRPr lang="en-US" sz="2000" dirty="0" smtClean="0"/>
          </a:p>
          <a:p>
            <a:endParaRPr lang="en-US" sz="2000" dirty="0"/>
          </a:p>
          <a:p>
            <a:r>
              <a:rPr lang="en-US" sz="2000" dirty="0" smtClean="0"/>
              <a:t>ENT_QUOTES </a:t>
            </a:r>
          </a:p>
          <a:p>
            <a:endParaRPr lang="en-US" sz="2000" dirty="0"/>
          </a:p>
          <a:p>
            <a:r>
              <a:rPr lang="en-US" sz="2000" dirty="0" smtClean="0"/>
              <a:t>flag</a:t>
            </a:r>
            <a:r>
              <a:rPr lang="en-US" sz="2000" dirty="0"/>
              <a:t>.</a:t>
            </a:r>
          </a:p>
        </p:txBody>
      </p:sp>
      <p:sp>
        <p:nvSpPr>
          <p:cNvPr id="203" name="Google Shape;203;p34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0071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4"/>
          <p:cNvSpPr txBox="1"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00B5C8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>
              <a:buClr>
                <a:srgbClr val="FFFFFF"/>
              </a:buClr>
              <a:buSzPts val="800"/>
            </a:pPr>
            <a:r>
              <a:rPr lang="en-US" sz="3200" b="1" dirty="0" smtClean="0">
                <a:solidFill>
                  <a:schemeClr val="bg1"/>
                </a:solidFill>
              </a:rPr>
              <a:t>Escape Output</a:t>
            </a:r>
            <a:endParaRPr sz="3200" b="1" i="0" u="none" strike="noStrike" cap="none" dirty="0">
              <a:solidFill>
                <a:schemeClr val="bg1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22078515"/>
      </p:ext>
    </p:extLst>
  </p:cSld>
  <p:clrMapOvr>
    <a:masterClrMapping/>
  </p:clrMapOvr>
  <p:transition spd="slow">
    <p:fade thruBlk="1"/>
  </p:transition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1334E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3"/>
          <p:cNvSpPr txBox="1">
            <a:spLocks noGrp="1"/>
          </p:cNvSpPr>
          <p:nvPr>
            <p:ph type="title"/>
          </p:nvPr>
        </p:nvSpPr>
        <p:spPr>
          <a:xfrm>
            <a:off x="311700" y="1767300"/>
            <a:ext cx="8520599" cy="572699"/>
          </a:xfrm>
          <a:prstGeom prst="rect">
            <a:avLst/>
          </a:prstGeom>
          <a:solidFill>
            <a:srgbClr val="91334E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r>
              <a:rPr lang="en-US" sz="30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30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0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30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0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				</a:t>
            </a:r>
            <a:endParaRPr sz="3000" b="1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33"/>
          <p:cNvSpPr/>
          <p:nvPr/>
        </p:nvSpPr>
        <p:spPr>
          <a:xfrm>
            <a:off x="1115616" y="1823794"/>
            <a:ext cx="72008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Clr>
                <a:schemeClr val="lt1"/>
              </a:buClr>
              <a:buSzPts val="4800"/>
            </a:pPr>
            <a:r>
              <a:rPr lang="en-US" sz="4800" b="1" dirty="0">
                <a:solidFill>
                  <a:schemeClr val="bg1"/>
                </a:solidFill>
              </a:rPr>
              <a:t>Encryption and Hashing Algorithms</a:t>
            </a:r>
            <a:endParaRPr sz="4800" b="1" i="0" u="none" strike="noStrike" cap="none" dirty="0">
              <a:solidFill>
                <a:schemeClr val="bg1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87476353"/>
      </p:ext>
    </p:extLst>
  </p:cSld>
  <p:clrMapOvr>
    <a:masterClrMapping/>
  </p:clrMapOvr>
  <p:transition spd="slow">
    <p:fade thruBlk="1"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000" b="1" dirty="0">
                <a:solidFill>
                  <a:srgbClr val="91334E"/>
                </a:solidFill>
              </a:rPr>
              <a:t>Encryption</a:t>
            </a:r>
            <a:r>
              <a:rPr lang="en-US" sz="2000" dirty="0"/>
              <a:t> is a two-way operation; you can encrypt and decrypt. </a:t>
            </a:r>
            <a:endParaRPr lang="en-US" sz="2000" dirty="0" smtClean="0"/>
          </a:p>
          <a:p>
            <a:endParaRPr lang="en-US" sz="2000" dirty="0"/>
          </a:p>
          <a:p>
            <a:r>
              <a:rPr lang="en-US" sz="2000" b="1" dirty="0" smtClean="0">
                <a:solidFill>
                  <a:srgbClr val="91334E"/>
                </a:solidFill>
              </a:rPr>
              <a:t>Hashing</a:t>
            </a:r>
            <a:r>
              <a:rPr lang="en-US" sz="2000" dirty="0" smtClean="0"/>
              <a:t> is </a:t>
            </a:r>
            <a:r>
              <a:rPr lang="en-US" sz="2000" dirty="0"/>
              <a:t>a one-way operation and by design it is difficult or time-consuming to take a hash </a:t>
            </a:r>
            <a:r>
              <a:rPr lang="en-US" sz="2000" dirty="0" smtClean="0"/>
              <a:t>and reverse </a:t>
            </a:r>
            <a:r>
              <a:rPr lang="en-US" sz="2000" dirty="0"/>
              <a:t>it to the original string.</a:t>
            </a:r>
          </a:p>
        </p:txBody>
      </p:sp>
      <p:sp>
        <p:nvSpPr>
          <p:cNvPr id="203" name="Google Shape;203;p34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0071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4"/>
          <p:cNvSpPr txBox="1"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91334E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>
                <a:schemeClr val="lt1"/>
              </a:buClr>
              <a:buSzPts val="4800"/>
            </a:pPr>
            <a:r>
              <a:rPr lang="en-US" sz="2800" b="1" dirty="0" smtClean="0">
                <a:solidFill>
                  <a:schemeClr val="bg1"/>
                </a:solidFill>
              </a:rPr>
              <a:t>   Encryption </a:t>
            </a:r>
            <a:r>
              <a:rPr lang="en-US" sz="2800" b="1" dirty="0">
                <a:solidFill>
                  <a:schemeClr val="bg1"/>
                </a:solidFill>
              </a:rPr>
              <a:t>and Hashing Algorithms</a:t>
            </a:r>
          </a:p>
        </p:txBody>
      </p:sp>
    </p:spTree>
    <p:extLst>
      <p:ext uri="{BB962C8B-B14F-4D97-AF65-F5344CB8AC3E}">
        <p14:creationId xmlns:p14="http://schemas.microsoft.com/office/powerpoint/2010/main" val="3739782383"/>
      </p:ext>
    </p:extLst>
  </p:cSld>
  <p:clrMapOvr>
    <a:masterClrMapping/>
  </p:clrMapOvr>
  <p:transition spd="slow">
    <p:fade thruBlk="1"/>
  </p:transition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000" dirty="0"/>
              <a:t>You should </a:t>
            </a:r>
            <a:r>
              <a:rPr lang="en-US" sz="2000" b="1" dirty="0">
                <a:solidFill>
                  <a:srgbClr val="91334E"/>
                </a:solidFill>
              </a:rPr>
              <a:t>store passwords in the database as hashes</a:t>
            </a:r>
            <a:r>
              <a:rPr lang="en-US" sz="2000" dirty="0"/>
              <a:t>. This way, if attackers get </a:t>
            </a:r>
            <a:r>
              <a:rPr lang="en-US" sz="2000" dirty="0" smtClean="0"/>
              <a:t>a copy </a:t>
            </a:r>
            <a:r>
              <a:rPr lang="en-US" sz="2000" dirty="0"/>
              <a:t>of your database, they are still unable to obtain user passwords unless they </a:t>
            </a:r>
            <a:r>
              <a:rPr lang="en-US" sz="2000" dirty="0" smtClean="0"/>
              <a:t>can reverse </a:t>
            </a:r>
            <a:r>
              <a:rPr lang="en-US" sz="2000" dirty="0"/>
              <a:t>the hash. </a:t>
            </a:r>
            <a:endParaRPr lang="en-US" sz="2000" dirty="0" smtClean="0"/>
          </a:p>
          <a:p>
            <a:endParaRPr lang="en-US" sz="2000" dirty="0" smtClean="0"/>
          </a:p>
          <a:p>
            <a:r>
              <a:rPr lang="en-US" sz="2000" dirty="0" smtClean="0"/>
              <a:t>Typically</a:t>
            </a:r>
            <a:r>
              <a:rPr lang="en-US" sz="2000" dirty="0"/>
              <a:t>, reversing the hash will take a significant amount of time, and</a:t>
            </a:r>
          </a:p>
          <a:p>
            <a:r>
              <a:rPr lang="en-US" sz="2000" dirty="0"/>
              <a:t>hopefully you will have enough time to notice the breach of security and alert your </a:t>
            </a:r>
            <a:r>
              <a:rPr lang="en-US" sz="2000" dirty="0" smtClean="0"/>
              <a:t>users that </a:t>
            </a:r>
            <a:r>
              <a:rPr lang="en-US" sz="2000" dirty="0"/>
              <a:t>they need to change their passwords.</a:t>
            </a:r>
          </a:p>
        </p:txBody>
      </p:sp>
      <p:sp>
        <p:nvSpPr>
          <p:cNvPr id="203" name="Google Shape;203;p34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0071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4"/>
          <p:cNvSpPr txBox="1"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91334E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>
                <a:schemeClr val="lt1"/>
              </a:buClr>
              <a:buSzPts val="4800"/>
            </a:pPr>
            <a:r>
              <a:rPr lang="en-US" sz="2800" b="1" dirty="0" smtClean="0">
                <a:solidFill>
                  <a:schemeClr val="bg1"/>
                </a:solidFill>
              </a:rPr>
              <a:t>   Encryption </a:t>
            </a:r>
            <a:r>
              <a:rPr lang="en-US" sz="2800" b="1" dirty="0">
                <a:solidFill>
                  <a:schemeClr val="bg1"/>
                </a:solidFill>
              </a:rPr>
              <a:t>and Hashing Algorithms</a:t>
            </a:r>
          </a:p>
        </p:txBody>
      </p:sp>
    </p:spTree>
    <p:extLst>
      <p:ext uri="{BB962C8B-B14F-4D97-AF65-F5344CB8AC3E}">
        <p14:creationId xmlns:p14="http://schemas.microsoft.com/office/powerpoint/2010/main" val="2915295333"/>
      </p:ext>
    </p:extLst>
  </p:cSld>
  <p:clrMapOvr>
    <a:masterClrMapping/>
  </p:clrMapOvr>
  <p:transition spd="slow">
    <p:fade thruBlk="1"/>
  </p:transition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000" dirty="0"/>
              <a:t>Encryption in PHP is provided by the </a:t>
            </a:r>
            <a:r>
              <a:rPr lang="en-US" sz="2000" b="1" dirty="0" err="1">
                <a:solidFill>
                  <a:srgbClr val="91334E"/>
                </a:solidFill>
                <a:hlinkClick r:id="rId3"/>
              </a:rPr>
              <a:t>mcrypt</a:t>
            </a:r>
            <a:r>
              <a:rPr lang="en-US" sz="2000" b="1" dirty="0">
                <a:solidFill>
                  <a:srgbClr val="91334E"/>
                </a:solidFill>
                <a:hlinkClick r:id="rId3"/>
              </a:rPr>
              <a:t> module</a:t>
            </a:r>
            <a:r>
              <a:rPr lang="en-US" sz="2000" dirty="0"/>
              <a:t>, which needs to be installed </a:t>
            </a:r>
            <a:r>
              <a:rPr lang="en-US" sz="2000" dirty="0" smtClean="0"/>
              <a:t>and enabled </a:t>
            </a:r>
            <a:r>
              <a:rPr lang="en-US" sz="2000" dirty="0"/>
              <a:t>separately. The </a:t>
            </a:r>
            <a:r>
              <a:rPr lang="en-US" sz="2000" dirty="0" err="1"/>
              <a:t>mcrypt</a:t>
            </a:r>
            <a:r>
              <a:rPr lang="en-US" sz="2000" dirty="0"/>
              <a:t> module makes available a wide range of </a:t>
            </a:r>
            <a:r>
              <a:rPr lang="en-US" sz="2000" dirty="0" smtClean="0"/>
              <a:t>encryption functions </a:t>
            </a:r>
            <a:r>
              <a:rPr lang="en-US" sz="2000" dirty="0"/>
              <a:t>and constants.</a:t>
            </a:r>
          </a:p>
          <a:p>
            <a:endParaRPr lang="en-US" sz="2000" dirty="0" smtClean="0"/>
          </a:p>
          <a:p>
            <a:r>
              <a:rPr lang="en-US" sz="2000" dirty="0" smtClean="0"/>
              <a:t>The </a:t>
            </a:r>
            <a:r>
              <a:rPr lang="en-US" sz="2000" dirty="0"/>
              <a:t>algorithms that are available are dependent on the operating system on </a:t>
            </a:r>
            <a:r>
              <a:rPr lang="en-US" sz="2000" dirty="0" smtClean="0"/>
              <a:t>which PHP </a:t>
            </a:r>
            <a:r>
              <a:rPr lang="en-US" sz="2000" dirty="0"/>
              <a:t>is installed. You should not attempt to write your own implementation of </a:t>
            </a:r>
            <a:r>
              <a:rPr lang="en-US" sz="2000" dirty="0" smtClean="0"/>
              <a:t>an encryption </a:t>
            </a:r>
            <a:r>
              <a:rPr lang="en-US" sz="2000" dirty="0"/>
              <a:t>algorithm.</a:t>
            </a:r>
          </a:p>
        </p:txBody>
      </p:sp>
      <p:sp>
        <p:nvSpPr>
          <p:cNvPr id="203" name="Google Shape;203;p34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0071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4"/>
          <p:cNvSpPr txBox="1"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91334E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>
                <a:schemeClr val="lt1"/>
              </a:buClr>
              <a:buSzPts val="4800"/>
            </a:pPr>
            <a:r>
              <a:rPr lang="en-US" sz="2800" b="1" dirty="0" smtClean="0">
                <a:solidFill>
                  <a:schemeClr val="bg1"/>
                </a:solidFill>
              </a:rPr>
              <a:t>   Encryption </a:t>
            </a:r>
            <a:r>
              <a:rPr lang="en-US" sz="2800" b="1" dirty="0">
                <a:solidFill>
                  <a:schemeClr val="bg1"/>
                </a:solidFill>
              </a:rPr>
              <a:t>and Hashing Algorithms</a:t>
            </a:r>
          </a:p>
        </p:txBody>
      </p:sp>
    </p:spTree>
    <p:extLst>
      <p:ext uri="{BB962C8B-B14F-4D97-AF65-F5344CB8AC3E}">
        <p14:creationId xmlns:p14="http://schemas.microsoft.com/office/powerpoint/2010/main" val="3479549286"/>
      </p:ext>
    </p:extLst>
  </p:cSld>
  <p:clrMapOvr>
    <a:masterClrMapping/>
  </p:clrMapOvr>
  <p:transition spd="slow">
    <p:fade thruBlk="1"/>
  </p:transition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000" dirty="0"/>
              <a:t>Older hashes like MD5 and SHA1 are very quick to calculate and so </a:t>
            </a:r>
            <a:r>
              <a:rPr lang="en-US" sz="2000" b="1" dirty="0">
                <a:solidFill>
                  <a:srgbClr val="91334E"/>
                </a:solidFill>
              </a:rPr>
              <a:t>you must not </a:t>
            </a:r>
            <a:r>
              <a:rPr lang="en-US" sz="2000" b="1" dirty="0" smtClean="0">
                <a:solidFill>
                  <a:srgbClr val="91334E"/>
                </a:solidFill>
              </a:rPr>
              <a:t>use them </a:t>
            </a:r>
            <a:r>
              <a:rPr lang="en-US" sz="2000" dirty="0"/>
              <a:t>in any place where security is involved. </a:t>
            </a:r>
            <a:endParaRPr lang="en-US" sz="2000" dirty="0" smtClean="0"/>
          </a:p>
          <a:p>
            <a:endParaRPr lang="en-US" sz="2000" dirty="0" smtClean="0"/>
          </a:p>
          <a:p>
            <a:r>
              <a:rPr lang="en-US" sz="2000" dirty="0" smtClean="0"/>
              <a:t>They </a:t>
            </a:r>
            <a:r>
              <a:rPr lang="en-US" sz="2000" dirty="0"/>
              <a:t>are still very useful in other </a:t>
            </a:r>
            <a:r>
              <a:rPr lang="en-US" sz="2000" dirty="0" smtClean="0"/>
              <a:t>areas of </a:t>
            </a:r>
            <a:r>
              <a:rPr lang="en-US" sz="2000" dirty="0"/>
              <a:t>programming, but not in any place where you’re relying on them being a </a:t>
            </a:r>
            <a:r>
              <a:rPr lang="en-US" sz="2000" dirty="0" smtClean="0"/>
              <a:t>one-way operation</a:t>
            </a:r>
            <a:r>
              <a:rPr lang="en-US" sz="2000" dirty="0"/>
              <a:t>.</a:t>
            </a:r>
          </a:p>
        </p:txBody>
      </p:sp>
      <p:sp>
        <p:nvSpPr>
          <p:cNvPr id="203" name="Google Shape;203;p34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0071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4"/>
          <p:cNvSpPr txBox="1"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91334E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>
                <a:schemeClr val="lt1"/>
              </a:buClr>
              <a:buSzPts val="4800"/>
            </a:pPr>
            <a:r>
              <a:rPr lang="en-US" sz="2800" b="1" dirty="0" smtClean="0">
                <a:solidFill>
                  <a:schemeClr val="bg1"/>
                </a:solidFill>
              </a:rPr>
              <a:t>   Encryption </a:t>
            </a:r>
            <a:r>
              <a:rPr lang="en-US" sz="2800" b="1" dirty="0">
                <a:solidFill>
                  <a:schemeClr val="bg1"/>
                </a:solidFill>
              </a:rPr>
              <a:t>and Hashing Algorithms</a:t>
            </a:r>
          </a:p>
        </p:txBody>
      </p:sp>
    </p:spTree>
    <p:extLst>
      <p:ext uri="{BB962C8B-B14F-4D97-AF65-F5344CB8AC3E}">
        <p14:creationId xmlns:p14="http://schemas.microsoft.com/office/powerpoint/2010/main" val="513064720"/>
      </p:ext>
    </p:extLst>
  </p:cSld>
  <p:clrMapOvr>
    <a:masterClrMapping/>
  </p:clrMapOvr>
  <p:transition spd="slow">
    <p:fade thruBlk="1"/>
  </p:transition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000" dirty="0" err="1" smtClean="0">
                <a:hlinkClick r:id="rId3"/>
              </a:rPr>
              <a:t>password_hash</a:t>
            </a:r>
            <a:r>
              <a:rPr lang="en-US" sz="2000" dirty="0">
                <a:hlinkClick r:id="rId3"/>
              </a:rPr>
              <a:t>()</a:t>
            </a:r>
            <a:r>
              <a:rPr lang="en-US" sz="2000" dirty="0"/>
              <a:t> </a:t>
            </a:r>
            <a:r>
              <a:rPr lang="en-US" sz="2000" dirty="0" smtClean="0"/>
              <a:t>function provides </a:t>
            </a:r>
            <a:r>
              <a:rPr lang="en-US" sz="2000" dirty="0"/>
              <a:t>a </a:t>
            </a:r>
            <a:r>
              <a:rPr lang="en-US" sz="2000" dirty="0" smtClean="0"/>
              <a:t>convenient way </a:t>
            </a:r>
            <a:r>
              <a:rPr lang="en-US" sz="2000" dirty="0"/>
              <a:t>to generate secure hashes.</a:t>
            </a:r>
          </a:p>
          <a:p>
            <a:endParaRPr lang="en-US" sz="2000" dirty="0" smtClean="0"/>
          </a:p>
          <a:p>
            <a:r>
              <a:rPr lang="en-US" sz="2000" dirty="0" smtClean="0"/>
              <a:t>By </a:t>
            </a:r>
            <a:r>
              <a:rPr lang="en-US" sz="2000" dirty="0"/>
              <a:t>default the </a:t>
            </a:r>
            <a:r>
              <a:rPr lang="en-US" sz="2000" dirty="0" err="1"/>
              <a:t>password_hash</a:t>
            </a:r>
            <a:r>
              <a:rPr lang="en-US" sz="2000" dirty="0"/>
              <a:t>() function uses the </a:t>
            </a:r>
            <a:r>
              <a:rPr lang="en-US" sz="2000" dirty="0" err="1"/>
              <a:t>bcrypt</a:t>
            </a:r>
            <a:r>
              <a:rPr lang="en-US" sz="2000" dirty="0"/>
              <a:t> algorithm to hash </a:t>
            </a:r>
            <a:r>
              <a:rPr lang="en-US" sz="2000" dirty="0" smtClean="0"/>
              <a:t>the password</a:t>
            </a:r>
            <a:r>
              <a:rPr lang="en-US" sz="2000" dirty="0"/>
              <a:t>. </a:t>
            </a:r>
            <a:endParaRPr lang="en-US" sz="2000" dirty="0" smtClean="0"/>
          </a:p>
          <a:p>
            <a:r>
              <a:rPr lang="en-US" sz="2000" dirty="0" smtClean="0"/>
              <a:t>The </a:t>
            </a:r>
            <a:r>
              <a:rPr lang="en-US" sz="2000" dirty="0" err="1"/>
              <a:t>bcrypt</a:t>
            </a:r>
            <a:r>
              <a:rPr lang="en-US" sz="2000" dirty="0"/>
              <a:t> algorithm has a parameter that includes how many times it </a:t>
            </a:r>
            <a:r>
              <a:rPr lang="en-US" sz="2000" dirty="0" smtClean="0"/>
              <a:t>should run </a:t>
            </a:r>
            <a:r>
              <a:rPr lang="en-US" sz="2000" dirty="0"/>
              <a:t>on the password before returning the hashed result. </a:t>
            </a:r>
            <a:endParaRPr lang="en-US" sz="2000" dirty="0" smtClean="0"/>
          </a:p>
          <a:p>
            <a:r>
              <a:rPr lang="en-US" sz="2000" dirty="0" smtClean="0"/>
              <a:t>This </a:t>
            </a:r>
            <a:r>
              <a:rPr lang="en-US" sz="2000" dirty="0"/>
              <a:t>is referred to as the “cost” </a:t>
            </a:r>
            <a:r>
              <a:rPr lang="en-US" sz="2000" dirty="0" smtClean="0"/>
              <a:t>of the </a:t>
            </a:r>
            <a:r>
              <a:rPr lang="en-US" sz="2000" dirty="0"/>
              <a:t>algorithm</a:t>
            </a:r>
            <a:r>
              <a:rPr lang="en-US" sz="2000" dirty="0" smtClean="0"/>
              <a:t>.</a:t>
            </a:r>
            <a:endParaRPr lang="en-US" sz="2000" dirty="0"/>
          </a:p>
        </p:txBody>
      </p:sp>
      <p:sp>
        <p:nvSpPr>
          <p:cNvPr id="203" name="Google Shape;203;p34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0071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4"/>
          <p:cNvSpPr txBox="1"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91334E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>
                <a:schemeClr val="lt1"/>
              </a:buClr>
              <a:buSzPts val="4800"/>
            </a:pPr>
            <a:r>
              <a:rPr lang="en-US" sz="2800" b="1" dirty="0" smtClean="0">
                <a:solidFill>
                  <a:schemeClr val="bg1"/>
                </a:solidFill>
              </a:rPr>
              <a:t>   Encryption </a:t>
            </a:r>
            <a:r>
              <a:rPr lang="en-US" sz="2800" b="1" dirty="0">
                <a:solidFill>
                  <a:schemeClr val="bg1"/>
                </a:solidFill>
              </a:rPr>
              <a:t>and Hashing Algorithms</a:t>
            </a:r>
          </a:p>
        </p:txBody>
      </p:sp>
    </p:spTree>
    <p:extLst>
      <p:ext uri="{BB962C8B-B14F-4D97-AF65-F5344CB8AC3E}">
        <p14:creationId xmlns:p14="http://schemas.microsoft.com/office/powerpoint/2010/main" val="490133261"/>
      </p:ext>
    </p:extLst>
  </p:cSld>
  <p:clrMapOvr>
    <a:masterClrMapping/>
  </p:clrMapOvr>
  <p:transition spd="slow">
    <p:fade thruBlk="1"/>
  </p:transition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000" dirty="0" smtClean="0"/>
              <a:t>By </a:t>
            </a:r>
            <a:r>
              <a:rPr lang="en-US" sz="2000" dirty="0"/>
              <a:t>increasing the number of times that the algorithm must run, you can </a:t>
            </a:r>
            <a:r>
              <a:rPr lang="en-US" sz="2000" dirty="0" smtClean="0"/>
              <a:t>increase the </a:t>
            </a:r>
            <a:r>
              <a:rPr lang="en-US" sz="2000" dirty="0"/>
              <a:t>length of time that it takes to calculate a hash. </a:t>
            </a:r>
            <a:endParaRPr lang="en-US" sz="2000" dirty="0" smtClean="0"/>
          </a:p>
          <a:p>
            <a:r>
              <a:rPr lang="en-US" sz="2000" dirty="0" smtClean="0"/>
              <a:t>This </a:t>
            </a:r>
            <a:r>
              <a:rPr lang="en-US" sz="2000" dirty="0"/>
              <a:t>means that as computers </a:t>
            </a:r>
            <a:r>
              <a:rPr lang="en-US" sz="2000" dirty="0" smtClean="0"/>
              <a:t>get faster</a:t>
            </a:r>
            <a:r>
              <a:rPr lang="en-US" sz="2000" dirty="0"/>
              <a:t>, you can increase the number of iterations in your </a:t>
            </a:r>
            <a:r>
              <a:rPr lang="en-US" sz="2000" dirty="0" err="1"/>
              <a:t>bcrypt</a:t>
            </a:r>
            <a:r>
              <a:rPr lang="en-US" sz="2000" dirty="0"/>
              <a:t> algorithm to keep </a:t>
            </a:r>
            <a:r>
              <a:rPr lang="en-US" sz="2000" dirty="0" smtClean="0"/>
              <a:t>your passwords </a:t>
            </a:r>
            <a:r>
              <a:rPr lang="en-US" sz="2000" dirty="0"/>
              <a:t>secure from brute force attacks.</a:t>
            </a:r>
          </a:p>
          <a:p>
            <a:r>
              <a:rPr lang="en-US" sz="2000" dirty="0"/>
              <a:t>You can use the </a:t>
            </a:r>
            <a:r>
              <a:rPr lang="en-US" sz="2000" b="1" dirty="0" err="1">
                <a:solidFill>
                  <a:srgbClr val="91334E"/>
                </a:solidFill>
              </a:rPr>
              <a:t>password_info</a:t>
            </a:r>
            <a:r>
              <a:rPr lang="en-US" sz="2000" b="1" dirty="0">
                <a:solidFill>
                  <a:srgbClr val="91334E"/>
                </a:solidFill>
              </a:rPr>
              <a:t>()</a:t>
            </a:r>
            <a:r>
              <a:rPr lang="en-US" sz="2000" dirty="0"/>
              <a:t> function to retrieve information about how a </a:t>
            </a:r>
            <a:r>
              <a:rPr lang="en-US" sz="2000" dirty="0" smtClean="0"/>
              <a:t>hash was </a:t>
            </a:r>
            <a:r>
              <a:rPr lang="en-US" sz="2000" dirty="0"/>
              <a:t>calculated. </a:t>
            </a:r>
            <a:endParaRPr lang="en-US" sz="2000" dirty="0" smtClean="0"/>
          </a:p>
          <a:p>
            <a:r>
              <a:rPr lang="en-US" sz="2000" dirty="0" smtClean="0"/>
              <a:t>This </a:t>
            </a:r>
            <a:r>
              <a:rPr lang="en-US" sz="2000" dirty="0"/>
              <a:t>function will tell you the name of algorithm, the cost, and the </a:t>
            </a:r>
            <a:r>
              <a:rPr lang="en-US" sz="2000" dirty="0">
                <a:hlinkClick r:id="rId3"/>
              </a:rPr>
              <a:t>salt</a:t>
            </a:r>
            <a:r>
              <a:rPr lang="en-US" sz="2000" dirty="0" smtClean="0"/>
              <a:t>.</a:t>
            </a:r>
            <a:endParaRPr lang="en-US" sz="2000" dirty="0"/>
          </a:p>
        </p:txBody>
      </p:sp>
      <p:sp>
        <p:nvSpPr>
          <p:cNvPr id="203" name="Google Shape;203;p34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0071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4"/>
          <p:cNvSpPr txBox="1"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91334E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>
                <a:schemeClr val="lt1"/>
              </a:buClr>
              <a:buSzPts val="4800"/>
            </a:pPr>
            <a:r>
              <a:rPr lang="en-US" sz="2800" b="1" dirty="0" smtClean="0">
                <a:solidFill>
                  <a:schemeClr val="bg1"/>
                </a:solidFill>
              </a:rPr>
              <a:t>   Encryption </a:t>
            </a:r>
            <a:r>
              <a:rPr lang="en-US" sz="2800" b="1" dirty="0">
                <a:solidFill>
                  <a:schemeClr val="bg1"/>
                </a:solidFill>
              </a:rPr>
              <a:t>and Hashing Algorithms</a:t>
            </a:r>
          </a:p>
        </p:txBody>
      </p:sp>
    </p:spTree>
    <p:extLst>
      <p:ext uri="{BB962C8B-B14F-4D97-AF65-F5344CB8AC3E}">
        <p14:creationId xmlns:p14="http://schemas.microsoft.com/office/powerpoint/2010/main" val="3937260182"/>
      </p:ext>
    </p:extLst>
  </p:cSld>
  <p:clrMapOvr>
    <a:masterClrMapping/>
  </p:clrMapOvr>
  <p:transition spd="slow">
    <p:fade thruBlk="1"/>
  </p:transition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000" dirty="0" smtClean="0"/>
              <a:t>The </a:t>
            </a:r>
            <a:r>
              <a:rPr lang="en-US" sz="2000" b="1" dirty="0" err="1">
                <a:solidFill>
                  <a:srgbClr val="91334E"/>
                </a:solidFill>
              </a:rPr>
              <a:t>password_needs_rehash</a:t>
            </a:r>
            <a:r>
              <a:rPr lang="en-US" sz="2000" b="1" dirty="0">
                <a:solidFill>
                  <a:srgbClr val="91334E"/>
                </a:solidFill>
              </a:rPr>
              <a:t>()</a:t>
            </a:r>
            <a:r>
              <a:rPr lang="en-US" sz="2000" dirty="0"/>
              <a:t> function will compare a hash against the </a:t>
            </a:r>
            <a:r>
              <a:rPr lang="en-US" sz="2000" dirty="0" smtClean="0"/>
              <a:t>options you </a:t>
            </a:r>
            <a:r>
              <a:rPr lang="en-US" sz="2000" dirty="0"/>
              <a:t>specify to see if it needs to be rehashed. This will let you change the algorithm used </a:t>
            </a:r>
            <a:r>
              <a:rPr lang="en-US" sz="2000" dirty="0" smtClean="0"/>
              <a:t>to hash </a:t>
            </a:r>
            <a:r>
              <a:rPr lang="en-US" sz="2000" dirty="0"/>
              <a:t>your passwords, for example increasing the cost over time.</a:t>
            </a:r>
          </a:p>
        </p:txBody>
      </p:sp>
      <p:sp>
        <p:nvSpPr>
          <p:cNvPr id="203" name="Google Shape;203;p34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0071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4"/>
          <p:cNvSpPr txBox="1"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91334E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>
                <a:schemeClr val="lt1"/>
              </a:buClr>
              <a:buSzPts val="4800"/>
            </a:pPr>
            <a:r>
              <a:rPr lang="en-US" sz="2800" b="1" dirty="0" smtClean="0">
                <a:solidFill>
                  <a:schemeClr val="bg1"/>
                </a:solidFill>
              </a:rPr>
              <a:t>   Encryption </a:t>
            </a:r>
            <a:r>
              <a:rPr lang="en-US" sz="2800" b="1" dirty="0">
                <a:solidFill>
                  <a:schemeClr val="bg1"/>
                </a:solidFill>
              </a:rPr>
              <a:t>and Hashing Algorithms</a:t>
            </a:r>
          </a:p>
        </p:txBody>
      </p:sp>
    </p:spTree>
    <p:extLst>
      <p:ext uri="{BB962C8B-B14F-4D97-AF65-F5344CB8AC3E}">
        <p14:creationId xmlns:p14="http://schemas.microsoft.com/office/powerpoint/2010/main" val="351678007"/>
      </p:ext>
    </p:extLst>
  </p:cSld>
  <p:clrMapOvr>
    <a:masterClrMapping/>
  </p:clrMapOvr>
  <p:transition spd="slow">
    <p:fade thruBlk="1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403</TotalTime>
  <Words>2819</Words>
  <Application>Microsoft Office PowerPoint</Application>
  <PresentationFormat>Презентация на цял екран (16:9)</PresentationFormat>
  <Paragraphs>303</Paragraphs>
  <Slides>68</Slides>
  <Notes>68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68</vt:i4>
      </vt:variant>
    </vt:vector>
  </HeadingPairs>
  <TitlesOfParts>
    <vt:vector size="72" baseType="lpstr">
      <vt:lpstr>Arial</vt:lpstr>
      <vt:lpstr>Syncopate</vt:lpstr>
      <vt:lpstr>Calibri</vt:lpstr>
      <vt:lpstr>simple-light-2</vt:lpstr>
      <vt:lpstr>web development</vt:lpstr>
      <vt:lpstr>Презентация на PowerPoint</vt:lpstr>
      <vt:lpstr>      </vt:lpstr>
      <vt:lpstr>Презентация на PowerPoint</vt:lpstr>
      <vt:lpstr>Презентация на PowerPoint</vt:lpstr>
      <vt:lpstr>      </vt:lpstr>
      <vt:lpstr>Презентация на PowerPoint</vt:lpstr>
      <vt:lpstr>      </vt:lpstr>
      <vt:lpstr>Презентация на PowerPoint</vt:lpstr>
      <vt:lpstr>Презентация на PowerPoint</vt:lpstr>
      <vt:lpstr>      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      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      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      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      </vt:lpstr>
      <vt:lpstr>Презентация на PowerPoint</vt:lpstr>
      <vt:lpstr>      </vt:lpstr>
      <vt:lpstr>Презентация на PowerPoint</vt:lpstr>
      <vt:lpstr>      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      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      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разработка</dc:title>
  <dc:creator>Milena</dc:creator>
  <cp:lastModifiedBy>Ariel</cp:lastModifiedBy>
  <cp:revision>24</cp:revision>
  <dcterms:modified xsi:type="dcterms:W3CDTF">2019-03-05T08:57:38Z</dcterms:modified>
</cp:coreProperties>
</file>