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3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9144000" cy="5143500" type="screen16x9"/>
  <p:notesSz cx="6858000" cy="9144000"/>
  <p:embeddedFontLst>
    <p:embeddedFont>
      <p:font typeface="Verdana" panose="020B0604030504040204" pitchFamily="34" charset="0"/>
      <p:regular r:id="rId32"/>
      <p:bold r:id="rId33"/>
      <p:italic r:id="rId34"/>
      <p:boldItalic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Syncopate" panose="020B060402020202020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-413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4.fntdata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481224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1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2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3112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3112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3112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8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3112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9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3112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0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1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12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13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14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15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16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7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18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9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20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953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21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58082276aa_0_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58082276a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58082276a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g58082276aa_0_4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58082276aa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g58082276aa_0_17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58082276a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58082276aa_0_24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58082276a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58082276aa_0_32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58082276aa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58082276aa_0_39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58082276aa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58082276aa_0_46:notes"/>
          <p:cNvSpPr txBox="1">
            <a:spLocks noGrp="1"/>
          </p:cNvSpPr>
          <p:nvPr>
            <p:ph type="body" idx="1"/>
          </p:nvPr>
        </p:nvSpPr>
        <p:spPr>
          <a:xfrm>
            <a:off x="685799" y="4343400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разен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лавен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лавие и съдържание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339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2800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marL="914400" lvl="1" indent="-280035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лавка на секция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888888"/>
              </a:buClr>
              <a:buSzPts val="8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е съдържания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57200" y="1203325"/>
            <a:ext cx="4038600" cy="339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  <a:defRPr sz="2800"/>
            </a:lvl1pPr>
            <a:lvl2pPr marL="914400" lvl="1" indent="-29718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Char char="●"/>
              <a:defRPr sz="2400"/>
            </a:lvl2pPr>
            <a:lvl3pPr marL="1371600" lvl="2" indent="-32385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 sz="2000"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 sz="1800"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 sz="18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4648200" y="1203325"/>
            <a:ext cx="4038600" cy="339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  <a:defRPr sz="2800"/>
            </a:lvl1pPr>
            <a:lvl2pPr marL="914400" lvl="1" indent="-29718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Char char="●"/>
              <a:defRPr sz="2400"/>
            </a:lvl2pPr>
            <a:lvl3pPr marL="1371600" lvl="2" indent="-32385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 sz="2000"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 sz="1800"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 sz="18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72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Char char="●"/>
              <a:defRPr sz="2400"/>
            </a:lvl1pPr>
            <a:lvl2pPr marL="914400" lvl="1" indent="-28575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 sz="1800"/>
            </a:lvl3pPr>
            <a:lvl4pPr marL="1828800" lvl="3" indent="-274319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4pPr>
            <a:lvl5pPr marL="2286000" lvl="4" indent="-3048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Char char="–"/>
              <a:defRPr sz="1600"/>
            </a:lvl5pPr>
            <a:lvl6pPr marL="2743200" lvl="5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6pPr>
            <a:lvl7pPr marL="3200400" lvl="6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7pPr>
            <a:lvl8pPr marL="3657600" lvl="7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8pPr>
            <a:lvl9pPr marL="4114800" lvl="8" indent="-27432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720"/>
              <a:buChar char="●"/>
              <a:defRPr sz="16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72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Char char="●"/>
              <a:defRPr sz="2400"/>
            </a:lvl1pPr>
            <a:lvl2pPr marL="914400" lvl="1" indent="-28575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 sz="1800"/>
            </a:lvl3pPr>
            <a:lvl4pPr marL="1828800" lvl="3" indent="-274319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4pPr>
            <a:lvl5pPr marL="2286000" lvl="4" indent="-3048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Char char="–"/>
              <a:defRPr sz="1600"/>
            </a:lvl5pPr>
            <a:lvl6pPr marL="2743200" lvl="5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6pPr>
            <a:lvl7pPr marL="3200400" lvl="6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7pPr>
            <a:lvl8pPr marL="3657600" lvl="7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8pPr>
            <a:lvl9pPr marL="4114800" lvl="8" indent="-27432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720"/>
              <a:buChar char="●"/>
              <a:defRPr sz="16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амо заглавие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ъдържание с надпис" type="objTx">
  <p:cSld name="OBJECT_WITH_CAPTIO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 sz="3200"/>
            </a:lvl1pPr>
            <a:lvl2pPr marL="914400" lvl="1" indent="-30861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  <a:defRPr sz="2800"/>
            </a:lvl2pPr>
            <a:lvl3pPr marL="1371600" lvl="2" indent="-3429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 sz="2400"/>
            </a:lvl3pPr>
            <a:lvl4pPr marL="1828800" lvl="3" indent="-28575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4pPr>
            <a:lvl5pPr marL="2286000" lvl="4" indent="-32385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 sz="2000"/>
            </a:lvl5pPr>
            <a:lvl6pPr marL="2743200" lvl="5" indent="-28575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6pPr>
            <a:lvl7pPr marL="3200400" lvl="6" indent="-28575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7pPr>
            <a:lvl8pPr marL="3657600" lvl="7" indent="-28575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8pPr>
            <a:lvl9pPr marL="4114800" lvl="8" indent="-28575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900"/>
              <a:buChar char="●"/>
              <a:defRPr sz="2000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5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7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67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405"/>
              <a:buNone/>
              <a:defRPr sz="9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Картина с надпис" type="picTx">
  <p:cSld name="PICTURE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>
            <a:spLocks noGrp="1"/>
          </p:cNvSpPr>
          <p:nvPr>
            <p:ph type="pic" idx="2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None/>
              <a:defRPr sz="2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  <a:defRPr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None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5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7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67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405"/>
              <a:buNone/>
              <a:defRPr sz="900"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лавие и вертикален текст" type="vertTx">
  <p:cSld name="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 rot="5400000">
            <a:off x="2874600" y="-1213920"/>
            <a:ext cx="3394440" cy="822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2800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marL="914400" lvl="1" indent="-280035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но заглавие и текст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title"/>
          </p:nvPr>
        </p:nvSpPr>
        <p:spPr>
          <a:xfrm rot="5400000">
            <a:off x="5840413" y="1606550"/>
            <a:ext cx="3852862" cy="2128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1"/>
          </p:nvPr>
        </p:nvSpPr>
        <p:spPr>
          <a:xfrm rot="5400000">
            <a:off x="1504157" y="-448468"/>
            <a:ext cx="3852862" cy="623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2800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marL="914400" lvl="1" indent="-280035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разен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лавие и съдържание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800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marL="914400" lvl="1" indent="-280035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лавен слайд" type="title">
  <p:cSld name="TITL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лавка на секция" type="secHead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888888"/>
              </a:buClr>
              <a:buSzPts val="8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888888"/>
              </a:buClr>
              <a:buSzPts val="6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е съдържания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311150" y="1152525"/>
            <a:ext cx="4183063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  <a:defRPr sz="2800"/>
            </a:lvl1pPr>
            <a:lvl2pPr marL="914400" lvl="1" indent="-29718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Char char="●"/>
              <a:defRPr sz="2400"/>
            </a:lvl2pPr>
            <a:lvl3pPr marL="1371600" lvl="2" indent="-32385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 sz="2000"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 sz="1800"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 sz="18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4646613" y="1152525"/>
            <a:ext cx="4184650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  <a:defRPr sz="2800"/>
            </a:lvl1pPr>
            <a:lvl2pPr marL="914400" lvl="1" indent="-29718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Char char="●"/>
              <a:defRPr sz="2400"/>
            </a:lvl2pPr>
            <a:lvl3pPr marL="1371600" lvl="2" indent="-32385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 sz="2000"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 sz="1800"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 sz="1800"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 sz="18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72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Char char="●"/>
              <a:defRPr sz="2400"/>
            </a:lvl1pPr>
            <a:lvl2pPr marL="914400" lvl="1" indent="-28575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 sz="1800"/>
            </a:lvl3pPr>
            <a:lvl4pPr marL="1828800" lvl="3" indent="-274319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4pPr>
            <a:lvl5pPr marL="2286000" lvl="4" indent="-3048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Char char="–"/>
              <a:defRPr sz="1600"/>
            </a:lvl5pPr>
            <a:lvl6pPr marL="2743200" lvl="5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6pPr>
            <a:lvl7pPr marL="3200400" lvl="6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7pPr>
            <a:lvl8pPr marL="3657600" lvl="7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8pPr>
            <a:lvl9pPr marL="4114800" lvl="8" indent="-27432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720"/>
              <a:buChar char="●"/>
              <a:defRPr sz="1600"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72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Char char="●"/>
              <a:defRPr sz="2400"/>
            </a:lvl1pPr>
            <a:lvl2pPr marL="914400" lvl="1" indent="-28575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 sz="1800"/>
            </a:lvl3pPr>
            <a:lvl4pPr marL="1828800" lvl="3" indent="-274319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4pPr>
            <a:lvl5pPr marL="2286000" lvl="4" indent="-3048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Char char="–"/>
              <a:defRPr sz="1600"/>
            </a:lvl5pPr>
            <a:lvl6pPr marL="2743200" lvl="5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6pPr>
            <a:lvl7pPr marL="3200400" lvl="6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7pPr>
            <a:lvl8pPr marL="3657600" lvl="7" indent="-27432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Char char="●"/>
              <a:defRPr sz="1600"/>
            </a:lvl8pPr>
            <a:lvl9pPr marL="4114800" lvl="8" indent="-27432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720"/>
              <a:buChar char="●"/>
              <a:defRPr sz="16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амо заглавие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ъдържание с надпис" type="objTx">
  <p:cSld name="OBJECT_WITH_CAPTIO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 sz="3200"/>
            </a:lvl1pPr>
            <a:lvl2pPr marL="914400" lvl="1" indent="-30861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  <a:defRPr sz="2800"/>
            </a:lvl2pPr>
            <a:lvl3pPr marL="1371600" lvl="2" indent="-3429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 sz="2400"/>
            </a:lvl3pPr>
            <a:lvl4pPr marL="1828800" lvl="3" indent="-28575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4pPr>
            <a:lvl5pPr marL="2286000" lvl="4" indent="-32385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 sz="2000"/>
            </a:lvl5pPr>
            <a:lvl6pPr marL="2743200" lvl="5" indent="-28575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6pPr>
            <a:lvl7pPr marL="3200400" lvl="6" indent="-28575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7pPr>
            <a:lvl8pPr marL="3657600" lvl="7" indent="-28575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8pPr>
            <a:lvl9pPr marL="4114800" lvl="8" indent="-28575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900"/>
              <a:buChar char="●"/>
              <a:defRPr sz="2000"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5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7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67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405"/>
              <a:buNone/>
              <a:defRPr sz="900"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Картина с надпис" type="picTx">
  <p:cSld name="PICTURE_WITH_CAPTION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>
            <a:spLocks noGrp="1"/>
          </p:cNvSpPr>
          <p:nvPr>
            <p:ph type="pic" idx="2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900"/>
              <a:buFont typeface="Noto Sans Symbols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body" idx="1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5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7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67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4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405"/>
              <a:buNone/>
              <a:defRPr sz="900"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лавие и вертикален текст" type="vertTx">
  <p:cSld name="VERTICAL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body" idx="1"/>
          </p:nvPr>
        </p:nvSpPr>
        <p:spPr>
          <a:xfrm rot="5400000">
            <a:off x="2863800" y="-1399680"/>
            <a:ext cx="3416040" cy="852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800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marL="914400" lvl="1" indent="-280035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но заглавие и текст" type="vertTitleAndTx">
  <p:cSld name="VERTICAL_TITLE_AND_VERTICAL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 rot="5400000">
            <a:off x="5704682" y="1442244"/>
            <a:ext cx="4124325" cy="2128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body" idx="1"/>
          </p:nvPr>
        </p:nvSpPr>
        <p:spPr>
          <a:xfrm rot="5400000">
            <a:off x="1368425" y="-612775"/>
            <a:ext cx="4124325" cy="623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800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1pPr>
            <a:lvl2pPr marL="914400" lvl="1" indent="-280035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2pPr>
            <a:lvl3pPr marL="1371600" lvl="2" indent="-31432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3pPr>
            <a:lvl4pPr marL="1828800" lvl="3" indent="-28003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4pPr>
            <a:lvl5pPr marL="2286000" lvl="4" indent="-314325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5pPr>
            <a:lvl6pPr marL="2743200" lvl="5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marL="3200400" lvl="6" indent="-28003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marL="3657600" lvl="7" indent="-28003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marL="4114800" lvl="8" indent="-280034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0"/>
              <a:buFont typeface="Noto Sans Symbols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339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686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68605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5275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–"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68605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–"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810"/>
              <a:buFont typeface="Noto Sans Symbols"/>
              <a:buChar char="●"/>
              <a:defRPr sz="18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1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686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68605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5275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68605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–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Reference/Global_Objects/Array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/>
          <p:nvPr/>
        </p:nvSpPr>
        <p:spPr>
          <a:xfrm>
            <a:off x="-24120" y="2850840"/>
            <a:ext cx="9167760" cy="229211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5"/>
          <p:cNvSpPr txBox="1">
            <a:spLocks noGrp="1"/>
          </p:cNvSpPr>
          <p:nvPr>
            <p:ph type="title" idx="4294967295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C34A"/>
              </a:buClr>
              <a:buSzPts val="630"/>
              <a:buFont typeface="Noto Sans Symbols"/>
              <a:buNone/>
            </a:pPr>
            <a:r>
              <a:rPr lang="en-US" sz="1400" b="1" i="0" u="none" strike="noStrike" cap="none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УЕБ РАЗРАБОТКА</a:t>
            </a:r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subTitle" idx="4294967295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Noto Sans Symbols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JS Масиви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1240" y="497520"/>
            <a:ext cx="2980800" cy="124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5"/>
          <p:cNvSpPr/>
          <p:nvPr/>
        </p:nvSpPr>
        <p:spPr>
          <a:xfrm>
            <a:off x="-60840" y="4860360"/>
            <a:ext cx="9265321" cy="2829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НПО ВРАЦА СОФТУЕР ОБЩЕСТВО - КУРС ПО Уеб Разработка - 11.201</a:t>
            </a:r>
            <a:r>
              <a:rPr lang="en-US" b="1">
                <a:solidFill>
                  <a:srgbClr val="CCCCCC"/>
                </a:solidFill>
              </a:rPr>
              <a:t>8</a:t>
            </a:r>
            <a:r>
              <a:rPr lang="en-US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- ВЕРСИЯ </a:t>
            </a:r>
            <a:r>
              <a:rPr lang="en-US" b="1">
                <a:solidFill>
                  <a:srgbClr val="CCCCCC"/>
                </a:solidFill>
              </a:rPr>
              <a:t>6</a:t>
            </a:r>
            <a:endParaRPr sz="1400" b="1" i="0" u="none" strike="noStrike" cap="non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Деклариране и създаване на масив</a:t>
            </a: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262626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Достъпване елементите на масива</a:t>
            </a: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262626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Работа с елементи на масива</a:t>
            </a: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3999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262626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Добавяне/премахване елементи на масива</a:t>
            </a: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1999" lvl="0" indent="-323999" algn="l" rtl="0">
              <a:spcBef>
                <a:spcPts val="1417"/>
              </a:spcBef>
              <a:spcAft>
                <a:spcPts val="0"/>
              </a:spcAft>
              <a:buClr>
                <a:srgbClr val="262626"/>
              </a:buClr>
              <a:buSzPts val="630"/>
              <a:buChar char="●"/>
            </a:pPr>
            <a:r>
              <a:rPr lang="en-US">
                <a:solidFill>
                  <a:srgbClr val="262626"/>
                </a:solidFill>
              </a:rPr>
              <a:t>Операции с масивите:</a:t>
            </a:r>
            <a:endParaRPr>
              <a:solidFill>
                <a:srgbClr val="262626"/>
              </a:solidFill>
            </a:endParaRPr>
          </a:p>
          <a:p>
            <a:pPr marL="864000" lvl="1" indent="-323999" algn="l" rtl="0">
              <a:spcBef>
                <a:spcPts val="1417"/>
              </a:spcBef>
              <a:spcAft>
                <a:spcPts val="0"/>
              </a:spcAft>
              <a:buClr>
                <a:srgbClr val="262626"/>
              </a:buClr>
              <a:buSzPts val="630"/>
              <a:buChar char="●"/>
            </a:pPr>
            <a:r>
              <a:rPr lang="en-US">
                <a:solidFill>
                  <a:srgbClr val="262626"/>
                </a:solidFill>
              </a:rPr>
              <a:t>Конкатениране</a:t>
            </a:r>
            <a:endParaRPr>
              <a:solidFill>
                <a:srgbClr val="262626"/>
              </a:solidFill>
            </a:endParaRPr>
          </a:p>
          <a:p>
            <a:pPr marL="864000" lvl="1" indent="-323999" algn="l" rtl="0">
              <a:spcBef>
                <a:spcPts val="1134"/>
              </a:spcBef>
              <a:spcAft>
                <a:spcPts val="0"/>
              </a:spcAft>
              <a:buClr>
                <a:srgbClr val="262626"/>
              </a:buClr>
              <a:buSzPts val="630"/>
              <a:buChar char="●"/>
            </a:pPr>
            <a:r>
              <a:rPr lang="en-US">
                <a:solidFill>
                  <a:srgbClr val="262626"/>
                </a:solidFill>
              </a:rPr>
              <a:t>Разрязване </a:t>
            </a:r>
            <a:endParaRPr>
              <a:solidFill>
                <a:srgbClr val="262626"/>
              </a:solidFill>
            </a:endParaRPr>
          </a:p>
          <a:p>
            <a:pPr marL="864000" lvl="1" indent="-323999" algn="l" rtl="0">
              <a:spcBef>
                <a:spcPts val="1134"/>
              </a:spcBef>
              <a:spcAft>
                <a:spcPts val="0"/>
              </a:spcAft>
              <a:buClr>
                <a:srgbClr val="262626"/>
              </a:buClr>
              <a:buSzPts val="630"/>
              <a:buChar char="●"/>
            </a:pPr>
            <a:r>
              <a:rPr lang="en-US">
                <a:solidFill>
                  <a:srgbClr val="262626"/>
                </a:solidFill>
              </a:rPr>
              <a:t>Манипулация</a:t>
            </a:r>
            <a:endParaRPr>
              <a:solidFill>
                <a:srgbClr val="262626"/>
              </a:solidFill>
            </a:endParaRPr>
          </a:p>
          <a:p>
            <a:pPr marL="431999" marR="0" lvl="0" indent="-323999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262626"/>
              </a:buClr>
              <a:buSzPts val="630"/>
              <a:buChar char="●"/>
            </a:pPr>
            <a:r>
              <a:rPr lang="en-US">
                <a:solidFill>
                  <a:srgbClr val="262626"/>
                </a:solidFill>
              </a:rPr>
              <a:t>Обекти в JS</a:t>
            </a: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6"/>
          <p:cNvSpPr/>
          <p:nvPr/>
        </p:nvSpPr>
        <p:spPr>
          <a:xfrm>
            <a:off x="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6"/>
          <p:cNvSpPr/>
          <p:nvPr/>
        </p:nvSpPr>
        <p:spPr>
          <a:xfrm>
            <a:off x="0" y="30240"/>
            <a:ext cx="6805079" cy="703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Съдържание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/>
          <p:nvPr/>
        </p:nvSpPr>
        <p:spPr>
          <a:xfrm>
            <a:off x="0" y="0"/>
            <a:ext cx="9143640" cy="51435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Масиви в JS</a:t>
            </a:r>
            <a:endParaRPr sz="32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Какво представляват масивите?</a:t>
            </a:r>
            <a:endParaRPr/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595959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Деклариране на масив 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595959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Масив от числа</a:t>
            </a:r>
            <a:endParaRPr/>
          </a:p>
          <a:p>
            <a:pPr marL="1295999" marR="0" lvl="2" indent="-287999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–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 numbers = [1, 2, 3, 4, 5];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595959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Масив с елементи – стрингове</a:t>
            </a:r>
            <a:endParaRPr/>
          </a:p>
          <a:p>
            <a:pPr marL="1295999" marR="0" lvl="2" indent="-287999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–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 names = [‘Pesho', ‘Gosho', ‘Ivan‘]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595959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Масив с елементи от смесен тип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95999" marR="0" lvl="2" indent="-287999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–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 mixedArr = [1, new Date(), 'hello'];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8"/>
          <p:cNvSpPr/>
          <p:nvPr/>
        </p:nvSpPr>
        <p:spPr>
          <a:xfrm>
            <a:off x="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8"/>
          <p:cNvSpPr/>
          <p:nvPr/>
        </p:nvSpPr>
        <p:spPr>
          <a:xfrm>
            <a:off x="0" y="30240"/>
            <a:ext cx="6805079" cy="703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Масиви в JS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9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64000" marR="0" lvl="1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Матрица – масив от масиви/многомерен масив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var matrix = [ ['0,0', '0,1', '0,2'],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['1,0', '1,1', '1,2'],</a:t>
            </a:r>
            <a:endParaRPr/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 ['2,0', '2,1', '2,2']];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9"/>
          <p:cNvSpPr/>
          <p:nvPr/>
        </p:nvSpPr>
        <p:spPr>
          <a:xfrm>
            <a:off x="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9"/>
          <p:cNvSpPr/>
          <p:nvPr/>
        </p:nvSpPr>
        <p:spPr>
          <a:xfrm>
            <a:off x="0" y="30240"/>
            <a:ext cx="6805079" cy="703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Масиви в JS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Препоръчителен вариант – []</a:t>
            </a:r>
            <a:endParaRPr/>
          </a:p>
          <a:p>
            <a:pPr marL="864000" marR="0" lvl="1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595959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var arr = [1, 2, 3, 4, 5]; </a:t>
            </a:r>
            <a:endParaRPr/>
          </a:p>
          <a:p>
            <a:pPr marL="864000" marR="0" lvl="1" indent="-32400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595959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var myArr = [];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283994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>
              <a:solidFill>
                <a:srgbClr val="595959"/>
              </a:solidFill>
            </a:endParaRPr>
          </a:p>
          <a:p>
            <a:pPr marL="864000" marR="0" lvl="1" indent="-283994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>
              <a:solidFill>
                <a:srgbClr val="595959"/>
              </a:solidFill>
            </a:endParaRPr>
          </a:p>
          <a:p>
            <a:pPr marL="431999" marR="0" lvl="0" indent="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990000"/>
                </a:solidFill>
              </a:rPr>
              <a:t>var arr = new Array(1, 2, 3, 4, 5); //повече от едно число – елементи на масива</a:t>
            </a:r>
            <a:endParaRPr sz="1400" b="1" i="0" u="none" strike="noStrike" cap="none">
              <a:solidFill>
                <a:srgbClr val="990000"/>
              </a:solidFill>
            </a:endParaRPr>
          </a:p>
          <a:p>
            <a:pPr marL="431999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990000"/>
                </a:solidFill>
              </a:rPr>
              <a:t>var arr = new Array(10); //едно число – брой на елементите на масива, със стойност - undefined</a:t>
            </a:r>
            <a:endParaRPr sz="1400" b="1" i="0" u="none" strike="noStrike" cap="none">
              <a:solidFill>
                <a:srgbClr val="990000"/>
              </a:solidFill>
            </a:endParaRPr>
          </a:p>
          <a:p>
            <a:pPr marL="864000" marR="0" lvl="1" indent="-283994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0"/>
          <p:cNvSpPr/>
          <p:nvPr/>
        </p:nvSpPr>
        <p:spPr>
          <a:xfrm>
            <a:off x="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0"/>
          <p:cNvSpPr/>
          <p:nvPr/>
        </p:nvSpPr>
        <p:spPr>
          <a:xfrm>
            <a:off x="0" y="30240"/>
            <a:ext cx="9036496" cy="703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Деклариране и инициализиране на масиви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399" y="2407550"/>
            <a:ext cx="581650" cy="58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/>
          <p:nvPr/>
        </p:nvSpPr>
        <p:spPr>
          <a:xfrm>
            <a:off x="0" y="0"/>
            <a:ext cx="9143640" cy="51435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1"/>
          <p:cNvSpPr/>
          <p:nvPr/>
        </p:nvSpPr>
        <p:spPr>
          <a:xfrm>
            <a:off x="0" y="30240"/>
            <a:ext cx="8532440" cy="703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Достъпване елементите на масива</a:t>
            </a:r>
            <a:endParaRPr sz="2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/>
          <p:nvPr/>
        </p:nvSpPr>
        <p:spPr>
          <a:xfrm>
            <a:off x="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2"/>
          <p:cNvSpPr/>
          <p:nvPr/>
        </p:nvSpPr>
        <p:spPr>
          <a:xfrm>
            <a:off x="0" y="30240"/>
            <a:ext cx="8532440" cy="703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Достъпване елементите на масива</a:t>
            </a:r>
            <a:endParaRPr sz="2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2"/>
          <p:cNvSpPr txBox="1">
            <a:spLocks noGrp="1"/>
          </p:cNvSpPr>
          <p:nvPr>
            <p:ph type="body" idx="1"/>
          </p:nvPr>
        </p:nvSpPr>
        <p:spPr>
          <a:xfrm>
            <a:off x="311760" y="788021"/>
            <a:ext cx="8520120" cy="4144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Достъпваме и работим с елементите на масива </a:t>
            </a:r>
            <a:endParaRPr sz="1800" b="0" i="0" u="none" strike="noStrike" cap="non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arr</a:t>
            </a:r>
            <a:r>
              <a:rPr lang="en-US" sz="1800" b="1" i="0" u="none" strike="noStrike" cap="none">
                <a:solidFill>
                  <a:srgbClr val="FF0066"/>
                </a:solidFill>
                <a:latin typeface="Verdana"/>
                <a:ea typeface="Verdana"/>
                <a:cs typeface="Verdana"/>
                <a:sym typeface="Verdana"/>
              </a:rPr>
              <a:t>[index]</a:t>
            </a:r>
            <a:endParaRPr sz="1800" b="1" i="0" u="none" strike="noStrike" cap="none">
              <a:solidFill>
                <a:srgbClr val="FF0066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Задаваме/променяме стойност на елемент на масива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arr</a:t>
            </a:r>
            <a:r>
              <a:rPr lang="en-US" sz="1800" b="1" i="0" u="none" strike="noStrike" cap="none">
                <a:solidFill>
                  <a:srgbClr val="FF0066"/>
                </a:solidFill>
                <a:latin typeface="Verdana"/>
                <a:ea typeface="Verdana"/>
                <a:cs typeface="Verdana"/>
                <a:sym typeface="Verdana"/>
              </a:rPr>
              <a:t>[index] = some value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FF0066"/>
              </a:buClr>
              <a:buSzPts val="81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FF0066"/>
                </a:solidFill>
                <a:latin typeface="Verdana"/>
                <a:ea typeface="Verdana"/>
                <a:cs typeface="Verdana"/>
                <a:sym typeface="Verdana"/>
              </a:rPr>
              <a:t>index = 0 до arr.length-1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1" i="0" u="none" strike="noStrike" cap="none">
              <a:solidFill>
                <a:srgbClr val="FF0066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Добавяме елемент на масива </a:t>
            </a:r>
            <a:endParaRPr sz="1800" b="0" i="0" u="none" strike="noStrike" cap="non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arr</a:t>
            </a:r>
            <a:r>
              <a:rPr lang="en-US" sz="1800" b="1" i="0" u="none" strike="noStrike" cap="none">
                <a:solidFill>
                  <a:srgbClr val="FF0066"/>
                </a:solidFill>
                <a:latin typeface="Verdana"/>
                <a:ea typeface="Verdana"/>
                <a:cs typeface="Verdana"/>
                <a:sym typeface="Verdana"/>
              </a:rPr>
              <a:t>[index] = some new element in array</a:t>
            </a:r>
            <a:endParaRPr sz="1800" b="1" i="0" u="none" strike="noStrike" cap="none">
              <a:solidFill>
                <a:srgbClr val="FF0066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                                                                                                                             </a:t>
            </a:r>
            <a:r>
              <a:rPr lang="en-US" sz="10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                                                                                                                                                                                         </a:t>
            </a:r>
            <a:endParaRPr sz="1000" b="0" i="0" u="none" strike="noStrike" cap="non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/>
          <p:nvPr/>
        </p:nvSpPr>
        <p:spPr>
          <a:xfrm>
            <a:off x="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3"/>
          <p:cNvSpPr/>
          <p:nvPr/>
        </p:nvSpPr>
        <p:spPr>
          <a:xfrm>
            <a:off x="0" y="30240"/>
            <a:ext cx="8532440" cy="703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Достъпване елементите на масива - 2</a:t>
            </a:r>
            <a:endParaRPr sz="2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3"/>
          <p:cNvSpPr txBox="1">
            <a:spLocks noGrp="1"/>
          </p:cNvSpPr>
          <p:nvPr>
            <p:ph type="body" idx="1"/>
          </p:nvPr>
        </p:nvSpPr>
        <p:spPr>
          <a:xfrm>
            <a:off x="311760" y="893181"/>
            <a:ext cx="8520120" cy="393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arr.push()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arr.unshift()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Задача: Обърнете елементите на масив с помощта на </a:t>
            </a:r>
            <a:endParaRPr sz="1800" b="0" i="0" u="none" strike="noStrike" cap="non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	- push()</a:t>
            </a:r>
            <a:endParaRPr sz="1800" b="0" i="0" u="none" strike="noStrike" cap="non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	- unshift() </a:t>
            </a:r>
            <a:endParaRPr sz="1800" b="0" i="0" u="none" strike="noStrike" cap="non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първия елемент да стане с най-голям индекс, втория с предпоследен индекс и т.н.</a:t>
            </a:r>
            <a:endParaRPr sz="1800" b="0" i="0" u="none" strike="noStrike" cap="non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/>
          <p:nvPr/>
        </p:nvSpPr>
        <p:spPr>
          <a:xfrm>
            <a:off x="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4"/>
          <p:cNvSpPr/>
          <p:nvPr/>
        </p:nvSpPr>
        <p:spPr>
          <a:xfrm>
            <a:off x="0" y="30240"/>
            <a:ext cx="8532440" cy="703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Достъпване елементите на масива - 3</a:t>
            </a:r>
            <a:endParaRPr sz="2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4"/>
          <p:cNvSpPr txBox="1">
            <a:spLocks noGrp="1"/>
          </p:cNvSpPr>
          <p:nvPr>
            <p:ph type="body" idx="1"/>
          </p:nvPr>
        </p:nvSpPr>
        <p:spPr>
          <a:xfrm>
            <a:off x="311760" y="1349716"/>
            <a:ext cx="8520120" cy="3021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Итериране на масива с for/for-in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FF0066"/>
              </a:buClr>
              <a:buSzPts val="81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FF0066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-US" sz="18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 – когато индексите са последователни и известни</a:t>
            </a:r>
            <a:endParaRPr sz="1800" b="0" i="0" u="none" strike="noStrike" cap="non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FF0066"/>
              </a:buClr>
              <a:buSzPts val="81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FF0066"/>
                </a:solidFill>
                <a:latin typeface="Verdana"/>
                <a:ea typeface="Verdana"/>
                <a:cs typeface="Verdana"/>
                <a:sym typeface="Verdana"/>
              </a:rPr>
              <a:t>For-in</a:t>
            </a:r>
            <a:r>
              <a:rPr lang="en-US" sz="18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 – когато не знаем индексите на масива и/или не са последователни</a:t>
            </a:r>
            <a:endParaRPr sz="1800" b="0" i="0" u="none" strike="noStrike" cap="non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/>
          <p:nvPr/>
        </p:nvSpPr>
        <p:spPr>
          <a:xfrm>
            <a:off x="360" y="0"/>
            <a:ext cx="9143640" cy="51435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Добавяне/премахване на елементи на масива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6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4157279" cy="610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endParaRPr sz="1200" b="1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None/>
            </a:pPr>
            <a:endParaRPr sz="16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1" name="Google Shape;191;p36"/>
          <p:cNvSpPr txBox="1">
            <a:spLocks noGrp="1"/>
          </p:cNvSpPr>
          <p:nvPr>
            <p:ph type="body" idx="4294967295"/>
          </p:nvPr>
        </p:nvSpPr>
        <p:spPr>
          <a:xfrm>
            <a:off x="251520" y="1131590"/>
            <a:ext cx="8582879" cy="3436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Масивите са динамични – в процеса на изпълнение на скрипта може да добавяме/премахваме елементи.</a:t>
            </a:r>
            <a:endParaRPr sz="1800" b="0" i="0" u="none" strike="noStrike" cap="non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Array.push() – добавя елемент в края на масива</a:t>
            </a:r>
            <a:endParaRPr/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Array.pop() – премахва последния елемент в масива, връща премахнатия елемент.</a:t>
            </a:r>
            <a:endParaRPr/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Delete array[index] – изтрива стойността на съответния елемент, но не и самия елемент</a:t>
            </a:r>
            <a:endParaRPr/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Премахваме всички елементи от масив</a:t>
            </a:r>
            <a:endParaRPr/>
          </a:p>
          <a:p>
            <a:pPr marL="864000" marR="0" lvl="1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Arr.length = 0;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36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Добавяне/премахване на елементи на масива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4157279" cy="610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endParaRPr sz="1200" b="1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None/>
            </a:pPr>
            <a:endParaRPr sz="16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8" name="Google Shape;198;p37"/>
          <p:cNvSpPr txBox="1">
            <a:spLocks noGrp="1"/>
          </p:cNvSpPr>
          <p:nvPr>
            <p:ph type="body" idx="4294967295"/>
          </p:nvPr>
        </p:nvSpPr>
        <p:spPr>
          <a:xfrm>
            <a:off x="251520" y="1131590"/>
            <a:ext cx="8582879" cy="3436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rPr>
              <a:t>Масивите са динамични – в процеса на изпълнение на скрипта може да добавяме/премахваме елементи.</a:t>
            </a:r>
            <a:endParaRPr sz="1800" b="0" i="0" u="none" strike="noStrike" cap="non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Array.unshift(element) </a:t>
            </a:r>
            <a:r>
              <a:rPr lang="en-US" sz="14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добавя елемент в началото на масива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3F3F3F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Array.shift() – премахва първия елемент в масива, връща премахнатия елемент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272565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360" y="0"/>
            <a:ext cx="9143640" cy="763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Добавяне/премахване на елементи на масива - 2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>
            <a:spLocks noGrp="1"/>
          </p:cNvSpPr>
          <p:nvPr>
            <p:ph type="title" idx="4294967295"/>
          </p:nvPr>
        </p:nvSpPr>
        <p:spPr>
          <a:xfrm>
            <a:off x="0" y="-20538"/>
            <a:ext cx="9144000" cy="516403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JS функции за манипулация на масиви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>
            <a:spLocks noGrp="1"/>
          </p:cNvSpPr>
          <p:nvPr>
            <p:ph type="title" idx="4294967295"/>
          </p:nvPr>
        </p:nvSpPr>
        <p:spPr>
          <a:xfrm>
            <a:off x="0" y="-20538"/>
            <a:ext cx="9144000" cy="72008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JS функции за манипулация на масиви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9"/>
          <p:cNvSpPr txBox="1">
            <a:spLocks noGrp="1"/>
          </p:cNvSpPr>
          <p:nvPr>
            <p:ph type="body" idx="4294967295"/>
          </p:nvPr>
        </p:nvSpPr>
        <p:spPr>
          <a:xfrm>
            <a:off x="299880" y="1265759"/>
            <a:ext cx="8520120" cy="395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810"/>
              <a:buFont typeface="Noto Sans Symbols"/>
              <a:buChar char="●"/>
            </a:pPr>
            <a:r>
              <a:rPr lang="en-US" sz="1800" b="1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Array.reverse()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обръща реда/индексите/ на елементите;</a:t>
            </a:r>
            <a:endParaRPr/>
          </a:p>
          <a:p>
            <a:pPr marL="864000" marR="0" lvl="1" indent="-32400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Връща нов масив;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B0F0"/>
              </a:buClr>
              <a:buSzPts val="810"/>
              <a:buFont typeface="Noto Sans Symbols"/>
              <a:buChar char="●"/>
            </a:pPr>
            <a:r>
              <a:rPr lang="en-US" sz="1800" b="1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Array.join(separator)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864000" marR="0" lvl="1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Конкатенира елементите на масив /с разделител между тях/</a:t>
            </a:r>
            <a:endParaRPr/>
          </a:p>
          <a:p>
            <a:pPr marL="864000" marR="0" lvl="1" indent="-32400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Връща стринг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B0F0"/>
              </a:buClr>
              <a:buSzPts val="810"/>
              <a:buFont typeface="Noto Sans Symbols"/>
              <a:buChar char="●"/>
            </a:pPr>
            <a:r>
              <a:rPr lang="en-US" sz="1800" b="1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arr1.concat(arr2)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864000" marR="0" lvl="1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добавя елементите на arr2 в края на arr1</a:t>
            </a:r>
            <a:endParaRPr/>
          </a:p>
          <a:p>
            <a:pPr marL="864000" marR="0" lvl="1" indent="-32400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Връща нов масив. arr1 и arr2 не се променят! 		</a:t>
            </a:r>
            <a:endParaRPr sz="1800" b="1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0"/>
          <p:cNvSpPr txBox="1">
            <a:spLocks noGrp="1"/>
          </p:cNvSpPr>
          <p:nvPr>
            <p:ph type="title" idx="4294967295"/>
          </p:nvPr>
        </p:nvSpPr>
        <p:spPr>
          <a:xfrm>
            <a:off x="0" y="-20538"/>
            <a:ext cx="9144000" cy="72008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JS функции за манипулация на масиви - 2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0"/>
          <p:cNvSpPr txBox="1">
            <a:spLocks noGrp="1"/>
          </p:cNvSpPr>
          <p:nvPr>
            <p:ph type="body" idx="4294967295"/>
          </p:nvPr>
        </p:nvSpPr>
        <p:spPr>
          <a:xfrm>
            <a:off x="299880" y="1059582"/>
            <a:ext cx="8520120" cy="4160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864000" marR="0" lvl="1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Добавяне на елементите на един масив към друг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95999" marR="0" lvl="2" indent="-287999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–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 arr1 = [1, 2, 3];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95999" marR="0" lvl="2" indent="-287999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–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 arr2 = ["one", "two", "three"];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95999" marR="0" lvl="2" indent="-287999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B0F0"/>
              </a:buClr>
              <a:buSzPts val="1350"/>
              <a:buFont typeface="Noto Sans Symbols"/>
              <a:buChar char="–"/>
            </a:pPr>
            <a:r>
              <a:rPr lang="en-US" sz="1800" b="1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[].push.apply(arr1, arr2); </a:t>
            </a:r>
            <a:endParaRPr sz="1800" b="1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Array.slice(fromIndex [, toIndex])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95999" marR="0" lvl="2" indent="-287999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–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Връща нов масив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95999" marR="0" lvl="2" indent="-287999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–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Копие на част от масива, съдържащо елементите с индекси от fromIndex до (без да включва toIndex).</a:t>
            </a:r>
            <a:endParaRPr/>
          </a:p>
          <a:p>
            <a:pPr marL="1295999" marR="0" lvl="2" indent="-287999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–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Може да използвате за клониране на масив</a:t>
            </a:r>
            <a:r>
              <a:rPr lang="en-US" sz="1800" b="1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272565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1"/>
          <p:cNvSpPr txBox="1">
            <a:spLocks noGrp="1"/>
          </p:cNvSpPr>
          <p:nvPr>
            <p:ph type="title" idx="4294967295"/>
          </p:nvPr>
        </p:nvSpPr>
        <p:spPr>
          <a:xfrm>
            <a:off x="0" y="-20538"/>
            <a:ext cx="9144000" cy="72008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JS функции за манипулация на масиви - 3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1"/>
          <p:cNvSpPr txBox="1">
            <a:spLocks noGrp="1"/>
          </p:cNvSpPr>
          <p:nvPr>
            <p:ph type="body" idx="4294967295"/>
          </p:nvPr>
        </p:nvSpPr>
        <p:spPr>
          <a:xfrm>
            <a:off x="299880" y="1265759"/>
            <a:ext cx="8520120" cy="395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Array.splice(index, count, elements)</a:t>
            </a:r>
            <a:endParaRPr/>
          </a:p>
          <a:p>
            <a:pPr marL="1295999" marR="0" lvl="2" indent="-287999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–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Премахва елемент/и, от който и да е index на масива, като посочваме колко елемента да премахне</a:t>
            </a:r>
            <a:endParaRPr/>
          </a:p>
          <a:p>
            <a:pPr marL="1512000" marR="0" lvl="3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Премахва един елемент на позиция index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B0F0"/>
              </a:buClr>
              <a:buSzPts val="630"/>
              <a:buFont typeface="Noto Sans Symbols"/>
              <a:buNone/>
            </a:pPr>
            <a:r>
              <a:rPr lang="en-US" sz="1400" b="1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items.splice(index, 1); </a:t>
            </a:r>
            <a:endParaRPr sz="1400" b="1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Премахва посочения брой елементи на позиция index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B0F0"/>
              </a:buClr>
              <a:buSzPts val="630"/>
              <a:buFont typeface="Noto Sans Symbols"/>
              <a:buNone/>
            </a:pPr>
            <a:r>
              <a:rPr lang="en-US" sz="1400" b="1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items.splice(index, count);</a:t>
            </a:r>
            <a:endParaRPr sz="1400" b="1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1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B0F0"/>
              </a:buClr>
              <a:buSzPts val="630"/>
              <a:buFont typeface="Noto Sans Symbols"/>
              <a:buNone/>
            </a:pPr>
            <a:r>
              <a:rPr lang="en-US" sz="1400" b="1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Пробвайте – какво се случва с оригиналния масив и какво връща splice?</a:t>
            </a:r>
            <a:endParaRPr sz="1400" b="1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1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26685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2"/>
          <p:cNvSpPr txBox="1">
            <a:spLocks noGrp="1"/>
          </p:cNvSpPr>
          <p:nvPr>
            <p:ph type="title" idx="4294967295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JS функции за манипулация на масиви - 4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2"/>
          <p:cNvSpPr txBox="1">
            <a:spLocks noGrp="1"/>
          </p:cNvSpPr>
          <p:nvPr>
            <p:ph type="body" idx="4294967295"/>
          </p:nvPr>
        </p:nvSpPr>
        <p:spPr>
          <a:xfrm>
            <a:off x="299880" y="1265759"/>
            <a:ext cx="8520120" cy="395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810"/>
              <a:buFont typeface="Noto Sans Symbols"/>
              <a:buChar char="●"/>
            </a:pPr>
            <a:r>
              <a:rPr lang="en-US" sz="1800" b="0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Array.splice</a:t>
            </a:r>
            <a:endParaRPr sz="1800" b="0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Добавяне на елемент на позиция index в масива.</a:t>
            </a:r>
            <a:endParaRPr/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items.splice(index, 0, element)</a:t>
            </a:r>
            <a:endParaRPr/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Добавяне на елементи, започвайки от позиция index.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items.splice(index, 0, el1, el2)</a:t>
            </a:r>
            <a:endParaRPr/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/>
          <p:cNvSpPr txBox="1">
            <a:spLocks noGrp="1"/>
          </p:cNvSpPr>
          <p:nvPr>
            <p:ph type="title" idx="4294967295"/>
          </p:nvPr>
        </p:nvSpPr>
        <p:spPr>
          <a:xfrm>
            <a:off x="0" y="-16874"/>
            <a:ext cx="9144000" cy="716416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JS функции за манипулация на масиви 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3"/>
          <p:cNvSpPr txBox="1">
            <a:spLocks noGrp="1"/>
          </p:cNvSpPr>
          <p:nvPr>
            <p:ph type="body" idx="4294967295"/>
          </p:nvPr>
        </p:nvSpPr>
        <p:spPr>
          <a:xfrm>
            <a:off x="299880" y="1265759"/>
            <a:ext cx="8520120" cy="395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810"/>
              <a:buFont typeface="Noto Sans Symbols"/>
              <a:buChar char="●"/>
            </a:pPr>
            <a:r>
              <a:rPr lang="en-US" sz="1800" b="0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Array.splice</a:t>
            </a:r>
            <a:endParaRPr sz="1800" b="0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Добавяне на елемент на позиция index в масива.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 myFish = ['angel', 'clown', 'mandarin', 'sturgeon'];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myFish.splice(2, 0, 'drum');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B0F0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// insert 'drum' at 2-index position </a:t>
            </a:r>
            <a:endParaRPr sz="1800" b="0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B0F0"/>
              </a:buClr>
              <a:buSzPts val="81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// myFish is ["angel", "clown", "drum", "mandarin", "sturgeon"] </a:t>
            </a:r>
            <a:endParaRPr sz="1800" b="0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12000" marR="0" lvl="3" indent="0" algn="l" rtl="0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None/>
            </a:pPr>
            <a:endParaRPr sz="1800" b="0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4"/>
          <p:cNvSpPr txBox="1">
            <a:spLocks noGrp="1"/>
          </p:cNvSpPr>
          <p:nvPr>
            <p:ph type="title" idx="4294967295"/>
          </p:nvPr>
        </p:nvSpPr>
        <p:spPr>
          <a:xfrm>
            <a:off x="0" y="-20538"/>
            <a:ext cx="9144000" cy="64807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JS функции за манипулация на масиви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4"/>
          <p:cNvSpPr txBox="1">
            <a:spLocks noGrp="1"/>
          </p:cNvSpPr>
          <p:nvPr>
            <p:ph type="body" idx="4294967295"/>
          </p:nvPr>
        </p:nvSpPr>
        <p:spPr>
          <a:xfrm>
            <a:off x="299880" y="1265759"/>
            <a:ext cx="8520120" cy="395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630"/>
              <a:buFont typeface="Noto Sans Symbols"/>
              <a:buChar char="●"/>
            </a:pPr>
            <a:r>
              <a:rPr lang="en-US" sz="1400" b="1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Array.indexOf(element [, rightOf])</a:t>
            </a:r>
            <a:endParaRPr/>
          </a:p>
          <a:p>
            <a:pPr marL="864000" marR="0" lvl="1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Връща индекса на първия елемент, равен на търсения//</a:t>
            </a:r>
            <a:r>
              <a:rPr lang="en-US" sz="1400" b="1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1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95999" marR="0" lvl="2" indent="-287999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B0F0"/>
              </a:buClr>
              <a:buSzPts val="1050"/>
              <a:buFont typeface="Noto Sans Symbols"/>
              <a:buChar char="–"/>
            </a:pPr>
            <a:r>
              <a:rPr lang="en-US" sz="1400" b="1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rightOf – откъде да започне търсенето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Връща  -1, ако няма такъв елемент в масива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Array.lastIndexOf(element, [leftOf])</a:t>
            </a:r>
            <a:endParaRPr/>
          </a:p>
          <a:p>
            <a:pPr marL="864000" marR="0" lvl="1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Връща индекса, на първия елемент, отговарящ на търсенето</a:t>
            </a:r>
            <a:endParaRPr/>
          </a:p>
          <a:p>
            <a:pPr marL="864000" marR="0" lvl="1" indent="-32400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B0F0"/>
              </a:buClr>
              <a:buSzPts val="630"/>
              <a:buFont typeface="Noto Sans Symbols"/>
              <a:buChar char="●"/>
            </a:pPr>
            <a:r>
              <a:rPr lang="en-US" sz="1400" b="1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leftOf – откъде да започне търсенето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Връща -1, ако няма такъв елемент в масива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1" indent="-32400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FF0000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Array.indexOf() и Array.lastIndexOf() не работят на всички браузъри!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27534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JS функции за манипулация на масиви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5"/>
          <p:cNvSpPr txBox="1">
            <a:spLocks noGrp="1"/>
          </p:cNvSpPr>
          <p:nvPr>
            <p:ph type="body" idx="4294967295"/>
          </p:nvPr>
        </p:nvSpPr>
        <p:spPr>
          <a:xfrm>
            <a:off x="299880" y="1265759"/>
            <a:ext cx="8520120" cy="395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Официалната документация за масиви: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lang="en-US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https://developer.mozilla.org/en-US/docs/Web/JavaScript/Reference/Global_Objects/Array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Как да потвърдим, че променливата е масив - </a:t>
            </a:r>
            <a:r>
              <a:rPr lang="en-US" sz="1400" b="1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array</a:t>
            </a:r>
            <a:endParaRPr sz="1400" b="1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typeof([1, 2, 3]) // резултат - object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FF0000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Array.isArray([1, 2, 3]) // резултат – true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Array.isArray(‘string’) // резултат – false</a:t>
            </a:r>
            <a:endParaRPr/>
          </a:p>
          <a:p>
            <a:pPr marL="864000" marR="0" lvl="1" indent="-283994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0000" marR="0" lvl="1" indent="0" algn="l" rtl="0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 sz="1400" b="0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6"/>
          <p:cNvSpPr/>
          <p:nvPr/>
        </p:nvSpPr>
        <p:spPr>
          <a:xfrm>
            <a:off x="0" y="0"/>
            <a:ext cx="9143658" cy="51435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</a:rPr>
              <a:t>Обекти</a:t>
            </a:r>
            <a:r>
              <a:rPr lang="en-US" sz="3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в JS</a:t>
            </a:r>
            <a:endParaRPr sz="32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7"/>
          <p:cNvSpPr/>
          <p:nvPr/>
        </p:nvSpPr>
        <p:spPr>
          <a:xfrm>
            <a:off x="0" y="0"/>
            <a:ext cx="9143658" cy="7639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7"/>
          <p:cNvSpPr/>
          <p:nvPr/>
        </p:nvSpPr>
        <p:spPr>
          <a:xfrm>
            <a:off x="0" y="30240"/>
            <a:ext cx="6805080" cy="70345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FFFFFF"/>
                </a:solidFill>
              </a:rPr>
              <a:t>Обекти</a:t>
            </a: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в JS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97862"/>
            <a:ext cx="9144001" cy="2452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8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7999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r>
              <a:rPr lang="en-US"/>
              <a:t>myObject = {} </a:t>
            </a:r>
            <a:r>
              <a:rPr lang="en-US" b="1">
                <a:solidFill>
                  <a:schemeClr val="accent3"/>
                </a:solidFill>
              </a:rPr>
              <a:t>//	декларираме променлива, тип обект</a:t>
            </a:r>
            <a:endParaRPr b="1">
              <a:solidFill>
                <a:schemeClr val="accent3"/>
              </a:solidFill>
            </a:endParaRPr>
          </a:p>
          <a:p>
            <a:pPr marL="107999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r>
              <a:rPr lang="en-US"/>
              <a:t>myObject = { property1: 10,</a:t>
            </a:r>
            <a:endParaRPr/>
          </a:p>
          <a:p>
            <a:pPr marL="1022399" marR="0" lvl="0" indent="34920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r>
              <a:rPr lang="en-US"/>
              <a:t>property2: ‘anotherValue’,</a:t>
            </a:r>
            <a:endParaRPr/>
          </a:p>
          <a:p>
            <a:pPr marL="1022399" marR="0" lvl="0" indent="34920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r>
              <a:rPr lang="en-US"/>
              <a:t>property3: true } </a:t>
            </a:r>
            <a:r>
              <a:rPr lang="en-US" b="1">
                <a:solidFill>
                  <a:schemeClr val="accent3"/>
                </a:solidFill>
              </a:rPr>
              <a:t>//декларираме свойствата на обекта</a:t>
            </a:r>
            <a:endParaRPr b="1">
              <a:solidFill>
                <a:schemeClr val="accent3"/>
              </a:solidFill>
            </a:endParaRPr>
          </a:p>
          <a:p>
            <a:pPr marL="1022399" marR="0" lvl="0" indent="34920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r>
              <a:rPr lang="en-US"/>
              <a:t>console.log(myObject.property1)</a:t>
            </a:r>
            <a:r>
              <a:rPr lang="en-US" b="1">
                <a:solidFill>
                  <a:schemeClr val="accent3"/>
                </a:solidFill>
              </a:rPr>
              <a:t>//10</a:t>
            </a:r>
            <a:endParaRPr b="1">
              <a:solidFill>
                <a:schemeClr val="accent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r>
              <a:rPr lang="en-US"/>
              <a:t>myObject.newProperty = 123654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r>
              <a:rPr lang="en-US"/>
              <a:t>console/log(</a:t>
            </a:r>
            <a:r>
              <a:rPr lang="en-US">
                <a:solidFill>
                  <a:schemeClr val="dk1"/>
                </a:solidFill>
              </a:rPr>
              <a:t>myObject.newProperty</a:t>
            </a:r>
            <a:r>
              <a:rPr lang="en-US"/>
              <a:t>)</a:t>
            </a:r>
            <a:r>
              <a:rPr lang="en-US" b="1">
                <a:solidFill>
                  <a:schemeClr val="accent3"/>
                </a:solidFill>
              </a:rPr>
              <a:t>//123654</a:t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264" name="Google Shape;264;p48"/>
          <p:cNvSpPr/>
          <p:nvPr/>
        </p:nvSpPr>
        <p:spPr>
          <a:xfrm>
            <a:off x="0" y="0"/>
            <a:ext cx="9143658" cy="7639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8"/>
          <p:cNvSpPr/>
          <p:nvPr/>
        </p:nvSpPr>
        <p:spPr>
          <a:xfrm>
            <a:off x="0" y="30240"/>
            <a:ext cx="6805080" cy="70345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FFFFFF"/>
                </a:solidFill>
              </a:rPr>
              <a:t>Обекти</a:t>
            </a: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в JS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9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var object1 =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a: 'somestring',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b: 42,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c: false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for (var property in object1)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if (object1.hasOwnProperty(property))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</a:t>
            </a:r>
            <a:r>
              <a:rPr lang="en-US" b="1">
                <a:solidFill>
                  <a:schemeClr val="accent3"/>
                </a:solidFill>
              </a:rPr>
              <a:t>console.log(object1[property])</a:t>
            </a:r>
            <a:endParaRPr b="1">
              <a:solidFill>
                <a:schemeClr val="accent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}</a:t>
            </a:r>
            <a:r>
              <a:rPr lang="en-US">
                <a:solidFill>
                  <a:srgbClr val="8BC34A"/>
                </a:solidFill>
              </a:rPr>
              <a:t>’something’, 42, false</a:t>
            </a:r>
            <a:endParaRPr>
              <a:solidFill>
                <a:srgbClr val="8BC34A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/>
          </a:p>
        </p:txBody>
      </p:sp>
      <p:sp>
        <p:nvSpPr>
          <p:cNvPr id="271" name="Google Shape;271;p49"/>
          <p:cNvSpPr/>
          <p:nvPr/>
        </p:nvSpPr>
        <p:spPr>
          <a:xfrm>
            <a:off x="0" y="0"/>
            <a:ext cx="9143658" cy="7639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9"/>
          <p:cNvSpPr/>
          <p:nvPr/>
        </p:nvSpPr>
        <p:spPr>
          <a:xfrm>
            <a:off x="0" y="30240"/>
            <a:ext cx="6805080" cy="70345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FFFFFF"/>
                </a:solidFill>
              </a:rPr>
              <a:t>Обекти</a:t>
            </a: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в JS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0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var object1 =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a: 'somestring',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b: 42,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c: false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console.log(Object.</a:t>
            </a:r>
            <a:r>
              <a:rPr lang="en-US">
                <a:solidFill>
                  <a:schemeClr val="accent3"/>
                </a:solidFill>
              </a:rPr>
              <a:t>keys</a:t>
            </a:r>
            <a:r>
              <a:rPr lang="en-US"/>
              <a:t>(object1));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r>
              <a:rPr lang="en-US">
                <a:solidFill>
                  <a:schemeClr val="accent3"/>
                </a:solidFill>
              </a:rPr>
              <a:t>// expected output: Array ["a", "b", "c"]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278" name="Google Shape;278;p50"/>
          <p:cNvSpPr/>
          <p:nvPr/>
        </p:nvSpPr>
        <p:spPr>
          <a:xfrm>
            <a:off x="0" y="0"/>
            <a:ext cx="9143658" cy="7639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0"/>
          <p:cNvSpPr/>
          <p:nvPr/>
        </p:nvSpPr>
        <p:spPr>
          <a:xfrm>
            <a:off x="0" y="30240"/>
            <a:ext cx="6805080" cy="70345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FFFFFF"/>
                </a:solidFill>
              </a:rPr>
              <a:t>Обекти</a:t>
            </a: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в JS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1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var fruits =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apple: 28,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orange: 17,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pear: 54,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var values = Object.values(fruits)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console.log(values) // [28, 17, 54]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/>
          </a:p>
        </p:txBody>
      </p:sp>
      <p:sp>
        <p:nvSpPr>
          <p:cNvPr id="285" name="Google Shape;285;p51"/>
          <p:cNvSpPr/>
          <p:nvPr/>
        </p:nvSpPr>
        <p:spPr>
          <a:xfrm>
            <a:off x="0" y="0"/>
            <a:ext cx="9143658" cy="7639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1"/>
          <p:cNvSpPr/>
          <p:nvPr/>
        </p:nvSpPr>
        <p:spPr>
          <a:xfrm>
            <a:off x="0" y="30240"/>
            <a:ext cx="6805080" cy="70345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FFFFFF"/>
                </a:solidFill>
              </a:rPr>
              <a:t>Обекти</a:t>
            </a: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в JS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2"/>
          <p:cNvSpPr txBox="1">
            <a:spLocks noGrp="1"/>
          </p:cNvSpPr>
          <p:nvPr>
            <p:ph type="body" idx="4294967295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const fruits =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apple: 28,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orange: 17,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pear: 54,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const entries = Object.entries(fruits)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console.log(entries)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// [//   [apple, 28],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//   [orange, 17],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//   [pear, 54] ]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None/>
            </a:pPr>
            <a:endParaRPr/>
          </a:p>
        </p:txBody>
      </p:sp>
      <p:sp>
        <p:nvSpPr>
          <p:cNvPr id="292" name="Google Shape;292;p52"/>
          <p:cNvSpPr/>
          <p:nvPr/>
        </p:nvSpPr>
        <p:spPr>
          <a:xfrm>
            <a:off x="0" y="0"/>
            <a:ext cx="9143658" cy="7639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52"/>
          <p:cNvSpPr/>
          <p:nvPr/>
        </p:nvSpPr>
        <p:spPr>
          <a:xfrm>
            <a:off x="0" y="30240"/>
            <a:ext cx="6805080" cy="70345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FFFFFF"/>
                </a:solidFill>
              </a:rPr>
              <a:t>Обекти</a:t>
            </a: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в JS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о подразбиране">
  <a:themeElements>
    <a:clrScheme name="О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По подразбиране 1">
  <a:themeElements>
    <a:clrScheme name="О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тема">
  <a:themeElements>
    <a:clrScheme name="О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952</Words>
  <Application>Microsoft Office PowerPoint</Application>
  <PresentationFormat>Презентация на цял екран (16:9)</PresentationFormat>
  <Paragraphs>197</Paragraphs>
  <Slides>28</Slides>
  <Notes>28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Заглавия на слайдовете</vt:lpstr>
      </vt:variant>
      <vt:variant>
        <vt:i4>28</vt:i4>
      </vt:variant>
    </vt:vector>
  </HeadingPairs>
  <TitlesOfParts>
    <vt:vector size="36" baseType="lpstr">
      <vt:lpstr>Arial</vt:lpstr>
      <vt:lpstr>Verdana</vt:lpstr>
      <vt:lpstr>Calibri</vt:lpstr>
      <vt:lpstr>Noto Sans Symbols</vt:lpstr>
      <vt:lpstr>Syncopate</vt:lpstr>
      <vt:lpstr>Times New Roman</vt:lpstr>
      <vt:lpstr>По подразбиране</vt:lpstr>
      <vt:lpstr>По подразбиране 1</vt:lpstr>
      <vt:lpstr>УЕБ РАЗРАБОТКА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 JS функции за манипулация на масиви</vt:lpstr>
      <vt:lpstr> JS функции за манипулация на масиви</vt:lpstr>
      <vt:lpstr> JS функции за манипулация на масиви - 2</vt:lpstr>
      <vt:lpstr> JS функции за манипулация на масиви - 3</vt:lpstr>
      <vt:lpstr> JS функции за манипулация на масиви - 4</vt:lpstr>
      <vt:lpstr> JS функции за манипулация на масиви </vt:lpstr>
      <vt:lpstr> JS функции за манипулация на масиви</vt:lpstr>
      <vt:lpstr> JS функции за манипулация на масиви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УЕБ РАЗРАБОТКА</dc:title>
  <dc:creator>Milena</dc:creator>
  <cp:lastModifiedBy>Ariel</cp:lastModifiedBy>
  <cp:revision>1</cp:revision>
  <dcterms:modified xsi:type="dcterms:W3CDTF">2019-04-17T15:33:09Z</dcterms:modified>
</cp:coreProperties>
</file>