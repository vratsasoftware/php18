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5143500" type="screen16x9"/>
  <p:notesSz cx="6858000" cy="9144000"/>
  <p:embeddedFontLst>
    <p:embeddedFont>
      <p:font typeface="Syncopate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94" autoAdjust="0"/>
    <p:restoredTop sz="94580" autoAdjust="0"/>
  </p:normalViewPr>
  <p:slideViewPr>
    <p:cSldViewPr>
      <p:cViewPr>
        <p:scale>
          <a:sx n="103" d="100"/>
          <a:sy n="103" d="100"/>
        </p:scale>
        <p:origin x="-936" y="-1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806824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0" name="Shape 2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5" name="Shape 2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3" name="Shape 2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0" name="Shape 2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7" cy="1482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7" cy="123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fld id="{00000000-1234-1234-1234-123412341234}" type="slidenum"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query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w3schools.com/jquery/jquery_get_started.asp" TargetMode="External"/><Relationship Id="rId4" Type="http://schemas.openxmlformats.org/officeDocument/2006/relationships/hyperlink" Target="https://developers.google.com/speed/libraries/#jquery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query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jquery.com/using-jquery-core/selecting-element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Shape 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jQuery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въведение</a:t>
            </a:r>
          </a:p>
        </p:txBody>
      </p:sp>
      <p:pic>
        <p:nvPicPr>
          <p:cNvPr id="57" name="Shape 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59" y="497375"/>
            <a:ext cx="2981276" cy="12496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Shape 58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250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WEB РАЗРАБОТКА- </a:t>
            </a:r>
            <a:r>
              <a:rPr lang="en" sz="1400" b="1" i="0" u="none" strike="noStrike" cap="none" dirty="0" smtClean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11.201</a:t>
            </a:r>
            <a:r>
              <a:rPr lang="en-US" b="1" dirty="0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 dirty="0" smtClean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1" i="0" u="none" strike="noStrike" cap="none" dirty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- ВЕРСИЯ </a:t>
            </a:r>
            <a:r>
              <a:rPr lang="en-US" b="1" dirty="0">
                <a:solidFill>
                  <a:srgbClr val="CCCCCC"/>
                </a:solidFill>
              </a:rPr>
              <a:t>6</a:t>
            </a:r>
            <a:endParaRPr lang="en" sz="1400" b="1" i="0" u="none" strike="noStrike" cap="none" dirty="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jQuery?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Как да добавим jQuery към проекта си?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Ресурси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Селектиране и промяна на DOM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Char char="•"/>
            </a:pPr>
            <a:r>
              <a:rPr lang="en" sz="1400">
                <a:solidFill>
                  <a:srgbClr val="262626"/>
                </a:solidFill>
              </a:rPr>
              <a:t>Обхождане на DOM 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Char char="•"/>
            </a:pPr>
            <a:r>
              <a:rPr lang="en" sz="1400">
                <a:solidFill>
                  <a:srgbClr val="262626"/>
                </a:solidFill>
              </a:rPr>
              <a:t>Добавяне/премахване на елементи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Arial"/>
              <a:buChar char="•"/>
            </a:pPr>
            <a:r>
              <a:rPr lang="en" sz="1400">
                <a:solidFill>
                  <a:srgbClr val="262626"/>
                </a:solidFill>
              </a:rPr>
              <a:t>jQuery обекти и събития</a:t>
            </a:r>
          </a:p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262626"/>
              </a:solidFill>
            </a:endParaRPr>
          </a:p>
          <a:p>
            <a:pPr marL="2857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Shape 65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jQuery?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/>
        </p:nvSpPr>
        <p:spPr>
          <a:xfrm>
            <a:off x="0" y="0"/>
            <a:ext cx="9144000" cy="655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Shape 76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jQuery?</a:t>
            </a:r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599" cy="381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>
                <a:solidFill>
                  <a:srgbClr val="262626"/>
                </a:solidFill>
              </a:rPr>
              <a:t>Не е единствената JS библиотека, но е</a:t>
            </a: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Най-</a:t>
            </a:r>
            <a:r>
              <a:rPr lang="en">
                <a:solidFill>
                  <a:srgbClr val="262626"/>
                </a:solidFill>
              </a:rPr>
              <a:t>използваната</a:t>
            </a:r>
            <a:r>
              <a:rPr lang="en"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JS opensource библиотека</a:t>
            </a: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Осигурява cross-browser съвместимост </a:t>
            </a: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●"/>
            </a:pPr>
            <a:r>
              <a:rPr lang="en" sz="18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Улеснен синтаксис за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по-лесно обхождане и селектиране DOMелементите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създаване на анимации</a:t>
            </a:r>
          </a:p>
          <a:p>
            <a:pPr marL="914400" marR="0" lvl="1" indent="-3047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управляване събития</a:t>
            </a: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0" y="0"/>
            <a:ext cx="9144000" cy="655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Shape 83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jQuery?</a:t>
            </a:r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599" cy="381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sz="1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Char char="●"/>
            </a:pPr>
            <a:r>
              <a:rPr lang="en" sz="1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На какво дължи популярността си?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sz="14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Лесна за изучаване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sz="14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Лесна за разширяване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sz="14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Лека 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sz="14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Много хора допринасят за развиването и </a:t>
            </a:r>
          </a:p>
          <a:p>
            <a:pPr marL="615950" marR="0" lvl="1" indent="-6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поддръжката й</a:t>
            </a: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4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15950" marR="0" lvl="1" indent="-6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			!</a:t>
            </a:r>
            <a:r>
              <a:rPr lang="en" dirty="0">
                <a:solidFill>
                  <a:srgbClr val="262626"/>
                </a:solidFill>
              </a:rPr>
              <a:t>Не е достатъчна - няма да минете</a:t>
            </a:r>
          </a:p>
          <a:p>
            <a:pPr marL="615950" marR="0" lvl="1" indent="-6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dirty="0">
                <a:solidFill>
                  <a:srgbClr val="262626"/>
                </a:solidFill>
              </a:rPr>
              <a:t>			без </a:t>
            </a:r>
            <a:r>
              <a:rPr lang="en" dirty="0" smtClean="0">
                <a:solidFill>
                  <a:srgbClr val="262626"/>
                </a:solidFill>
              </a:rPr>
              <a:t>vanilla </a:t>
            </a:r>
            <a:r>
              <a:rPr lang="en" dirty="0">
                <a:solidFill>
                  <a:srgbClr val="262626"/>
                </a:solidFill>
              </a:rPr>
              <a:t>JS!</a:t>
            </a: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sz="1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Shape 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8064" y="1635645"/>
            <a:ext cx="3809999" cy="318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94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323528" y="221507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Добавяне на jQuery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Shape 96"/>
          <p:cNvSpPr txBox="1"/>
          <p:nvPr/>
        </p:nvSpPr>
        <p:spPr>
          <a:xfrm>
            <a:off x="0" y="57950"/>
            <a:ext cx="6805500" cy="6873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Добавяне на jQuery</a:t>
            </a:r>
          </a:p>
        </p:txBody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 sz="18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Добавяме файловете в проекта си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.</a:t>
            </a:r>
            <a:endParaRPr lang="en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lang="en" sz="18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Използваме cdn </a:t>
            </a:r>
            <a:endParaRPr lang="en" sz="1800" b="0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5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0C94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323528" y="1923678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Ресурси</a:t>
            </a:r>
            <a:br>
              <a:rPr lang="en" sz="3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" sz="3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7D0C9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Shape 108"/>
          <p:cNvSpPr txBox="1"/>
          <p:nvPr/>
        </p:nvSpPr>
        <p:spPr>
          <a:xfrm>
            <a:off x="0" y="57950"/>
            <a:ext cx="6805500" cy="687300"/>
          </a:xfrm>
          <a:prstGeom prst="rect">
            <a:avLst/>
          </a:prstGeom>
          <a:solidFill>
            <a:srgbClr val="7D0C94"/>
          </a:solidFill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ресурси</a:t>
            </a:r>
          </a:p>
        </p:txBody>
      </p:sp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469252" y="1022773"/>
            <a:ext cx="8135195" cy="409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2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https://jquery.com/</a:t>
            </a: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Zak Ruvalcaba, Anne Boehm - </a:t>
            </a:r>
            <a:r>
              <a:rPr lang="en" sz="1600" b="1" i="0" u="none" strike="noStrike" cap="none">
                <a:solidFill>
                  <a:srgbClr val="7D0C94"/>
                </a:solidFill>
                <a:latin typeface="Arial"/>
                <a:ea typeface="Arial"/>
                <a:cs typeface="Arial"/>
                <a:sym typeface="Arial"/>
              </a:rPr>
              <a:t>Murach's jQuery, 2nd edition </a:t>
            </a:r>
            <a:r>
              <a:rPr lang="en" sz="16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(Training &amp; Reference) - 2015</a:t>
            </a: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"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AC7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444650" y="1500025"/>
            <a:ext cx="8520599" cy="401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Селектори и промяна</a:t>
            </a:r>
            <a:b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 DOM eлементи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/>
        </p:nvSpPr>
        <p:spPr>
          <a:xfrm>
            <a:off x="0" y="0"/>
            <a:ext cx="9144000" cy="714899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Селекторите са подобни на JS селекторите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SzPct val="25000"/>
            </a:pPr>
            <a:r>
              <a:rPr lang="en" sz="1800" b="1" i="0" u="none" strike="noStrike" cap="none" dirty="0">
                <a:solidFill>
                  <a:srgbClr val="339966"/>
                </a:solidFill>
                <a:latin typeface="Arial"/>
                <a:ea typeface="Arial"/>
                <a:cs typeface="Arial"/>
                <a:sym typeface="Arial"/>
              </a:rPr>
              <a:t>$(selector</a:t>
            </a:r>
            <a:r>
              <a:rPr lang="en" sz="1800" b="1" dirty="0">
                <a:solidFill>
                  <a:srgbClr val="339966"/>
                </a:solidFill>
              </a:rPr>
              <a:t>) = </a:t>
            </a:r>
            <a:r>
              <a:rPr lang="en" sz="1800" b="1" dirty="0" smtClean="0">
                <a:solidFill>
                  <a:srgbClr val="339966"/>
                </a:solidFill>
              </a:rPr>
              <a:t>jQuery(selector</a:t>
            </a:r>
            <a:r>
              <a:rPr lang="en" sz="1800" b="1" dirty="0">
                <a:solidFill>
                  <a:srgbClr val="339966"/>
                </a:solidFill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lang="en" sz="1800" b="1" i="0" u="none" strike="noStrike" cap="none" dirty="0">
              <a:solidFill>
                <a:srgbClr val="3399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1" i="0" u="none" strike="noStrike" cap="none" dirty="0">
              <a:solidFill>
                <a:srgbClr val="3399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//by tag 			//by id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$("div") 			$("#navigation")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//by class 		//by combination of selectors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$(".menu-item") 		$("ul.menu li")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Shape 121"/>
          <p:cNvSpPr txBox="1"/>
          <p:nvPr/>
        </p:nvSpPr>
        <p:spPr>
          <a:xfrm>
            <a:off x="428274" y="0"/>
            <a:ext cx="7384084" cy="71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Селектори и промяна на DOM елементи 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0" y="0"/>
            <a:ext cx="9144000" cy="714899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323528" y="1131590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Shape 128"/>
          <p:cNvSpPr txBox="1"/>
          <p:nvPr/>
        </p:nvSpPr>
        <p:spPr>
          <a:xfrm>
            <a:off x="428274" y="0"/>
            <a:ext cx="7384084" cy="71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Селектори и промяна на DOM елементи </a:t>
            </a:r>
          </a:p>
        </p:txBody>
      </p:sp>
      <p:pic>
        <p:nvPicPr>
          <p:cNvPr id="129" name="Shape 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528" y="1059582"/>
            <a:ext cx="5544615" cy="340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/>
        </p:nvSpPr>
        <p:spPr>
          <a:xfrm>
            <a:off x="0" y="0"/>
            <a:ext cx="9144000" cy="714899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323528" y="1131590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Селектиране на DOM елементи с jQuery –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	- почти винаги връща колекция от елементи – дори да има само 	един елемент от селектирания вид;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	- запазваме в променлива/и или използваме директно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	- повече </a:t>
            </a:r>
            <a:r>
              <a:rPr lang="en" sz="18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https://learn.jquery.com/using-jquery-core/selecting-elements/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	- как работим със селекцията -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// select the item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$("#something").hide();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$(".widgets").</a:t>
            </a:r>
            <a:r>
              <a:rPr lang="en" sz="1800" b="0" i="0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fadeIn(‘slow’);//</a:t>
            </a:r>
            <a:r>
              <a:rPr lang="bg-BG" sz="1800" b="0" i="0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да се появи</a:t>
            </a:r>
            <a:endParaRPr lang="en"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SzPct val="25000"/>
            </a:pPr>
            <a:r>
              <a:rPr lang="en" sz="1800" dirty="0"/>
              <a:t>$(".widgets").</a:t>
            </a:r>
            <a:r>
              <a:rPr lang="en" sz="1800" dirty="0" smtClean="0"/>
              <a:t>fadeOut(‘</a:t>
            </a:r>
            <a:r>
              <a:rPr lang="en-US" sz="1800" dirty="0" smtClean="0"/>
              <a:t>fast</a:t>
            </a:r>
            <a:r>
              <a:rPr lang="en" sz="1800" dirty="0" smtClean="0"/>
              <a:t>’);//</a:t>
            </a:r>
            <a:r>
              <a:rPr lang="bg-BG" sz="1800" dirty="0"/>
              <a:t>да се </a:t>
            </a:r>
            <a:r>
              <a:rPr lang="bg-BG" sz="1800" dirty="0" smtClean="0"/>
              <a:t>скрие</a:t>
            </a:r>
            <a:endParaRPr lang="en"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Shape 136"/>
          <p:cNvSpPr txBox="1"/>
          <p:nvPr/>
        </p:nvSpPr>
        <p:spPr>
          <a:xfrm>
            <a:off x="428274" y="0"/>
            <a:ext cx="7384084" cy="71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Селектори и промяна на DOM елементи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4D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Обхождане на DOM дървото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Използваме свойствата на DOM елементите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Next and previous siblings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Parents and children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jQuery.next()		jQuery.prev()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Връща	следващия		предишния 	sibling</a:t>
            </a:r>
          </a:p>
          <a:p>
            <a:pPr marL="4572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!!!☺)) Връща HTML – елемент – не [text] node☺))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8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Shape 147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52A4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150975" y="123478"/>
            <a:ext cx="6805500" cy="764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Обхождане на DOM дървото next/prev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jQuery.parent()</a:t>
            </a:r>
          </a:p>
          <a:p>
            <a:pPr marL="4572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Връща родителския елемент на даден елемент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jQuery.parents(selector)</a:t>
            </a:r>
          </a:p>
          <a:p>
            <a:pPr marL="457200" marR="0" lvl="1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Връща първия родител, който съответства на селектора</a:t>
            </a:r>
          </a:p>
        </p:txBody>
      </p:sp>
      <p:sp>
        <p:nvSpPr>
          <p:cNvPr id="162" name="Shape 162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52A4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Shape 163"/>
          <p:cNvSpPr txBox="1"/>
          <p:nvPr/>
        </p:nvSpPr>
        <p:spPr>
          <a:xfrm>
            <a:off x="150973" y="123478"/>
            <a:ext cx="8741505" cy="6409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Обхождане на DOM дървото parent/parent(selector) 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Shape 169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52A4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Shape 170"/>
          <p:cNvSpPr txBox="1"/>
          <p:nvPr/>
        </p:nvSpPr>
        <p:spPr>
          <a:xfrm>
            <a:off x="150973" y="123478"/>
            <a:ext cx="8741505" cy="6409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2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Обхождане на DOM дървото parent/parents(selector) </a:t>
            </a:r>
          </a:p>
        </p:txBody>
      </p:sp>
      <p:pic>
        <p:nvPicPr>
          <p:cNvPr id="171" name="Shape 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528" y="1203598"/>
            <a:ext cx="5325218" cy="3162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Shape 1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0232" y="1995685"/>
            <a:ext cx="2133898" cy="1419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title"/>
          </p:nvPr>
        </p:nvSpPr>
        <p:spPr>
          <a:xfrm>
            <a:off x="323528" y="1779661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Добавяне/премахване</a:t>
            </a:r>
            <a:b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 DOM елементи</a:t>
            </a: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jQuery.appendTo()/prependTo()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1" i="0" u="none" strike="noStrike" cap="none">
                <a:solidFill>
                  <a:srgbClr val="7D0C94"/>
                </a:solidFill>
                <a:latin typeface="Arial"/>
                <a:ea typeface="Arial"/>
                <a:cs typeface="Arial"/>
                <a:sym typeface="Arial"/>
              </a:rPr>
              <a:t>$("&lt;ul&gt;&lt;li&gt;Hello&lt;/li&gt;&lt;/ul&gt;").appendTo("body");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jQuery.append()/prepend()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1" i="0" u="none" strike="noStrike" cap="none">
                <a:solidFill>
                  <a:srgbClr val="7D0C94"/>
                </a:solidFill>
                <a:latin typeface="Arial"/>
                <a:ea typeface="Arial"/>
                <a:cs typeface="Arial"/>
                <a:sym typeface="Arial"/>
              </a:rPr>
              <a:t>$("body").prepend("&lt;h1&gt;header&lt;/h1&gt;");</a:t>
            </a:r>
          </a:p>
        </p:txBody>
      </p:sp>
      <p:sp>
        <p:nvSpPr>
          <p:cNvPr id="183" name="Shape 183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Shape 18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Добавяне на DOM елементи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Създаваме лесно нови елементи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var  $divElement = </a:t>
            </a:r>
            <a:r>
              <a:rPr lang="en" sz="1800" b="1" i="0" u="none" strike="noStrike" cap="none">
                <a:solidFill>
                  <a:srgbClr val="7D0C94"/>
                </a:solidFill>
                <a:latin typeface="Arial"/>
                <a:ea typeface="Arial"/>
                <a:cs typeface="Arial"/>
                <a:sym typeface="Arial"/>
              </a:rPr>
              <a:t>$('&lt;div&gt;');</a:t>
            </a: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var $anotherDivElement = </a:t>
            </a:r>
            <a:r>
              <a:rPr lang="en" sz="1800" b="1" i="0" u="none" strike="noStrike" cap="none">
                <a:solidFill>
                  <a:srgbClr val="7D0C94"/>
                </a:solidFill>
                <a:latin typeface="Arial"/>
                <a:ea typeface="Arial"/>
                <a:cs typeface="Arial"/>
                <a:sym typeface="Arial"/>
              </a:rPr>
              <a:t>$('&lt;div &gt;&lt;/div&gt;');</a:t>
            </a:r>
          </a:p>
        </p:txBody>
      </p:sp>
      <p:sp>
        <p:nvSpPr>
          <p:cNvPr id="190" name="Shape 190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Shape 191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Добавяне на DOM елементи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Shape 19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// Removing elements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$('p').remove();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// After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&lt;div&gt;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&lt;/div&gt;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Shape 19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Премахване на DOM елементи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Shape 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3" y="1131590"/>
            <a:ext cx="3977699" cy="309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Shape 2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4644" y="984075"/>
            <a:ext cx="3839110" cy="3391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Shape 20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Shape 208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Shape 20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Премахване на DOM елементи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Shape 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528" y="1203598"/>
            <a:ext cx="3429478" cy="3057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Shape 2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5976" y="843558"/>
            <a:ext cx="4601216" cy="3982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266C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jQuery</a:t>
            </a:r>
            <a:b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обекти и </a:t>
            </a:r>
            <a:b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събития</a:t>
            </a: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8280919" cy="3600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Селектираните с jQuery DOM елементи не са обикновени DOM обекти. Те имат повече свойства и методи в сравнение с JS DOM обекти.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" sz="1400" b="0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addClass(), removeClass(), toogleClass()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-"/>
            </a:pPr>
            <a:r>
              <a:rPr lang="en" sz="1400" b="0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on(event, callback) за закачане на събития</a:t>
            </a:r>
          </a:p>
          <a:p>
            <a:pPr marL="285750" marR="0" lvl="0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-"/>
            </a:pPr>
            <a:r>
              <a:rPr lang="en" sz="1400" b="0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animate(), </a:t>
            </a:r>
            <a:r>
              <a:rPr lang="en" sz="1400" b="0" i="0" u="none" strike="noStrike" cap="none" dirty="0" smtClean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fadeIn(), </a:t>
            </a:r>
            <a:r>
              <a:rPr lang="en" sz="1400" b="0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etc…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Shape 222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Shape 223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jQuery – обекти и събития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8280919" cy="3600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Методи за променяне на елементите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jQuery.css("color", "#f3f")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jQuery.html() връща innerHTML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jQuery.html(content) – дава стойност на innerHTML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jQuery.text(content) – задава innerHTML, като ескейпва съдържанието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Shape 230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jQuery – обекти и събития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8280919" cy="3600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 притежава удобни методи за добавяне и премахване на събития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on()</a:t>
            </a:r>
            <a:r>
              <a:rPr lang="en" sz="1400" b="0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" sz="1400" b="1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off()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 onButtonClick(){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$(".selected").removeClass("selected");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$(</a:t>
            </a:r>
            <a:r>
              <a:rPr lang="en" sz="1400" b="1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).addClass("selected");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}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$("a.button").</a:t>
            </a:r>
            <a:r>
              <a:rPr lang="en" sz="1400" b="1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on("click", onButtonClick);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1" i="0" u="none" strike="noStrike" cap="none" dirty="0">
              <a:solidFill>
                <a:srgbClr val="B2266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1" i="0" u="none" strike="noStrike" cap="none" dirty="0">
              <a:solidFill>
                <a:srgbClr val="B2266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Shape 236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Shape 23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jQuery – обекти и събития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8280919" cy="3600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B2266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Shape 243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Shape 24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jQuery – обекти и събития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Shape 2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575" y="851365"/>
            <a:ext cx="7269442" cy="3791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B2266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Shape 251"/>
          <p:cNvSpPr txBox="1">
            <a:spLocks noGrp="1"/>
          </p:cNvSpPr>
          <p:nvPr>
            <p:ph type="body" idx="2"/>
          </p:nvPr>
        </p:nvSpPr>
        <p:spPr>
          <a:xfrm>
            <a:off x="395536" y="843558"/>
            <a:ext cx="8436761" cy="37253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За демо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Shape 252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Shape 253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jQuery – обекти и събития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Shape 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3" y="1347613"/>
            <a:ext cx="7920880" cy="2800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B2266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Shape 260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Shape 2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6126" y="192369"/>
            <a:ext cx="7091744" cy="4928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2074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B2266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Shape 268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Shape 26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pic>
        <p:nvPicPr>
          <p:cNvPr id="270" name="Shape 2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590" y="259827"/>
            <a:ext cx="7380819" cy="4867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8280919" cy="3600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Оптимизиране на събития – добавяне на родителски елемент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 onListItemClick(){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$(".selected").removeClass("selected");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$(this).addClass("selected");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}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$("ul").on("click", "li", onListItemClick); </a:t>
            </a:r>
          </a:p>
        </p:txBody>
      </p:sp>
      <p:sp>
        <p:nvSpPr>
          <p:cNvPr id="276" name="Shape 276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Shape 27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jQuery – обекти и събития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323528" y="1059582"/>
            <a:ext cx="8280919" cy="3600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Chaining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jQuery методите винаги връщат – резултат или </a:t>
            </a:r>
            <a:r>
              <a:rPr lang="en" sz="1400" b="0" i="0" u="none" strike="noStrike" cap="none" dirty="0">
                <a:solidFill>
                  <a:srgbClr val="B2266C"/>
                </a:solidFill>
                <a:latin typeface="Arial"/>
                <a:ea typeface="Arial"/>
                <a:cs typeface="Arial"/>
                <a:sym typeface="Arial"/>
              </a:rPr>
              <a:t>this, </a:t>
            </a:r>
            <a:r>
              <a:rPr lang="en" sz="1400" b="0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което ни дава възможност да ги прикачваме последователно – като верига един за друг –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$('&lt;button&gt;')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.addClass('btn-success')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.html('Click me for success')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.on('click', onSuccessButtonClick)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.appendTo(document.body);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lang="en-US" sz="1400" b="0" i="0" u="none" strike="noStrike" cap="none" dirty="0" smtClean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lang="en-US" dirty="0">
              <a:solidFill>
                <a:srgbClr val="434343"/>
              </a:solidFill>
            </a:endParaRPr>
          </a:p>
          <a:p>
            <a:pPr lvl="0">
              <a:spcAft>
                <a:spcPts val="0"/>
              </a:spcAft>
              <a:buSzPct val="25000"/>
            </a:pPr>
            <a:r>
              <a:rPr lang="en-US" dirty="0" smtClean="0">
                <a:solidFill>
                  <a:srgbClr val="434343"/>
                </a:solidFill>
              </a:rPr>
              <a:t>$('&lt;</a:t>
            </a:r>
            <a:r>
              <a:rPr lang="en-US" dirty="0">
                <a:solidFill>
                  <a:srgbClr val="434343"/>
                </a:solidFill>
              </a:rPr>
              <a:t>button&gt;') </a:t>
            </a:r>
            <a:r>
              <a:rPr lang="en-US" dirty="0" smtClean="0">
                <a:solidFill>
                  <a:srgbClr val="434343"/>
                </a:solidFill>
              </a:rPr>
              <a:t>–</a:t>
            </a:r>
            <a:r>
              <a:rPr lang="bg-BG" dirty="0" smtClean="0">
                <a:solidFill>
                  <a:srgbClr val="434343"/>
                </a:solidFill>
              </a:rPr>
              <a:t> създава бутон</a:t>
            </a:r>
          </a:p>
          <a:p>
            <a:pPr lvl="0">
              <a:spcAft>
                <a:spcPts val="0"/>
              </a:spcAft>
              <a:buSzPct val="25000"/>
            </a:pPr>
            <a:r>
              <a:rPr lang="en-US" dirty="0" smtClean="0">
                <a:solidFill>
                  <a:srgbClr val="434343"/>
                </a:solidFill>
              </a:rPr>
              <a:t>$('button') </a:t>
            </a:r>
            <a:r>
              <a:rPr lang="bg-BG" dirty="0" smtClean="0">
                <a:solidFill>
                  <a:srgbClr val="434343"/>
                </a:solidFill>
              </a:rPr>
              <a:t>– селектира бутон</a:t>
            </a:r>
          </a:p>
          <a:p>
            <a:pPr lvl="0">
              <a:spcAft>
                <a:spcPts val="0"/>
              </a:spcAft>
              <a:buSzPct val="25000"/>
            </a:pPr>
            <a:endParaRPr sz="14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Shape 283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B2266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Shape 28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jQuery – обекти и събития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492</Words>
  <Application>Microsoft Office PowerPoint</Application>
  <PresentationFormat>Презентация на цял екран (16:9)</PresentationFormat>
  <Paragraphs>153</Paragraphs>
  <Slides>32</Slides>
  <Notes>32</Notes>
  <HiddenSlides>1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32</vt:i4>
      </vt:variant>
    </vt:vector>
  </HeadingPairs>
  <TitlesOfParts>
    <vt:vector size="35" baseType="lpstr">
      <vt:lpstr>Arial</vt:lpstr>
      <vt:lpstr>Syncopate</vt:lpstr>
      <vt:lpstr>simple-light-2</vt:lpstr>
      <vt:lpstr>web разработка</vt:lpstr>
      <vt:lpstr>Презентация на PowerPoint</vt:lpstr>
      <vt:lpstr> jQuery?</vt:lpstr>
      <vt:lpstr>Презентация на PowerPoint</vt:lpstr>
      <vt:lpstr>Презентация на PowerPoint</vt:lpstr>
      <vt:lpstr>Добавяне на jQuery</vt:lpstr>
      <vt:lpstr>Презентация на PowerPoint</vt:lpstr>
      <vt:lpstr>Ресурси </vt:lpstr>
      <vt:lpstr>https://jquery.com/  Zak Ruvalcaba, Anne Boehm - Murach's jQuery, 2nd edition (Training &amp; Reference) - 2015   </vt:lpstr>
      <vt:lpstr>Селектори и промяна на DOM eлементи  </vt:lpstr>
      <vt:lpstr>Презентация на PowerPoint</vt:lpstr>
      <vt:lpstr>Презентация на PowerPoint</vt:lpstr>
      <vt:lpstr>Презентация на PowerPoint</vt:lpstr>
      <vt:lpstr> Обхождане на DOM дървото</vt:lpstr>
      <vt:lpstr>Презентация на PowerPoint</vt:lpstr>
      <vt:lpstr>Презентация на PowerPoint</vt:lpstr>
      <vt:lpstr>Презентация на PowerPoint</vt:lpstr>
      <vt:lpstr> Добавяне/премахване на DOM елементи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 jQuery обекти и  събития 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user</dc:creator>
  <cp:lastModifiedBy>Ariel</cp:lastModifiedBy>
  <cp:revision>13</cp:revision>
  <dcterms:modified xsi:type="dcterms:W3CDTF">2019-05-11T16:43:05Z</dcterms:modified>
</cp:coreProperties>
</file>