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Syncopate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413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277869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57125b73b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g57125b73b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7999" cy="755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197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197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API/Document_Object_Mode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hyperlink" Target="https://en.wikipedia.org/wiki/Application_programming_interface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API/Node/textConten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API/HTMLElemen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24225" y="2850900"/>
            <a:ext cx="9168300" cy="22926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yncopate"/>
              <a:buNone/>
            </a:pPr>
            <a:r>
              <a:rPr lang="en" sz="3600" b="1" i="0" u="none" strike="noStrike" cap="non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JavaScript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DOM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"/>
              <a:buFont typeface="Arial"/>
              <a:buNone/>
            </a:pPr>
            <a:endParaRPr sz="3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360" y="497375"/>
            <a:ext cx="2981276" cy="124962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50"/>
              <a:buFont typeface="Arial"/>
              <a:buNone/>
            </a:pP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WEB РАЗРАБОТКА- 11.201</a:t>
            </a:r>
            <a:r>
              <a:rPr lang="en" b="1">
                <a:solidFill>
                  <a:srgbClr val="CCCCCC"/>
                </a:solidFill>
              </a:rPr>
              <a:t>8</a:t>
            </a: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- ВЕРСИЯ </a:t>
            </a:r>
            <a:r>
              <a:rPr lang="en" b="1">
                <a:solidFill>
                  <a:srgbClr val="CCCCCC"/>
                </a:solidFill>
              </a:rPr>
              <a:t>6</a:t>
            </a:r>
            <a:endParaRPr sz="1400" b="1" i="0" u="none" strike="noStrike" cap="non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11700" y="11256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en" sz="1400">
                <a:solidFill>
                  <a:srgbClr val="434343"/>
                </a:solidFill>
              </a:rPr>
              <a:t>Вградени обекти в браузъра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en" sz="1400">
                <a:solidFill>
                  <a:srgbClr val="434343"/>
                </a:solidFill>
              </a:rPr>
              <a:t>DOM - 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DOM API</a:t>
            </a:r>
            <a:endParaRPr/>
          </a:p>
          <a:p>
            <a: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Селектиране на DOM елементи</a:t>
            </a:r>
            <a:endParaRPr/>
          </a:p>
          <a:p>
            <a: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</a:pPr>
            <a:r>
              <a:rPr lang="en">
                <a:solidFill>
                  <a:srgbClr val="434343"/>
                </a:solidFill>
              </a:rPr>
              <a:t>Node, nodes, nodeLists(Live&amp;Static)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Съдържание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6E2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998150" y="2766550"/>
            <a:ext cx="3981600" cy="17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solidFill>
                  <a:srgbClr val="FFFFFF"/>
                </a:solidFill>
              </a:rPr>
              <a:t>Вградени </a:t>
            </a:r>
            <a:endParaRPr/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solidFill>
                  <a:srgbClr val="FFFFFF"/>
                </a:solidFill>
              </a:rPr>
              <a:t>обекти в браузъра</a:t>
            </a:r>
            <a:endParaRPr/>
          </a:p>
        </p:txBody>
      </p:sp>
      <p:pic>
        <p:nvPicPr>
          <p:cNvPr id="71" name="Google Shape;71;p15" descr="object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5857875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0" y="0"/>
            <a:ext cx="9144000" cy="725700"/>
          </a:xfrm>
          <a:prstGeom prst="rect">
            <a:avLst/>
          </a:prstGeom>
          <a:solidFill>
            <a:srgbClr val="DC6E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1125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Браузърът ни предоставя ‘данни’ чрез -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DC6E2F"/>
                </a:solidFill>
              </a:rPr>
              <a:t>window </a:t>
            </a:r>
            <a:endParaRPr/>
          </a:p>
          <a:p>
            <a:pPr marL="0" lvl="0" indent="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Елементът, на върха на DOM дървото</a:t>
            </a:r>
            <a:endParaRPr/>
          </a:p>
          <a:p>
            <a:pPr marL="0" lvl="0" indent="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Представлява порзореца на браузъра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b="1">
                <a:solidFill>
                  <a:srgbClr val="DC6E2F"/>
                </a:solidFill>
              </a:rPr>
              <a:t>document</a:t>
            </a:r>
            <a:endParaRPr/>
          </a:p>
          <a:p>
            <a:pPr marL="457200" lvl="0" indent="-69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Съдържа информация за текущия документ, зареден в браузъра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DC6E2F"/>
                </a:solidFill>
              </a:rPr>
              <a:t>screen</a:t>
            </a:r>
            <a:endParaRPr/>
          </a:p>
          <a:p>
            <a:pPr marL="0" lvl="0" indent="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Съдържа информация за потребителските настройки за визуализация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DC6E2F"/>
                </a:solidFill>
              </a:rPr>
              <a:t>navigator</a:t>
            </a:r>
            <a:endParaRPr/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434343"/>
                </a:solidFill>
              </a:rPr>
              <a:t>Съдържа информация за браузъра</a:t>
            </a:r>
            <a:endParaRPr/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0" y="99850"/>
            <a:ext cx="9002400" cy="516300"/>
          </a:xfrm>
          <a:prstGeom prst="rect">
            <a:avLst/>
          </a:prstGeom>
          <a:solidFill>
            <a:srgbClr val="DC6E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Вградени обекти в браузъра</a:t>
            </a: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0" y="0"/>
            <a:ext cx="9144000" cy="725700"/>
          </a:xfrm>
          <a:prstGeom prst="rect">
            <a:avLst/>
          </a:prstGeom>
          <a:solidFill>
            <a:srgbClr val="DC6E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1125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434343"/>
                </a:solidFill>
              </a:rPr>
              <a:t>Обектите в JavaScript притежават предварително дефинирани методи и свойства, които използваме.</a:t>
            </a:r>
            <a:endParaRPr sz="14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434343"/>
                </a:solidFill>
              </a:rPr>
              <a:t>Методи -</a:t>
            </a:r>
            <a:endParaRPr sz="14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b="1">
                <a:solidFill>
                  <a:schemeClr val="accent1"/>
                </a:solidFill>
              </a:rPr>
              <a:t>alert()</a:t>
            </a:r>
            <a:endParaRPr sz="1400" b="1">
              <a:solidFill>
                <a:schemeClr val="accent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b="1">
                <a:solidFill>
                  <a:schemeClr val="accent1"/>
                </a:solidFill>
              </a:rPr>
              <a:t>log()</a:t>
            </a:r>
            <a:endParaRPr sz="1400" b="1">
              <a:solidFill>
                <a:schemeClr val="accent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b="1">
                <a:solidFill>
                  <a:schemeClr val="accent1"/>
                </a:solidFill>
              </a:rPr>
              <a:t>write()</a:t>
            </a:r>
            <a:endParaRPr sz="1400" b="1">
              <a:solidFill>
                <a:schemeClr val="accent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434343"/>
                </a:solidFill>
              </a:rPr>
              <a:t>Свойства</a:t>
            </a:r>
            <a:endParaRPr sz="14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b="1">
                <a:solidFill>
                  <a:schemeClr val="accent1"/>
                </a:solidFill>
              </a:rPr>
              <a:t>length</a:t>
            </a:r>
            <a:endParaRPr sz="1400" b="1">
              <a:solidFill>
                <a:schemeClr val="accent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b="1">
                <a:solidFill>
                  <a:schemeClr val="accent1"/>
                </a:solidFill>
              </a:rPr>
              <a:t>href</a:t>
            </a:r>
            <a:endParaRPr sz="1400" b="1">
              <a:solidFill>
                <a:schemeClr val="accent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b="1">
                <a:solidFill>
                  <a:schemeClr val="accent1"/>
                </a:solidFill>
              </a:rPr>
              <a:t>location</a:t>
            </a:r>
            <a:endParaRPr sz="1400" b="1">
              <a:solidFill>
                <a:schemeClr val="accent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0" y="99850"/>
            <a:ext cx="9002400" cy="516300"/>
          </a:xfrm>
          <a:prstGeom prst="rect">
            <a:avLst/>
          </a:prstGeom>
          <a:solidFill>
            <a:srgbClr val="DC6E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Вградени обекти в браузъра</a:t>
            </a: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0" y="0"/>
            <a:ext cx="9144000" cy="725700"/>
          </a:xfrm>
          <a:prstGeom prst="rect">
            <a:avLst/>
          </a:prstGeom>
          <a:solidFill>
            <a:srgbClr val="DC6E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11700" y="1125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DC6E2F"/>
                </a:solidFill>
              </a:rPr>
              <a:t>document </a:t>
            </a:r>
            <a:endParaRPr sz="1400">
              <a:solidFill>
                <a:srgbClr val="DC6E2F"/>
              </a:solidFill>
            </a:endParaRPr>
          </a:p>
          <a:p>
            <a:pPr marL="0" lvl="0" indent="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DC6E2F"/>
                </a:solidFill>
              </a:rPr>
              <a:t>/обект/ </a:t>
            </a:r>
            <a:endParaRPr sz="1400">
              <a:solidFill>
                <a:srgbClr val="DC6E2F"/>
              </a:solidFill>
            </a:endParaRPr>
          </a:p>
          <a:p>
            <a:pPr marL="0" lvl="0" indent="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Съдържа масиви с данни за текущата заредена в браузъра страница.</a:t>
            </a:r>
            <a:endParaRPr sz="14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434343"/>
                </a:solidFill>
              </a:rPr>
              <a:t>document.links[0].href = "https://www.yahoo.com";</a:t>
            </a:r>
            <a:endParaRPr/>
          </a:p>
          <a:p>
            <a:pPr marL="0" lvl="0" indent="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document.write("This is some &lt;b&gt;bold text&lt;/b&gt;");</a:t>
            </a:r>
            <a:endParaRPr/>
          </a:p>
          <a:p>
            <a:pPr marL="0" lvl="0" indent="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rgbClr val="434343"/>
              </a:solidFill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0" y="99850"/>
            <a:ext cx="9002400" cy="516300"/>
          </a:xfrm>
          <a:prstGeom prst="rect">
            <a:avLst/>
          </a:prstGeom>
          <a:solidFill>
            <a:srgbClr val="DC6E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Вградени обекти в браузъра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0" y="0"/>
            <a:ext cx="9144000" cy="725700"/>
          </a:xfrm>
          <a:prstGeom prst="rect">
            <a:avLst/>
          </a:prstGeom>
          <a:solidFill>
            <a:srgbClr val="DC6E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311700" y="1125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DC6E2F"/>
                </a:solidFill>
              </a:rPr>
              <a:t>document.location</a:t>
            </a:r>
            <a:endParaRPr sz="1400">
              <a:solidFill>
                <a:srgbClr val="DC6E2F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434343"/>
                </a:solidFill>
              </a:rPr>
              <a:t>Текущия URL, зареден в браузъра или за пренасочване на браузъра</a:t>
            </a:r>
            <a:endParaRPr/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434343"/>
                </a:solidFill>
              </a:rPr>
              <a:t>document.location = "http://www.yahoo.com";</a:t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0" y="99850"/>
            <a:ext cx="9002400" cy="516300"/>
          </a:xfrm>
          <a:prstGeom prst="rect">
            <a:avLst/>
          </a:prstGeom>
          <a:solidFill>
            <a:srgbClr val="DC6E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Вградени обекти в браузъра - demo</a:t>
            </a: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1E63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1540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DOM</a:t>
            </a:r>
            <a:endParaRPr/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rPr lang="en" sz="2400" b="1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</a:t>
            </a:r>
            <a:endParaRPr/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rPr lang="en" sz="2400" b="1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endParaRPr/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rPr lang="en" sz="2400" b="1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/>
          </a:p>
        </p:txBody>
      </p:sp>
      <p:pic>
        <p:nvPicPr>
          <p:cNvPr id="105" name="Google Shape;105;p20" descr="410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0800" y="1000125"/>
            <a:ext cx="39243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DOM </a:t>
            </a:r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280675" y="897725"/>
            <a:ext cx="8550600" cy="3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DOM - </a:t>
            </a:r>
            <a:r>
              <a:rPr lang="en" i="1" u="sng">
                <a:solidFill>
                  <a:schemeClr val="hlink"/>
                </a:solidFill>
                <a:hlinkClick r:id="rId3"/>
              </a:rPr>
              <a:t>document object model, MDN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Arial"/>
              <a:buNone/>
            </a:pPr>
            <a:endParaRPr i="1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DOM - структура на HTML </a:t>
            </a:r>
            <a:endParaRPr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Представяне на HTML документа като </a:t>
            </a:r>
            <a:r>
              <a:rPr lang="en" sz="1100" b="1" i="1">
                <a:solidFill>
                  <a:srgbClr val="F50057"/>
                </a:solidFill>
              </a:rPr>
              <a:t>DOM - дърво</a:t>
            </a:r>
            <a:endParaRPr/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Състоящо се от елементи, които имат деца-елементи,</a:t>
            </a:r>
            <a:endParaRPr/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Които на свой ред могат да имат деца елементи и т.н.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DOM - съдържа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API</a:t>
            </a:r>
            <a:r>
              <a:rPr lang="en" sz="1100">
                <a:solidFill>
                  <a:schemeClr val="dk1"/>
                </a:solidFill>
              </a:rPr>
              <a:t> за обхождане/променяне на </a:t>
            </a:r>
            <a:r>
              <a:rPr lang="en" sz="1100" b="1" i="1">
                <a:solidFill>
                  <a:srgbClr val="F50057"/>
                </a:solidFill>
              </a:rPr>
              <a:t>DOM - дървото</a:t>
            </a:r>
            <a:endParaRPr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Позволява ни да променяме HTML документа динамично - </a:t>
            </a:r>
            <a:endParaRPr/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да махаме или добавяме нови елементи</a:t>
            </a:r>
            <a:endParaRPr/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Да променяме начина, по който изглеждат елементите</a:t>
            </a:r>
            <a:endParaRPr/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Добавяме или премахваме атрибути на HTML елементи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" sz="1100">
                <a:solidFill>
                  <a:schemeClr val="dk1"/>
                </a:solidFill>
              </a:rPr>
              <a:t>Как взаимодействаме с </a:t>
            </a:r>
            <a:r>
              <a:rPr lang="en" sz="1100" b="1" i="1">
                <a:solidFill>
                  <a:srgbClr val="F50057"/>
                </a:solidFill>
              </a:rPr>
              <a:t>DOM - дървото</a:t>
            </a:r>
            <a:r>
              <a:rPr lang="en" sz="1100">
                <a:solidFill>
                  <a:schemeClr val="dk1"/>
                </a:solidFill>
              </a:rPr>
              <a:t> ? Как го променяме?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</a:rPr>
              <a:t>Чрез JavaScript </a:t>
            </a:r>
            <a:endParaRPr/>
          </a:p>
        </p:txBody>
      </p:sp>
      <p:pic>
        <p:nvPicPr>
          <p:cNvPr id="113" name="Google Shape;113;p21" descr="Bush3v2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5600" y="897725"/>
            <a:ext cx="2904824" cy="369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DOM API - demo</a:t>
            </a: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>
            <a:off x="280675" y="897725"/>
            <a:ext cx="8550600" cy="3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434343"/>
                </a:solidFill>
              </a:rPr>
              <a:t>Всеки HTML елемент, чрез DOM API може да бъде достъпен като JS обект.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F50057"/>
                </a:solidFill>
              </a:rPr>
              <a:t>document.documentElement</a:t>
            </a:r>
            <a:r>
              <a:rPr lang="en">
                <a:solidFill>
                  <a:srgbClr val="434343"/>
                </a:solidFill>
              </a:rPr>
              <a:t> is the &lt;html&gt; element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b="1">
                <a:solidFill>
                  <a:srgbClr val="F50057"/>
                </a:solidFill>
              </a:rPr>
              <a:t>document.body</a:t>
            </a:r>
            <a:r>
              <a:rPr lang="en">
                <a:solidFill>
                  <a:srgbClr val="434343"/>
                </a:solidFill>
              </a:rPr>
              <a:t> is the &lt;body&gt; element of the page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DOM API - </a:t>
            </a:r>
            <a:r>
              <a:rPr lang="en" sz="24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</a:t>
            </a: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280675" y="897725"/>
            <a:ext cx="8550600" cy="3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b="1">
                <a:solidFill>
                  <a:srgbClr val="F50057"/>
                </a:solidFill>
              </a:rPr>
              <a:t>document </a:t>
            </a:r>
            <a:r>
              <a:rPr lang="en" sz="1400">
                <a:solidFill>
                  <a:srgbClr val="434343"/>
                </a:solidFill>
              </a:rPr>
              <a:t>е специален обект -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434343"/>
                </a:solidFill>
              </a:rPr>
              <a:t>	Той представлява началото - входната точка, от която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434343"/>
                </a:solidFill>
              </a:rPr>
              <a:t>		започва работа DOM API.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434343"/>
                </a:solidFill>
              </a:rPr>
              <a:t> </a:t>
            </a:r>
            <a:r>
              <a:rPr lang="en" sz="1400" b="1">
                <a:solidFill>
                  <a:srgbClr val="F50057"/>
                </a:solidFill>
              </a:rPr>
              <a:t>document</a:t>
            </a:r>
            <a:r>
              <a:rPr lang="en" sz="1400">
                <a:solidFill>
                  <a:srgbClr val="434343"/>
                </a:solidFill>
              </a:rPr>
              <a:t> е </a:t>
            </a:r>
            <a:endParaRPr/>
          </a:p>
          <a:p>
            <a:pPr marL="457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434343"/>
                </a:solidFill>
              </a:rPr>
              <a:t>корена/root на </a:t>
            </a:r>
            <a:endParaRPr/>
          </a:p>
          <a:p>
            <a:pPr marL="9144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434343"/>
                </a:solidFill>
              </a:rPr>
              <a:t>DOM - дървото.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1">
              <a:solidFill>
                <a:srgbClr val="F50057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DOM API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280675" y="897725"/>
            <a:ext cx="8550600" cy="3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Ако всеки HTML eлемент е JS обект, то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Атрибутите на HTML елементите са </a:t>
            </a:r>
            <a:r>
              <a:rPr lang="en">
                <a:solidFill>
                  <a:srgbClr val="F50057"/>
                </a:solidFill>
              </a:rPr>
              <a:t>свойствата/properties</a:t>
            </a:r>
            <a:r>
              <a:rPr lang="en"/>
              <a:t> на JS обекта.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Атрибути&lt;-&gt;Свойства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50057"/>
                </a:solidFill>
              </a:rPr>
              <a:t>id, className, style, value, и т.н.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DOM API - demo</a:t>
            </a: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body" idx="1"/>
          </p:nvPr>
        </p:nvSpPr>
        <p:spPr>
          <a:xfrm>
            <a:off x="280675" y="897725"/>
            <a:ext cx="8550600" cy="3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b="1">
                <a:solidFill>
                  <a:srgbClr val="F50057"/>
                </a:solidFill>
              </a:rPr>
              <a:t>innerHTML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Съдържа стринг - съдържанието на елемента, без самия елемент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b="1">
                <a:solidFill>
                  <a:srgbClr val="F50057"/>
                </a:solidFill>
              </a:rPr>
              <a:t>outerHTML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Стринг - съдържанието на елемента и елемента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b="1">
                <a:solidFill>
                  <a:srgbClr val="F50057"/>
                </a:solidFill>
              </a:rPr>
              <a:t>innerText / textContent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Стринг - текста на елемента, беза таговете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innerText vs. textContent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DOM API - </a:t>
            </a:r>
            <a:r>
              <a:rPr lang="en" sz="24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</a:t>
            </a: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body" idx="1"/>
          </p:nvPr>
        </p:nvSpPr>
        <p:spPr>
          <a:xfrm>
            <a:off x="280675" y="897725"/>
            <a:ext cx="8550600" cy="3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434343"/>
                </a:solidFill>
              </a:rPr>
              <a:t>Всеки HTML елемент има съответен интерфейс - набор от методи и свойства в DOM API. Част от тези свойства наследяват от основни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HTMLElement</a:t>
            </a:r>
            <a:r>
              <a:rPr lang="en" sz="1400"/>
              <a:t> обект, други са специфични за елементите.</a:t>
            </a:r>
            <a:endParaRPr sz="1400" b="1">
              <a:solidFill>
                <a:srgbClr val="F50057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b="1">
              <a:solidFill>
                <a:srgbClr val="F50057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b="1">
                <a:solidFill>
                  <a:srgbClr val="F50057"/>
                </a:solidFill>
              </a:rPr>
              <a:t>HTML</a:t>
            </a:r>
            <a:r>
              <a:rPr lang="en" sz="1400" b="1">
                <a:solidFill>
                  <a:srgbClr val="434343"/>
                </a:solidFill>
              </a:rPr>
              <a:t>Anchor</a:t>
            </a:r>
            <a:r>
              <a:rPr lang="en" sz="1400" b="1">
                <a:solidFill>
                  <a:srgbClr val="F50057"/>
                </a:solidFill>
              </a:rPr>
              <a:t>Element </a:t>
            </a:r>
            <a:r>
              <a:rPr lang="en" sz="1400">
                <a:solidFill>
                  <a:srgbClr val="434343"/>
                </a:solidFill>
              </a:rPr>
              <a:t>има</a:t>
            </a:r>
            <a:r>
              <a:rPr lang="en" sz="1400" b="1">
                <a:solidFill>
                  <a:srgbClr val="F50057"/>
                </a:solidFill>
              </a:rPr>
              <a:t> href </a:t>
            </a:r>
            <a:r>
              <a:rPr lang="en" sz="1400">
                <a:solidFill>
                  <a:srgbClr val="434343"/>
                </a:solidFill>
              </a:rPr>
              <a:t>свойство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b="1">
                <a:solidFill>
                  <a:srgbClr val="F50057"/>
                </a:solidFill>
              </a:rPr>
              <a:t>HTML</a:t>
            </a:r>
            <a:r>
              <a:rPr lang="en" sz="1400" b="1">
                <a:solidFill>
                  <a:srgbClr val="434343"/>
                </a:solidFill>
              </a:rPr>
              <a:t>Image</a:t>
            </a:r>
            <a:r>
              <a:rPr lang="en" sz="1400" b="1">
                <a:solidFill>
                  <a:srgbClr val="F50057"/>
                </a:solidFill>
              </a:rPr>
              <a:t>Element </a:t>
            </a:r>
            <a:r>
              <a:rPr lang="en" sz="1400">
                <a:solidFill>
                  <a:srgbClr val="434343"/>
                </a:solidFill>
              </a:rPr>
              <a:t>има</a:t>
            </a:r>
            <a:r>
              <a:rPr lang="en" sz="1400" b="1">
                <a:solidFill>
                  <a:srgbClr val="F50057"/>
                </a:solidFill>
              </a:rPr>
              <a:t> src </a:t>
            </a:r>
            <a:r>
              <a:rPr lang="en" sz="1400">
                <a:solidFill>
                  <a:srgbClr val="434343"/>
                </a:solidFill>
              </a:rPr>
              <a:t>свойство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b="1">
                <a:solidFill>
                  <a:srgbClr val="F50057"/>
                </a:solidFill>
              </a:rPr>
              <a:t>HTML</a:t>
            </a:r>
            <a:r>
              <a:rPr lang="en" sz="1400" b="1">
                <a:solidFill>
                  <a:srgbClr val="434343"/>
                </a:solidFill>
              </a:rPr>
              <a:t>Input</a:t>
            </a:r>
            <a:r>
              <a:rPr lang="en" sz="1400" b="1">
                <a:solidFill>
                  <a:srgbClr val="F50057"/>
                </a:solidFill>
              </a:rPr>
              <a:t>Element </a:t>
            </a:r>
            <a:r>
              <a:rPr lang="en" sz="1400">
                <a:solidFill>
                  <a:srgbClr val="434343"/>
                </a:solidFill>
              </a:rPr>
              <a:t>има</a:t>
            </a:r>
            <a:r>
              <a:rPr lang="en" sz="1400" b="1">
                <a:solidFill>
                  <a:srgbClr val="F50057"/>
                </a:solidFill>
              </a:rPr>
              <a:t> value </a:t>
            </a:r>
            <a:r>
              <a:rPr lang="en" sz="1400">
                <a:solidFill>
                  <a:srgbClr val="434343"/>
                </a:solidFill>
              </a:rPr>
              <a:t>свойство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65B5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title"/>
          </p:nvPr>
        </p:nvSpPr>
        <p:spPr>
          <a:xfrm>
            <a:off x="311700" y="1289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Селектиране</a:t>
            </a:r>
            <a:endParaRPr/>
          </a:p>
          <a:p>
            <a:pPr marL="457200" lvl="0" indent="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на </a:t>
            </a:r>
            <a:endParaRPr/>
          </a:p>
          <a:p>
            <a:pPr marL="457200" lvl="0" indent="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HTML </a:t>
            </a:r>
            <a:endParaRPr/>
          </a:p>
          <a:p>
            <a:pPr marL="457200" lvl="0" indent="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елемент/и</a:t>
            </a:r>
            <a:endParaRPr/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0D65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solidFill>
            <a:srgbClr val="0D65B5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Selecting HTML elements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"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"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уеб-разработчици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HTML елементите могат да бъдат достъпени и </a:t>
            </a:r>
            <a:r>
              <a:rPr lang="en" b="1" u="sng">
                <a:solidFill>
                  <a:srgbClr val="0D65B5"/>
                </a:solidFill>
              </a:rPr>
              <a:t>запазени в променливи</a:t>
            </a:r>
            <a:r>
              <a:rPr lang="en">
                <a:solidFill>
                  <a:schemeClr val="dk1"/>
                </a:solidFill>
              </a:rPr>
              <a:t> с помощта на DOM API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Избиране на един елемент или защо в страницата трябва да имаме само едно id с дадена стойност.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var email_2 = document.</a:t>
            </a:r>
            <a:r>
              <a:rPr lang="en" b="1">
                <a:solidFill>
                  <a:srgbClr val="0000FF"/>
                </a:solidFill>
              </a:rPr>
              <a:t>getElementById('email_address2')</a:t>
            </a:r>
            <a:r>
              <a:rPr lang="en">
                <a:solidFill>
                  <a:schemeClr val="dk1"/>
                </a:solidFill>
              </a:rPr>
              <a:t>;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var span = document.</a:t>
            </a:r>
            <a:r>
              <a:rPr lang="en" b="1">
                <a:solidFill>
                  <a:srgbClr val="0000FF"/>
                </a:solidFill>
              </a:rPr>
              <a:t>querySelector('#email_form span')</a:t>
            </a:r>
            <a:r>
              <a:rPr lang="en">
                <a:solidFill>
                  <a:schemeClr val="dk1"/>
                </a:solidFill>
              </a:rPr>
              <a:t>;///първия срещнат такъв елемент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D65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Selecting HTML elements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"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"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уеб-разработчици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9"/>
          <p:cNvSpPr txBox="1">
            <a:spLocks noGrp="1"/>
          </p:cNvSpPr>
          <p:nvPr>
            <p:ph type="body" idx="1"/>
          </p:nvPr>
        </p:nvSpPr>
        <p:spPr>
          <a:xfrm>
            <a:off x="401400" y="1131590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</a:rPr>
              <a:t>Селектиране на група елементи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var inputs = document.</a:t>
            </a:r>
            <a:r>
              <a:rPr lang="en" sz="1800" b="1">
                <a:solidFill>
                  <a:srgbClr val="0000FF"/>
                </a:solidFill>
              </a:rPr>
              <a:t>getElementsByTagName('input')</a:t>
            </a:r>
            <a:r>
              <a:rPr lang="en" sz="1800">
                <a:solidFill>
                  <a:schemeClr val="dk1"/>
                </a:solidFill>
              </a:rPr>
              <a:t>;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var email = document.</a:t>
            </a:r>
            <a:r>
              <a:rPr lang="en" sz="1800" b="1">
                <a:solidFill>
                  <a:srgbClr val="0000FF"/>
                </a:solidFill>
              </a:rPr>
              <a:t>getElementsByName('email_address2')</a:t>
            </a:r>
            <a:r>
              <a:rPr lang="en" sz="1800">
                <a:solidFill>
                  <a:schemeClr val="dk1"/>
                </a:solidFill>
              </a:rPr>
              <a:t>;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var classGroup = document.</a:t>
            </a:r>
            <a:r>
              <a:rPr lang="en" sz="1800" b="1">
                <a:solidFill>
                  <a:srgbClr val="0000FF"/>
                </a:solidFill>
              </a:rPr>
              <a:t>getElementsByClassName('className')</a:t>
            </a:r>
            <a:r>
              <a:rPr lang="en" sz="1800">
                <a:solidFill>
                  <a:schemeClr val="dk1"/>
                </a:solidFill>
              </a:rPr>
              <a:t>;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var form_inputs = document.</a:t>
            </a:r>
            <a:r>
              <a:rPr lang="en" sz="1800" b="1">
                <a:solidFill>
                  <a:srgbClr val="0000FF"/>
                </a:solidFill>
              </a:rPr>
              <a:t>querySelector</a:t>
            </a:r>
            <a:r>
              <a:rPr lang="en" sz="1800" b="1">
                <a:solidFill>
                  <a:srgbClr val="FF0000"/>
                </a:solidFill>
              </a:rPr>
              <a:t>All</a:t>
            </a:r>
            <a:r>
              <a:rPr lang="en" sz="1800">
                <a:solidFill>
                  <a:schemeClr val="dk1"/>
                </a:solidFill>
              </a:rPr>
              <a:t>(</a:t>
            </a:r>
            <a:r>
              <a:rPr lang="en" sz="1800">
                <a:solidFill>
                  <a:srgbClr val="FF00FF"/>
                </a:solidFill>
              </a:rPr>
              <a:t>'#email_form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lang="en" sz="1800">
                <a:solidFill>
                  <a:srgbClr val="741B47"/>
                </a:solidFill>
              </a:rPr>
              <a:t>input</a:t>
            </a:r>
            <a:r>
              <a:rPr lang="en" sz="1800">
                <a:solidFill>
                  <a:schemeClr val="dk1"/>
                </a:solidFill>
              </a:rPr>
              <a:t>');</a:t>
            </a:r>
            <a:r>
              <a:rPr lang="en" sz="1800" u="sng">
                <a:solidFill>
                  <a:srgbClr val="38761D"/>
                </a:solidFill>
              </a:rPr>
              <a:t>//всички срещнати!!!!, които могат да бъдат селектирани с посочения селектор</a:t>
            </a:r>
            <a:endParaRPr u="sng">
              <a:solidFill>
                <a:srgbClr val="38761D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i="1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D65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Selecting HTML elements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"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"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уеб-разработчици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Arial"/>
              <a:buChar char="●"/>
            </a:pPr>
            <a:r>
              <a:rPr lang="en" sz="1800">
                <a:solidFill>
                  <a:srgbClr val="434343"/>
                </a:solidFill>
              </a:rPr>
              <a:t>Използване на дадена група от елементи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>
                <a:solidFill>
                  <a:srgbClr val="434343"/>
                </a:solidFill>
              </a:rPr>
              <a:t>var links = document.</a:t>
            </a:r>
            <a:r>
              <a:rPr lang="en" sz="1800">
                <a:solidFill>
                  <a:srgbClr val="0D65B5"/>
                </a:solidFill>
              </a:rPr>
              <a:t>links</a:t>
            </a:r>
            <a:r>
              <a:rPr lang="en" sz="1800">
                <a:solidFill>
                  <a:srgbClr val="434343"/>
                </a:solidFill>
              </a:rPr>
              <a:t>; // връща колекция от елементи</a:t>
            </a:r>
            <a:br>
              <a:rPr lang="en" sz="1800">
                <a:solidFill>
                  <a:srgbClr val="434343"/>
                </a:solidFill>
              </a:rPr>
            </a:br>
            <a:r>
              <a:rPr lang="en" sz="1800">
                <a:solidFill>
                  <a:srgbClr val="434343"/>
                </a:solidFill>
              </a:rPr>
              <a:t>var forms = document.</a:t>
            </a:r>
            <a:r>
              <a:rPr lang="en" sz="1800">
                <a:solidFill>
                  <a:srgbClr val="0D65B5"/>
                </a:solidFill>
              </a:rPr>
              <a:t>forms</a:t>
            </a:r>
            <a:r>
              <a:rPr lang="en" sz="1800">
                <a:solidFill>
                  <a:srgbClr val="434343"/>
                </a:solidFill>
              </a:rPr>
              <a:t>; // връща колекция от елементи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>
                <a:solidFill>
                  <a:srgbClr val="434343"/>
                </a:solidFill>
              </a:rPr>
              <a:t>	var form = document.</a:t>
            </a:r>
            <a:r>
              <a:rPr lang="en" sz="1800">
                <a:solidFill>
                  <a:srgbClr val="0D65B5"/>
                </a:solidFill>
              </a:rPr>
              <a:t>forms[x]</a:t>
            </a:r>
            <a:r>
              <a:rPr lang="en" sz="1800">
                <a:solidFill>
                  <a:srgbClr val="434343"/>
                </a:solidFill>
              </a:rPr>
              <a:t>;//посочваме конкретен елемент</a:t>
            </a:r>
            <a:endParaRPr sz="18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9D58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>
            <a:spLocks noGrp="1"/>
          </p:cNvSpPr>
          <p:nvPr>
            <p:ph type="title"/>
          </p:nvPr>
        </p:nvSpPr>
        <p:spPr>
          <a:xfrm>
            <a:off x="311700" y="1289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chemeClr val="lt1"/>
                </a:solidFill>
              </a:rPr>
              <a:t>Използване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chemeClr val="lt1"/>
                </a:solidFill>
              </a:rPr>
              <a:t>на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F1C232"/>
                </a:solidFill>
              </a:rPr>
              <a:t>getElementsBy</a:t>
            </a:r>
            <a:r>
              <a:rPr lang="en" sz="3000" b="1">
                <a:solidFill>
                  <a:schemeClr val="lt1"/>
                </a:solidFill>
              </a:rPr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chemeClr val="lt1"/>
                </a:solidFill>
              </a:rPr>
              <a:t>методи</a:t>
            </a:r>
            <a:endParaRPr/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/>
          <p:nvPr/>
        </p:nvSpPr>
        <p:spPr>
          <a:xfrm>
            <a:off x="0" y="0"/>
            <a:ext cx="9144000" cy="717900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2"/>
          <p:cNvSpPr txBox="1"/>
          <p:nvPr/>
        </p:nvSpPr>
        <p:spPr>
          <a:xfrm>
            <a:off x="-70400" y="0"/>
            <a:ext cx="68055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>
                <a:solidFill>
                  <a:srgbClr val="FFCF00"/>
                </a:solidFill>
                <a:latin typeface="Arial"/>
                <a:ea typeface="Arial"/>
                <a:cs typeface="Arial"/>
                <a:sym typeface="Arial"/>
              </a:rPr>
              <a:t>getElementsBy</a:t>
            </a:r>
            <a:r>
              <a:rPr lang="en" sz="2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Methods</a:t>
            </a:r>
            <a:endParaRPr/>
          </a:p>
        </p:txBody>
      </p:sp>
      <p:sp>
        <p:nvSpPr>
          <p:cNvPr id="186" name="Google Shape;186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</a:rPr>
              <a:t>DOM API съдържа методи за селектиране на елементи, базирани на някои характеристики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" sz="1800" b="1">
                <a:solidFill>
                  <a:srgbClr val="0F9D58"/>
                </a:solidFill>
              </a:rPr>
              <a:t>getElementById</a:t>
            </a:r>
            <a:r>
              <a:rPr lang="en" sz="1800">
                <a:solidFill>
                  <a:schemeClr val="dk1"/>
                </a:solidFill>
              </a:rPr>
              <a:t>(id):</a:t>
            </a:r>
            <a:endParaRPr/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" sz="1800">
                <a:solidFill>
                  <a:schemeClr val="dk1"/>
                </a:solidFill>
              </a:rPr>
              <a:t>Резултатът е един елемент или null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rgbClr val="666666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/>
          <p:nvPr/>
        </p:nvSpPr>
        <p:spPr>
          <a:xfrm>
            <a:off x="0" y="0"/>
            <a:ext cx="9144000" cy="717900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3"/>
          <p:cNvSpPr txBox="1"/>
          <p:nvPr/>
        </p:nvSpPr>
        <p:spPr>
          <a:xfrm>
            <a:off x="-70400" y="0"/>
            <a:ext cx="68055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>
                <a:solidFill>
                  <a:srgbClr val="FFCF00"/>
                </a:solidFill>
                <a:latin typeface="Arial"/>
                <a:ea typeface="Arial"/>
                <a:cs typeface="Arial"/>
                <a:sym typeface="Arial"/>
              </a:rPr>
              <a:t>getElementsBy</a:t>
            </a:r>
            <a:r>
              <a:rPr lang="en" sz="2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Methods</a:t>
            </a:r>
            <a:endParaRPr/>
          </a:p>
        </p:txBody>
      </p:sp>
      <p:sp>
        <p:nvSpPr>
          <p:cNvPr id="193" name="Google Shape;193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F9D58"/>
                </a:solidFill>
              </a:rPr>
              <a:t>getElementsByClassName(className):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" sz="1800">
                <a:solidFill>
                  <a:schemeClr val="dk1"/>
                </a:solidFill>
              </a:rPr>
              <a:t>Връща група/масив от елементи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var posts = document.getElementsByClassName('post-item');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F9D58"/>
                </a:solidFill>
              </a:rPr>
              <a:t>getElementsByTagName(tagName);</a:t>
            </a:r>
            <a:endParaRPr/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" sz="1800">
                <a:solidFill>
                  <a:schemeClr val="dk1"/>
                </a:solidFill>
              </a:rPr>
              <a:t>Връща група/масив от елементи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var sidebars = document.getElementsByTagName('sidebar');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/>
          <p:nvPr/>
        </p:nvSpPr>
        <p:spPr>
          <a:xfrm>
            <a:off x="0" y="0"/>
            <a:ext cx="9144000" cy="717900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 txBox="1"/>
          <p:nvPr/>
        </p:nvSpPr>
        <p:spPr>
          <a:xfrm>
            <a:off x="-70400" y="0"/>
            <a:ext cx="68055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i="0" u="none" strike="noStrike" cap="none">
                <a:solidFill>
                  <a:srgbClr val="FFCF00"/>
                </a:solidFill>
                <a:latin typeface="Arial"/>
                <a:ea typeface="Arial"/>
                <a:cs typeface="Arial"/>
                <a:sym typeface="Arial"/>
              </a:rPr>
              <a:t>getElementsBy</a:t>
            </a:r>
            <a:r>
              <a:rPr lang="en" sz="2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Methods</a:t>
            </a:r>
            <a:endParaRPr/>
          </a:p>
        </p:txBody>
      </p:sp>
      <p:sp>
        <p:nvSpPr>
          <p:cNvPr id="200" name="Google Shape;200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0F9D58"/>
                </a:solidFill>
              </a:rPr>
              <a:t>getElementsByName(name);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" sz="1800">
                <a:solidFill>
                  <a:schemeClr val="dk1"/>
                </a:solidFill>
              </a:rPr>
              <a:t>Returns a </a:t>
            </a:r>
            <a:r>
              <a:rPr lang="en" sz="1800" b="1">
                <a:solidFill>
                  <a:schemeClr val="dk1"/>
                </a:solidFill>
              </a:rPr>
              <a:t>collection of elements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var gendersGroup = document.getElementsByName('genders');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9D58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>
            <a:spLocks noGrp="1"/>
          </p:cNvSpPr>
          <p:nvPr>
            <p:ph type="title"/>
          </p:nvPr>
        </p:nvSpPr>
        <p:spPr>
          <a:xfrm>
            <a:off x="311700" y="1289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chemeClr val="lt1"/>
                </a:solidFill>
              </a:rPr>
              <a:t>Използване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chemeClr val="lt1"/>
                </a:solidFill>
              </a:rPr>
              <a:t>на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00DED4"/>
                </a:solidFill>
              </a:rPr>
              <a:t>querySelector</a:t>
            </a:r>
            <a:r>
              <a:rPr lang="en" sz="3000" b="1">
                <a:solidFill>
                  <a:schemeClr val="lt1"/>
                </a:solidFill>
              </a:rPr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chemeClr val="lt1"/>
                </a:solidFill>
              </a:rPr>
              <a:t>методи</a:t>
            </a:r>
            <a:endParaRPr/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/>
          <p:nvPr/>
        </p:nvSpPr>
        <p:spPr>
          <a:xfrm>
            <a:off x="0" y="0"/>
            <a:ext cx="9144000" cy="717900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6"/>
          <p:cNvSpPr txBox="1"/>
          <p:nvPr/>
        </p:nvSpPr>
        <p:spPr>
          <a:xfrm>
            <a:off x="0" y="112350"/>
            <a:ext cx="68055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r>
              <a:rPr lang="en" sz="2400" b="1" i="0" u="none" strike="noStrike" cap="none">
                <a:solidFill>
                  <a:srgbClr val="00DED4"/>
                </a:solidFill>
                <a:latin typeface="Arial"/>
                <a:ea typeface="Arial"/>
                <a:cs typeface="Arial"/>
                <a:sym typeface="Arial"/>
              </a:rPr>
              <a:t>querySelector</a:t>
            </a:r>
            <a:r>
              <a:rPr lang="en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methods</a:t>
            </a:r>
            <a:endParaRPr/>
          </a:p>
        </p:txBody>
      </p:sp>
      <p:sp>
        <p:nvSpPr>
          <p:cNvPr id="212" name="Google Shape;212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</a:rPr>
              <a:t>DOM API притежава методи, използващи CSS селектори за откриване и селектиране на HTML елементи.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" sz="1800" b="1">
                <a:solidFill>
                  <a:srgbClr val="00DED4"/>
                </a:solidFill>
              </a:rPr>
              <a:t>querySelector(selector)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/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romanLcPeriod"/>
            </a:pPr>
            <a:r>
              <a:rPr lang="en" sz="1800">
                <a:solidFill>
                  <a:schemeClr val="dk1"/>
                </a:solidFill>
              </a:rPr>
              <a:t>Връща </a:t>
            </a:r>
            <a:r>
              <a:rPr lang="en" sz="1800" b="1" u="sng">
                <a:solidFill>
                  <a:schemeClr val="dk1"/>
                </a:solidFill>
              </a:rPr>
              <a:t>първия елемент</a:t>
            </a:r>
            <a:r>
              <a:rPr lang="en" sz="1800">
                <a:solidFill>
                  <a:schemeClr val="dk1"/>
                </a:solidFill>
              </a:rPr>
              <a:t>, който селекторът открие.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" sz="1800" b="1">
                <a:solidFill>
                  <a:srgbClr val="00DED4"/>
                </a:solidFill>
              </a:rPr>
              <a:t>querySelectorAll(selector)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/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romanLcPeriod"/>
            </a:pPr>
            <a:r>
              <a:rPr lang="en" sz="1800">
                <a:solidFill>
                  <a:schemeClr val="dk1"/>
                </a:solidFill>
              </a:rPr>
              <a:t>Връща </a:t>
            </a:r>
            <a:r>
              <a:rPr lang="en" sz="1800" b="1" u="sng">
                <a:solidFill>
                  <a:schemeClr val="dk1"/>
                </a:solidFill>
              </a:rPr>
              <a:t>колекция/масив от елементи</a:t>
            </a:r>
            <a:r>
              <a:rPr lang="en" sz="1800">
                <a:solidFill>
                  <a:schemeClr val="dk1"/>
                </a:solidFill>
              </a:rPr>
              <a:t>, които отговарят на селектора.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/>
          <p:nvPr/>
        </p:nvSpPr>
        <p:spPr>
          <a:xfrm>
            <a:off x="0" y="0"/>
            <a:ext cx="9144000" cy="717900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7"/>
          <p:cNvSpPr txBox="1"/>
          <p:nvPr/>
        </p:nvSpPr>
        <p:spPr>
          <a:xfrm>
            <a:off x="0" y="112350"/>
            <a:ext cx="68055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r>
              <a:rPr lang="en" sz="2400" b="1" i="0" u="none" strike="noStrike" cap="none">
                <a:solidFill>
                  <a:srgbClr val="00DED4"/>
                </a:solidFill>
                <a:latin typeface="Arial"/>
                <a:ea typeface="Arial"/>
                <a:cs typeface="Arial"/>
                <a:sym typeface="Arial"/>
              </a:rPr>
              <a:t>querySelector</a:t>
            </a:r>
            <a:r>
              <a:rPr lang="en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methods</a:t>
            </a:r>
            <a:endParaRPr/>
          </a:p>
        </p:txBody>
      </p:sp>
      <p:sp>
        <p:nvSpPr>
          <p:cNvPr id="219" name="Google Shape;219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</a:rPr>
              <a:t>И двата метода приемат параметър стринг -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" sz="1800">
                <a:solidFill>
                  <a:schemeClr val="dk1"/>
                </a:solidFill>
              </a:rPr>
              <a:t>CSS селектора на елемента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  var header = document.</a:t>
            </a:r>
            <a:r>
              <a:rPr lang="en" sz="1800" b="1">
                <a:solidFill>
                  <a:srgbClr val="00DED4"/>
                </a:solidFill>
              </a:rPr>
              <a:t>querySelector('#header')</a:t>
            </a:r>
            <a:r>
              <a:rPr lang="en" sz="1800">
                <a:solidFill>
                  <a:schemeClr val="dk1"/>
                </a:solidFill>
              </a:rPr>
              <a:t>;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/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       var navItems = document.</a:t>
            </a:r>
            <a:r>
              <a:rPr lang="en" sz="1800" b="1">
                <a:solidFill>
                  <a:srgbClr val="00DED4"/>
                </a:solidFill>
              </a:rPr>
              <a:t>querySelectorAll('#main-nav li')</a:t>
            </a:r>
            <a:r>
              <a:rPr lang="en" sz="1800">
                <a:solidFill>
                  <a:schemeClr val="dk1"/>
                </a:solidFill>
              </a:rPr>
              <a:t>;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solidFill>
                <a:srgbClr val="0F9D58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004B7">
            <a:alpha val="59215"/>
          </a:srgbClr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>
            <a:spLocks noGrp="1"/>
          </p:cNvSpPr>
          <p:nvPr>
            <p:ph type="title"/>
          </p:nvPr>
        </p:nvSpPr>
        <p:spPr>
          <a:xfrm>
            <a:off x="311700" y="1289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chemeClr val="lt1"/>
                </a:solidFill>
              </a:rPr>
              <a:t>Селектиране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chemeClr val="lt1"/>
                </a:solidFill>
              </a:rPr>
              <a:t>на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chemeClr val="lt1"/>
                </a:solidFill>
              </a:rPr>
              <a:t>вложени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chemeClr val="lt1"/>
                </a:solidFill>
              </a:rPr>
              <a:t>елементи</a:t>
            </a:r>
            <a:endParaRPr/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434343"/>
                </a:solidFill>
              </a:rPr>
              <a:t>Избиране на всички DIV-елементи, намиращи се в елемент с id = "wrapper„</a:t>
            </a:r>
            <a:endParaRPr sz="14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6004B7"/>
                </a:solidFill>
              </a:rPr>
              <a:t>var wrapper = document.getElementById('wrapper');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6004B7"/>
                </a:solidFill>
              </a:rPr>
              <a:t>var divsInWrapper = wrapper.getElementsByTagName('div');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</p:txBody>
      </p:sp>
      <p:sp>
        <p:nvSpPr>
          <p:cNvPr id="230" name="Google Shape;230;p39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6004B7">
              <a:alpha val="5921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9"/>
          <p:cNvSpPr txBox="1"/>
          <p:nvPr/>
        </p:nvSpPr>
        <p:spPr>
          <a:xfrm>
            <a:off x="150975" y="-172525"/>
            <a:ext cx="68055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Селектиране на вложени елементи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DB70C">
            <a:alpha val="71372"/>
          </a:srgbClr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>
            <a:spLocks noGrp="1"/>
          </p:cNvSpPr>
          <p:nvPr>
            <p:ph type="title"/>
          </p:nvPr>
        </p:nvSpPr>
        <p:spPr>
          <a:xfrm>
            <a:off x="311700" y="1461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chemeClr val="lt1"/>
                </a:solidFill>
              </a:rPr>
              <a:t>Node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chemeClr val="lt1"/>
                </a:solidFill>
              </a:rPr>
              <a:t>Nodes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chemeClr val="lt1"/>
                </a:solidFill>
              </a:rPr>
              <a:t>NodeList</a:t>
            </a:r>
            <a:endParaRPr/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434343"/>
                </a:solidFill>
              </a:rPr>
              <a:t>NodeList - колекцията от елементи, резултат от селектиране с метод с  DOM селектор:</a:t>
            </a:r>
            <a:endParaRPr>
              <a:solidFill>
                <a:srgbClr val="434343"/>
              </a:solidFill>
            </a:endParaRPr>
          </a:p>
          <a:p>
            <a:pPr marL="1587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rgbClr val="434343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o"/>
            </a:pPr>
            <a:r>
              <a:rPr lang="en">
                <a:solidFill>
                  <a:srgbClr val="434343"/>
                </a:solidFill>
              </a:rPr>
              <a:t>getElementsByTagName(tagName)</a:t>
            </a:r>
            <a:endParaRPr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o"/>
            </a:pPr>
            <a:r>
              <a:rPr lang="en">
                <a:solidFill>
                  <a:srgbClr val="434343"/>
                </a:solidFill>
              </a:rPr>
              <a:t>getElementsByName(name)</a:t>
            </a:r>
            <a:endParaRPr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o"/>
            </a:pPr>
            <a:r>
              <a:rPr lang="en">
                <a:solidFill>
                  <a:srgbClr val="434343"/>
                </a:solidFill>
              </a:rPr>
              <a:t>getElementsByClassName(className)</a:t>
            </a:r>
            <a:endParaRPr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o"/>
            </a:pPr>
            <a:r>
              <a:rPr lang="en">
                <a:solidFill>
                  <a:srgbClr val="434343"/>
                </a:solidFill>
              </a:rPr>
              <a:t>querySelectorAll(selector)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Arial"/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242" name="Google Shape;242;p4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8DB70C">
              <a:alpha val="7137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1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NodeList</a:t>
            </a: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434343"/>
                </a:solidFill>
              </a:rPr>
              <a:t>NodeList прилича на масив, но не е:)</a:t>
            </a:r>
            <a:endParaRPr>
              <a:solidFill>
                <a:srgbClr val="434343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solidFill>
                <a:srgbClr val="434343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" sz="1800">
                <a:solidFill>
                  <a:srgbClr val="434343"/>
                </a:solidFill>
              </a:rPr>
              <a:t>Обект - със свойства, подобни на масива</a:t>
            </a:r>
            <a:endParaRPr/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" sz="1800">
                <a:solidFill>
                  <a:srgbClr val="434343"/>
                </a:solidFill>
              </a:rPr>
              <a:t>length и индекси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" sz="1800">
                <a:solidFill>
                  <a:srgbClr val="434343"/>
                </a:solidFill>
              </a:rPr>
              <a:t>Ако го обхождаме с for-in може да получим неочаквани резултати:)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"/>
              <a:buFont typeface="Arial"/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249" name="Google Shape;249;p4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8DB70C">
              <a:alpha val="7137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2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NodeList</a:t>
            </a: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15B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>
            <a:spLocks noGrp="1"/>
          </p:cNvSpPr>
          <p:nvPr>
            <p:ph type="title"/>
          </p:nvPr>
        </p:nvSpPr>
        <p:spPr>
          <a:xfrm>
            <a:off x="311700" y="1461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351C75"/>
                </a:solidFill>
              </a:rPr>
              <a:t>Static</a:t>
            </a:r>
            <a:r>
              <a:rPr lang="en" sz="3000" b="1">
                <a:solidFill>
                  <a:srgbClr val="FAFFD8"/>
                </a:solidFill>
              </a:rPr>
              <a:t> NodeList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FAFFD8"/>
                </a:solidFill>
              </a:rPr>
              <a:t>&amp;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rgbClr val="351C75"/>
                </a:solidFill>
              </a:rPr>
              <a:t>Live</a:t>
            </a:r>
            <a:r>
              <a:rPr lang="en" sz="3000" b="1">
                <a:solidFill>
                  <a:srgbClr val="FAFFD8"/>
                </a:solidFill>
              </a:rPr>
              <a:t> NodeList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 i="1">
                <a:solidFill>
                  <a:srgbClr val="FAFFD8"/>
                </a:solidFill>
              </a:rPr>
              <a:t>info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 b="1">
              <a:solidFill>
                <a:schemeClr val="lt1"/>
              </a:solidFill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endParaRPr sz="30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</a:rPr>
              <a:t>Съществуват два вида NodeList-и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" sz="1800">
                <a:solidFill>
                  <a:schemeClr val="dk1"/>
                </a:solidFill>
              </a:rPr>
              <a:t>Методите </a:t>
            </a:r>
            <a:r>
              <a:rPr lang="en" sz="1800" b="1" u="sng">
                <a:solidFill>
                  <a:srgbClr val="FF715B"/>
                </a:solidFill>
              </a:rPr>
              <a:t>getElementsBy</a:t>
            </a:r>
            <a:r>
              <a:rPr lang="en" sz="1800">
                <a:solidFill>
                  <a:schemeClr val="dk1"/>
                </a:solidFill>
              </a:rPr>
              <a:t> - връщат </a:t>
            </a:r>
            <a:r>
              <a:rPr lang="en" sz="1800" b="1" u="sng">
                <a:solidFill>
                  <a:srgbClr val="FF715B"/>
                </a:solidFill>
              </a:rPr>
              <a:t>LiveNodeList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" sz="1800">
                <a:solidFill>
                  <a:schemeClr val="dk1"/>
                </a:solidFill>
              </a:rPr>
              <a:t>Методите </a:t>
            </a:r>
            <a:r>
              <a:rPr lang="en" sz="1800" b="1" u="sng">
                <a:solidFill>
                  <a:srgbClr val="FF715B"/>
                </a:solidFill>
              </a:rPr>
              <a:t>querySelectorAll</a:t>
            </a:r>
            <a:r>
              <a:rPr lang="en" sz="1800">
                <a:solidFill>
                  <a:schemeClr val="dk1"/>
                </a:solidFill>
              </a:rPr>
              <a:t> - връщат </a:t>
            </a:r>
            <a:r>
              <a:rPr lang="en" sz="1800" b="1">
                <a:solidFill>
                  <a:srgbClr val="FF715B"/>
                </a:solidFill>
              </a:rPr>
              <a:t>StaticNodeList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1" u="sng">
                <a:solidFill>
                  <a:srgbClr val="FF715B"/>
                </a:solidFill>
              </a:rPr>
              <a:t>LiveNodeList</a:t>
            </a:r>
            <a:r>
              <a:rPr lang="en" sz="1800">
                <a:solidFill>
                  <a:schemeClr val="dk1"/>
                </a:solidFill>
              </a:rPr>
              <a:t> следят какво се случва със селектираните елементи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" sz="1800">
                <a:solidFill>
                  <a:schemeClr val="dk1"/>
                </a:solidFill>
              </a:rPr>
              <a:t>Дори, когато са направени промени в DOM, след като е създаден NodeList-a, промените се отразяват в него.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rgbClr val="434343"/>
              </a:solidFill>
            </a:endParaRPr>
          </a:p>
        </p:txBody>
      </p:sp>
      <p:sp>
        <p:nvSpPr>
          <p:cNvPr id="261" name="Google Shape;261;p4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FF71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4"/>
          <p:cNvSpPr txBox="1"/>
          <p:nvPr/>
        </p:nvSpPr>
        <p:spPr>
          <a:xfrm>
            <a:off x="0" y="0"/>
            <a:ext cx="9072600" cy="684000"/>
          </a:xfrm>
          <a:prstGeom prst="rect">
            <a:avLst/>
          </a:prstGeom>
          <a:solidFill>
            <a:srgbClr val="FF715B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2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Static NodeList and Live NodeList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28900" cy="3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 b="1">
                <a:solidFill>
                  <a:srgbClr val="FF715B"/>
                </a:solidFill>
              </a:rPr>
              <a:t>StaticNodeList </a:t>
            </a:r>
            <a:r>
              <a:rPr lang="en" sz="1800">
                <a:solidFill>
                  <a:schemeClr val="dk1"/>
                </a:solidFill>
              </a:rPr>
              <a:t>пози елементите такива, каквито са били в момента на изпълнение на метода.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</a:rPr>
              <a:t>LiveNodeList  е по-бавен от обикновен масив.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" sz="1800">
                <a:solidFill>
                  <a:schemeClr val="dk1"/>
                </a:solidFill>
              </a:rPr>
              <a:t>Препоръчително е да се кешира, за да бъде по-бърз</a:t>
            </a:r>
            <a:endParaRPr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" sz="1800">
                <a:solidFill>
                  <a:schemeClr val="dk1"/>
                </a:solidFill>
              </a:rPr>
              <a:t>По-добре да се конвертира към масив, когато ще бъде обхождан много пъти.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rgbClr val="434343"/>
              </a:solidFill>
            </a:endParaRPr>
          </a:p>
        </p:txBody>
      </p:sp>
      <p:sp>
        <p:nvSpPr>
          <p:cNvPr id="268" name="Google Shape;268;p4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FF71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5"/>
          <p:cNvSpPr txBox="1"/>
          <p:nvPr/>
        </p:nvSpPr>
        <p:spPr>
          <a:xfrm>
            <a:off x="0" y="0"/>
            <a:ext cx="9072600" cy="684000"/>
          </a:xfrm>
          <a:prstGeom prst="rect">
            <a:avLst/>
          </a:prstGeom>
          <a:solidFill>
            <a:srgbClr val="FF715B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2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Static NodeList and Live NodeList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918</Words>
  <Application>Microsoft Office PowerPoint</Application>
  <PresentationFormat>Презентация на цял екран (16:9)</PresentationFormat>
  <Paragraphs>237</Paragraphs>
  <Slides>33</Slides>
  <Notes>33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33</vt:i4>
      </vt:variant>
    </vt:vector>
  </HeadingPairs>
  <TitlesOfParts>
    <vt:vector size="39" baseType="lpstr">
      <vt:lpstr>Arial</vt:lpstr>
      <vt:lpstr>Noto Sans Symbols</vt:lpstr>
      <vt:lpstr>Calibri</vt:lpstr>
      <vt:lpstr>Courier New</vt:lpstr>
      <vt:lpstr>Syncopate</vt:lpstr>
      <vt:lpstr>simple-light-2</vt:lpstr>
      <vt:lpstr>web разработка</vt:lpstr>
      <vt:lpstr>Презентация на PowerPoint</vt:lpstr>
      <vt:lpstr>Вградени  обекти в браузъра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DOM Document Object Model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Селектиране на  HTML  елемент/и </vt:lpstr>
      <vt:lpstr>Презентация на PowerPoint</vt:lpstr>
      <vt:lpstr>Презентация на PowerPoint</vt:lpstr>
      <vt:lpstr>Презентация на PowerPoint</vt:lpstr>
      <vt:lpstr>Използване  на  getElementsBy  методи </vt:lpstr>
      <vt:lpstr>Презентация на PowerPoint</vt:lpstr>
      <vt:lpstr>Презентация на PowerPoint</vt:lpstr>
      <vt:lpstr>Презентация на PowerPoint</vt:lpstr>
      <vt:lpstr>Използване  на  querySelector  методи </vt:lpstr>
      <vt:lpstr>Презентация на PowerPoint</vt:lpstr>
      <vt:lpstr>Презентация на PowerPoint</vt:lpstr>
      <vt:lpstr>Селектиране  на  вложени елементи </vt:lpstr>
      <vt:lpstr>Презентация на PowerPoint</vt:lpstr>
      <vt:lpstr>Node Nodes NodeList </vt:lpstr>
      <vt:lpstr>Презентация на PowerPoint</vt:lpstr>
      <vt:lpstr>Презентация на PowerPoint</vt:lpstr>
      <vt:lpstr>Static NodeList  &amp; Live NodeList info  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разработка</dc:title>
  <dc:creator>Milena</dc:creator>
  <cp:lastModifiedBy>Ariel</cp:lastModifiedBy>
  <cp:revision>1</cp:revision>
  <dcterms:modified xsi:type="dcterms:W3CDTF">2019-05-04T16:46:26Z</dcterms:modified>
</cp:coreProperties>
</file>