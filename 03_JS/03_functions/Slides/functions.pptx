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5143500" type="screen16x9"/>
  <p:notesSz cx="6858000" cy="9144000"/>
  <p:embeddedFontLst>
    <p:embeddedFont>
      <p:font typeface="Syncopate" panose="020B0604020202020204" charset="0"/>
      <p:regular r:id="rId27"/>
      <p:bold r:id="rId28"/>
    </p:embeddedFont>
    <p:embeddedFont>
      <p:font typeface="Consolas" panose="020B0609020204030204" pitchFamily="49" charset="0"/>
      <p:regular r:id="rId29"/>
      <p:bold r:id="rId30"/>
      <p:italic r:id="rId31"/>
      <p:boldItalic r:id="rId32"/>
    </p:embeddedFont>
    <p:embeddedFont>
      <p:font typeface="Verdana" panose="020B0604030504040204" pitchFamily="34" charset="0"/>
      <p:regular r:id="rId33"/>
      <p:bold r:id="rId34"/>
      <p:italic r:id="rId35"/>
      <p:boldItalic r:id="rId36"/>
    </p:embeddedFont>
    <p:embeddedFont>
      <p:font typeface="Calibri" panose="020F050202020403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6" d="100"/>
          <a:sy n="116" d="100"/>
        </p:scale>
        <p:origin x="-413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8.fntdata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3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5.fntdata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bg-BG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55725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1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2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3112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8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3112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10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3112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11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3112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3112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13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953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14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953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15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953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16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953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17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953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18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953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19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953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20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953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p21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953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22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953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23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разен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лавен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888888"/>
              </a:buClr>
              <a:buSzPts val="9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лавие и съдържание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339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lvl="0" indent="-28003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marL="914400" lvl="1" indent="-280035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2pPr>
            <a:lvl3pPr marL="1371600" lvl="2" indent="-314325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3pPr>
            <a:lvl4pPr marL="1828800" lvl="3" indent="-280035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4pPr>
            <a:lvl5pPr marL="2286000" lvl="4" indent="-314325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5pPr>
            <a:lvl6pPr marL="2743200" lvl="5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marL="3200400" lvl="6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marL="3657600" lvl="7" indent="-280034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marL="4114800" lvl="8" indent="-280034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лавка на секция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888888"/>
              </a:buClr>
              <a:buSzPts val="8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888888"/>
              </a:buClr>
              <a:buSzPts val="6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е съдържания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457200" y="1203325"/>
            <a:ext cx="4038600" cy="339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lvl="0" indent="-30861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  <a:defRPr sz="2800"/>
            </a:lvl1pPr>
            <a:lvl2pPr marL="914400" lvl="1" indent="-29718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Char char="●"/>
              <a:defRPr sz="2400"/>
            </a:lvl2pPr>
            <a:lvl3pPr marL="1371600" lvl="2" indent="-32385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500"/>
              <a:buChar char="–"/>
              <a:defRPr sz="2000"/>
            </a:lvl3pPr>
            <a:lvl4pPr marL="1828800" lvl="3" indent="-280035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4pPr>
            <a:lvl5pPr marL="2286000" lvl="4" indent="-314325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 sz="1800"/>
            </a:lvl5pPr>
            <a:lvl6pPr marL="2743200" lvl="5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6pPr>
            <a:lvl7pPr marL="3200400" lvl="6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7pPr>
            <a:lvl8pPr marL="3657600" lvl="7" indent="-280034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8pPr>
            <a:lvl9pPr marL="4114800" lvl="8" indent="-280034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810"/>
              <a:buChar char="●"/>
              <a:defRPr sz="18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4648200" y="1203325"/>
            <a:ext cx="4038600" cy="339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lvl="0" indent="-30861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  <a:defRPr sz="2800"/>
            </a:lvl1pPr>
            <a:lvl2pPr marL="914400" lvl="1" indent="-29718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Char char="●"/>
              <a:defRPr sz="2400"/>
            </a:lvl2pPr>
            <a:lvl3pPr marL="1371600" lvl="2" indent="-32385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500"/>
              <a:buChar char="–"/>
              <a:defRPr sz="2000"/>
            </a:lvl3pPr>
            <a:lvl4pPr marL="1828800" lvl="3" indent="-280035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4pPr>
            <a:lvl5pPr marL="2286000" lvl="4" indent="-314325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 sz="1800"/>
            </a:lvl5pPr>
            <a:lvl6pPr marL="2743200" lvl="5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6pPr>
            <a:lvl7pPr marL="3200400" lvl="6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7pPr>
            <a:lvl8pPr marL="3657600" lvl="7" indent="-280034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8pPr>
            <a:lvl9pPr marL="4114800" lvl="8" indent="-280034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810"/>
              <a:buChar char="●"/>
              <a:defRPr sz="18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72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Char char="●"/>
              <a:defRPr sz="2400"/>
            </a:lvl1pPr>
            <a:lvl2pPr marL="914400" lvl="1" indent="-28575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/>
            </a:lvl2pPr>
            <a:lvl3pPr marL="1371600" lvl="2" indent="-314325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 sz="1800"/>
            </a:lvl3pPr>
            <a:lvl4pPr marL="1828800" lvl="3" indent="-274319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4pPr>
            <a:lvl5pPr marL="2286000" lvl="4" indent="-3048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Char char="–"/>
              <a:defRPr sz="1600"/>
            </a:lvl5pPr>
            <a:lvl6pPr marL="2743200" lvl="5" indent="-27432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6pPr>
            <a:lvl7pPr marL="3200400" lvl="6" indent="-27432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7pPr>
            <a:lvl8pPr marL="3657600" lvl="7" indent="-27432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8pPr>
            <a:lvl9pPr marL="4114800" lvl="8" indent="-27432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720"/>
              <a:buChar char="●"/>
              <a:defRPr sz="16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72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Char char="●"/>
              <a:defRPr sz="2400"/>
            </a:lvl1pPr>
            <a:lvl2pPr marL="914400" lvl="1" indent="-28575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/>
            </a:lvl2pPr>
            <a:lvl3pPr marL="1371600" lvl="2" indent="-314325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 sz="1800"/>
            </a:lvl3pPr>
            <a:lvl4pPr marL="1828800" lvl="3" indent="-274319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4pPr>
            <a:lvl5pPr marL="2286000" lvl="4" indent="-3048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Char char="–"/>
              <a:defRPr sz="1600"/>
            </a:lvl5pPr>
            <a:lvl6pPr marL="2743200" lvl="5" indent="-27432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6pPr>
            <a:lvl7pPr marL="3200400" lvl="6" indent="-27432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7pPr>
            <a:lvl8pPr marL="3657600" lvl="7" indent="-27432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8pPr>
            <a:lvl9pPr marL="4114800" lvl="8" indent="-27432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720"/>
              <a:buChar char="●"/>
              <a:defRPr sz="16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амо заглавие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ъдържание с надпис" type="objTx">
  <p:cSld name="OBJECT_WITH_CAPTIO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 sz="3200"/>
            </a:lvl1pPr>
            <a:lvl2pPr marL="914400" lvl="1" indent="-30861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  <a:defRPr sz="2800"/>
            </a:lvl2pPr>
            <a:lvl3pPr marL="1371600" lvl="2" indent="-34290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 sz="2400"/>
            </a:lvl3pPr>
            <a:lvl4pPr marL="1828800" lvl="3" indent="-28575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/>
            </a:lvl4pPr>
            <a:lvl5pPr marL="2286000" lvl="4" indent="-32385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Char char="–"/>
              <a:defRPr sz="2000"/>
            </a:lvl5pPr>
            <a:lvl6pPr marL="2743200" lvl="5" indent="-28575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/>
            </a:lvl6pPr>
            <a:lvl7pPr marL="3200400" lvl="6" indent="-28575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/>
            </a:lvl7pPr>
            <a:lvl8pPr marL="3657600" lvl="7" indent="-28575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/>
            </a:lvl8pPr>
            <a:lvl9pPr marL="4114800" lvl="8" indent="-28575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900"/>
              <a:buChar char="●"/>
              <a:defRPr sz="2000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5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7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67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405"/>
              <a:buNone/>
              <a:defRPr sz="9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Картина с надпис" type="picTx">
  <p:cSld name="PICTURE_WITH_CAPTIO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>
            <a:spLocks noGrp="1"/>
          </p:cNvSpPr>
          <p:nvPr>
            <p:ph type="pic" idx="2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None/>
              <a:defRPr sz="2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  <a:defRPr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None/>
              <a:defRPr sz="20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None/>
              <a:defRPr sz="20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None/>
              <a:defRPr sz="20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None/>
              <a:defRPr sz="20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None/>
              <a:defRPr sz="20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900"/>
              <a:buFont typeface="Noto Sans Symbols"/>
              <a:buNone/>
              <a:defRPr sz="20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5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7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67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405"/>
              <a:buNone/>
              <a:defRPr sz="900"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лавие и вертикален текст" type="vertTx">
  <p:cSld name="VERTICAL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 rot="5400000">
            <a:off x="2874600" y="-1213920"/>
            <a:ext cx="3394440" cy="822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lvl="0" indent="-28003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marL="914400" lvl="1" indent="-280035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2pPr>
            <a:lvl3pPr marL="1371600" lvl="2" indent="-314325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3pPr>
            <a:lvl4pPr marL="1828800" lvl="3" indent="-280035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4pPr>
            <a:lvl5pPr marL="2286000" lvl="4" indent="-314325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5pPr>
            <a:lvl6pPr marL="2743200" lvl="5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marL="3200400" lvl="6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marL="3657600" lvl="7" indent="-280034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marL="4114800" lvl="8" indent="-280034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но заглавие и текст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title"/>
          </p:nvPr>
        </p:nvSpPr>
        <p:spPr>
          <a:xfrm rot="5400000">
            <a:off x="5840413" y="1606550"/>
            <a:ext cx="3852862" cy="2128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1"/>
          </p:nvPr>
        </p:nvSpPr>
        <p:spPr>
          <a:xfrm rot="5400000">
            <a:off x="1504157" y="-448468"/>
            <a:ext cx="3852862" cy="623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lvl="0" indent="-28003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marL="914400" lvl="1" indent="-280035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2pPr>
            <a:lvl3pPr marL="1371600" lvl="2" indent="-314325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3pPr>
            <a:lvl4pPr marL="1828800" lvl="3" indent="-280035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4pPr>
            <a:lvl5pPr marL="2286000" lvl="4" indent="-314325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5pPr>
            <a:lvl6pPr marL="2743200" lvl="5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marL="3200400" lvl="6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marL="3657600" lvl="7" indent="-280034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marL="4114800" lvl="8" indent="-280034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разен" typ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лавие и съдържание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8003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marL="914400" lvl="1" indent="-280035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2pPr>
            <a:lvl3pPr marL="1371600" lvl="2" indent="-314325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3pPr>
            <a:lvl4pPr marL="1828800" lvl="3" indent="-280035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4pPr>
            <a:lvl5pPr marL="2286000" lvl="4" indent="-314325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5pPr>
            <a:lvl6pPr marL="2743200" lvl="5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marL="3200400" lvl="6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marL="3657600" lvl="7" indent="-280034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marL="4114800" lvl="8" indent="-280034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лавен слайд" type="title">
  <p:cSld name="TITLE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888888"/>
              </a:buClr>
              <a:buSzPts val="9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лавка на секция" type="secHead">
  <p:cSld name="SECTION_HEAD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888888"/>
              </a:buClr>
              <a:buSzPts val="8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888888"/>
              </a:buClr>
              <a:buSzPts val="6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е съдържания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311150" y="1152525"/>
            <a:ext cx="4183063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0861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  <a:defRPr sz="2800"/>
            </a:lvl1pPr>
            <a:lvl2pPr marL="914400" lvl="1" indent="-29718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Char char="●"/>
              <a:defRPr sz="2400"/>
            </a:lvl2pPr>
            <a:lvl3pPr marL="1371600" lvl="2" indent="-32385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500"/>
              <a:buChar char="–"/>
              <a:defRPr sz="2000"/>
            </a:lvl3pPr>
            <a:lvl4pPr marL="1828800" lvl="3" indent="-280035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4pPr>
            <a:lvl5pPr marL="2286000" lvl="4" indent="-314325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 sz="1800"/>
            </a:lvl5pPr>
            <a:lvl6pPr marL="2743200" lvl="5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6pPr>
            <a:lvl7pPr marL="3200400" lvl="6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7pPr>
            <a:lvl8pPr marL="3657600" lvl="7" indent="-280034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8pPr>
            <a:lvl9pPr marL="4114800" lvl="8" indent="-280034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810"/>
              <a:buChar char="●"/>
              <a:defRPr sz="18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4646613" y="1152525"/>
            <a:ext cx="4184650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0861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  <a:defRPr sz="2800"/>
            </a:lvl1pPr>
            <a:lvl2pPr marL="914400" lvl="1" indent="-29718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Char char="●"/>
              <a:defRPr sz="2400"/>
            </a:lvl2pPr>
            <a:lvl3pPr marL="1371600" lvl="2" indent="-32385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500"/>
              <a:buChar char="–"/>
              <a:defRPr sz="2000"/>
            </a:lvl3pPr>
            <a:lvl4pPr marL="1828800" lvl="3" indent="-280035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4pPr>
            <a:lvl5pPr marL="2286000" lvl="4" indent="-314325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 sz="1800"/>
            </a:lvl5pPr>
            <a:lvl6pPr marL="2743200" lvl="5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6pPr>
            <a:lvl7pPr marL="3200400" lvl="6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7pPr>
            <a:lvl8pPr marL="3657600" lvl="7" indent="-280034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8pPr>
            <a:lvl9pPr marL="4114800" lvl="8" indent="-280034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810"/>
              <a:buChar char="●"/>
              <a:defRPr sz="18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720"/>
              <a:buNone/>
              <a:defRPr sz="1600" b="1"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body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Char char="●"/>
              <a:defRPr sz="2400"/>
            </a:lvl1pPr>
            <a:lvl2pPr marL="914400" lvl="1" indent="-28575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/>
            </a:lvl2pPr>
            <a:lvl3pPr marL="1371600" lvl="2" indent="-314325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 sz="1800"/>
            </a:lvl3pPr>
            <a:lvl4pPr marL="1828800" lvl="3" indent="-274319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4pPr>
            <a:lvl5pPr marL="2286000" lvl="4" indent="-3048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Char char="–"/>
              <a:defRPr sz="1600"/>
            </a:lvl5pPr>
            <a:lvl6pPr marL="2743200" lvl="5" indent="-27432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6pPr>
            <a:lvl7pPr marL="3200400" lvl="6" indent="-27432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7pPr>
            <a:lvl8pPr marL="3657600" lvl="7" indent="-27432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8pPr>
            <a:lvl9pPr marL="4114800" lvl="8" indent="-27432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720"/>
              <a:buChar char="●"/>
              <a:defRPr sz="1600"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720"/>
              <a:buNone/>
              <a:defRPr sz="16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Char char="●"/>
              <a:defRPr sz="2400"/>
            </a:lvl1pPr>
            <a:lvl2pPr marL="914400" lvl="1" indent="-28575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/>
            </a:lvl2pPr>
            <a:lvl3pPr marL="1371600" lvl="2" indent="-314325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 sz="1800"/>
            </a:lvl3pPr>
            <a:lvl4pPr marL="1828800" lvl="3" indent="-274319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4pPr>
            <a:lvl5pPr marL="2286000" lvl="4" indent="-3048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Char char="–"/>
              <a:defRPr sz="1600"/>
            </a:lvl5pPr>
            <a:lvl6pPr marL="2743200" lvl="5" indent="-27432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6pPr>
            <a:lvl7pPr marL="3200400" lvl="6" indent="-27432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7pPr>
            <a:lvl8pPr marL="3657600" lvl="7" indent="-27432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8pPr>
            <a:lvl9pPr marL="4114800" lvl="8" indent="-27432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720"/>
              <a:buChar char="●"/>
              <a:defRPr sz="16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амо заглавие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ъдържание с надпис" type="objTx">
  <p:cSld name="OBJECT_WITH_CAPTION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 sz="3200"/>
            </a:lvl1pPr>
            <a:lvl2pPr marL="914400" lvl="1" indent="-30861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  <a:defRPr sz="2800"/>
            </a:lvl2pPr>
            <a:lvl3pPr marL="1371600" lvl="2" indent="-34290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 sz="2400"/>
            </a:lvl3pPr>
            <a:lvl4pPr marL="1828800" lvl="3" indent="-28575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/>
            </a:lvl4pPr>
            <a:lvl5pPr marL="2286000" lvl="4" indent="-32385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Char char="–"/>
              <a:defRPr sz="2000"/>
            </a:lvl5pPr>
            <a:lvl6pPr marL="2743200" lvl="5" indent="-28575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/>
            </a:lvl6pPr>
            <a:lvl7pPr marL="3200400" lvl="6" indent="-28575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/>
            </a:lvl7pPr>
            <a:lvl8pPr marL="3657600" lvl="7" indent="-28575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/>
            </a:lvl8pPr>
            <a:lvl9pPr marL="4114800" lvl="8" indent="-28575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900"/>
              <a:buChar char="●"/>
              <a:defRPr sz="2000"/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5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7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67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405"/>
              <a:buNone/>
              <a:defRPr sz="900"/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Картина с надпис" type="picTx">
  <p:cSld name="PICTURE_WITH_CAPTION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100" name="Google Shape;100;p22"/>
          <p:cNvSpPr>
            <a:spLocks noGrp="1"/>
          </p:cNvSpPr>
          <p:nvPr>
            <p:ph type="pic" idx="2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900"/>
              <a:buFont typeface="Noto Sans Symbols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body" idx="1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5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7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67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405"/>
              <a:buNone/>
              <a:defRPr sz="900"/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лавие и вертикален текст" type="vertTx">
  <p:cSld name="VERTICAL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body" idx="1"/>
          </p:nvPr>
        </p:nvSpPr>
        <p:spPr>
          <a:xfrm rot="5400000">
            <a:off x="2863800" y="-1399680"/>
            <a:ext cx="3416040" cy="852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8003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marL="914400" lvl="1" indent="-280035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2pPr>
            <a:lvl3pPr marL="1371600" lvl="2" indent="-314325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3pPr>
            <a:lvl4pPr marL="1828800" lvl="3" indent="-280035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4pPr>
            <a:lvl5pPr marL="2286000" lvl="4" indent="-314325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5pPr>
            <a:lvl6pPr marL="2743200" lvl="5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marL="3200400" lvl="6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marL="3657600" lvl="7" indent="-280034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marL="4114800" lvl="8" indent="-280034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106" name="Google Shape;106;p2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но заглавие и текст" type="vertTitleAndTx">
  <p:cSld name="VERTICAL_TITLE_AND_VERTICAL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>
            <a:spLocks noGrp="1"/>
          </p:cNvSpPr>
          <p:nvPr>
            <p:ph type="title"/>
          </p:nvPr>
        </p:nvSpPr>
        <p:spPr>
          <a:xfrm rot="5400000">
            <a:off x="5704682" y="1442244"/>
            <a:ext cx="4124325" cy="2128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body" idx="1"/>
          </p:nvPr>
        </p:nvSpPr>
        <p:spPr>
          <a:xfrm rot="5400000">
            <a:off x="1368425" y="-612775"/>
            <a:ext cx="4124325" cy="623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8003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marL="914400" lvl="1" indent="-280035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2pPr>
            <a:lvl3pPr marL="1371600" lvl="2" indent="-314325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3pPr>
            <a:lvl4pPr marL="1828800" lvl="3" indent="-280035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4pPr>
            <a:lvl5pPr marL="2286000" lvl="4" indent="-314325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5pPr>
            <a:lvl6pPr marL="2743200" lvl="5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marL="3200400" lvl="6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marL="3657600" lvl="7" indent="-280034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marL="4114800" lvl="8" indent="-280034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0"/>
              <a:buFont typeface="Noto Sans Symbols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339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686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68605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5275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–"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68605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–"/>
              <a:defRPr sz="20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575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575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body" idx="1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686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68605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5275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–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68605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–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 rtl="0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 rtl="0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5750" algn="l" rtl="0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5750" algn="l" rtl="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/>
          <p:nvPr/>
        </p:nvSpPr>
        <p:spPr>
          <a:xfrm>
            <a:off x="-24120" y="2850840"/>
            <a:ext cx="9167760" cy="229211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5"/>
          <p:cNvSpPr txBox="1">
            <a:spLocks noGrp="1"/>
          </p:cNvSpPr>
          <p:nvPr>
            <p:ph type="title" idx="4294967295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C34A"/>
              </a:buClr>
              <a:buSzPts val="630"/>
              <a:buFont typeface="Noto Sans Symbols"/>
              <a:buNone/>
            </a:pPr>
            <a:r>
              <a:rPr lang="bg-BG" sz="1400" b="1" i="0" u="none" strike="noStrike" cap="none">
                <a:solidFill>
                  <a:srgbClr val="8BC34A"/>
                </a:solidFill>
                <a:latin typeface="Syncopate"/>
                <a:ea typeface="Syncopate"/>
                <a:cs typeface="Syncopate"/>
                <a:sym typeface="Syncopate"/>
              </a:rPr>
              <a:t>УЕБ РАЗРАБОТКА</a:t>
            </a:r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subTitle" idx="4294967295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Noto Sans Symbols"/>
              <a:buNone/>
            </a:pPr>
            <a:r>
              <a:rPr lang="bg-BG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JS функции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1240" y="497520"/>
            <a:ext cx="2980800" cy="124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5"/>
          <p:cNvSpPr/>
          <p:nvPr/>
        </p:nvSpPr>
        <p:spPr>
          <a:xfrm>
            <a:off x="-60840" y="4860360"/>
            <a:ext cx="9265321" cy="2829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Arial"/>
              <a:buNone/>
            </a:pPr>
            <a:r>
              <a:rPr lang="bg-BG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Милена Томова НПО ВРАЦА СОФТУЕР ОБЩЕСТВО - КУРС ПО Уеб Разработка - 11.201</a:t>
            </a:r>
            <a:r>
              <a:rPr lang="bg-BG" b="1">
                <a:solidFill>
                  <a:srgbClr val="CCCCCC"/>
                </a:solidFill>
              </a:rPr>
              <a:t>8</a:t>
            </a:r>
            <a:r>
              <a:rPr lang="bg-BG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- ВЕРСИЯ </a:t>
            </a:r>
            <a:r>
              <a:rPr lang="bg-BG" b="1">
                <a:solidFill>
                  <a:srgbClr val="CCCCCC"/>
                </a:solidFill>
              </a:rPr>
              <a:t>6</a:t>
            </a:r>
            <a:endParaRPr sz="1400" b="1" i="0" u="none" strike="noStrike" cap="non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 txBox="1">
            <a:spLocks noGrp="1"/>
          </p:cNvSpPr>
          <p:nvPr>
            <p:ph type="body" idx="4294967295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32000" marR="0" lvl="0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30"/>
              <a:buFont typeface="Noto Sans Symbols"/>
              <a:buChar char="●"/>
            </a:pPr>
            <a:r>
              <a:rPr lang="bg-BG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Деклариране и създаване на функции в JS</a:t>
            </a:r>
            <a:endParaRPr/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262626"/>
              </a:buClr>
              <a:buSzPts val="630"/>
              <a:buFont typeface="Noto Sans Symbols"/>
              <a:buChar char="●"/>
            </a:pPr>
            <a:r>
              <a:rPr lang="bg-BG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Извикване на функции</a:t>
            </a:r>
            <a:endParaRPr/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262626"/>
              </a:buClr>
              <a:buSzPts val="630"/>
              <a:buFont typeface="Noto Sans Symbols"/>
              <a:buChar char="●"/>
            </a:pPr>
            <a:r>
              <a:rPr lang="bg-BG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Функции с параметри</a:t>
            </a:r>
            <a:endParaRPr/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262626"/>
              </a:buClr>
              <a:buSzPts val="630"/>
              <a:buFont typeface="Noto Sans Symbols"/>
              <a:buChar char="●"/>
            </a:pPr>
            <a:r>
              <a:rPr lang="bg-BG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return </a:t>
            </a: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262626"/>
              </a:buClr>
              <a:buSzPts val="630"/>
              <a:buFont typeface="Noto Sans Symbols"/>
              <a:buChar char="●"/>
            </a:pPr>
            <a:r>
              <a:rPr lang="bg-BG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Scope &amp; context</a:t>
            </a: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262626"/>
              </a:buClr>
              <a:buSzPts val="630"/>
              <a:buFont typeface="Noto Sans Symbols"/>
              <a:buChar char="●"/>
            </a:pPr>
            <a:r>
              <a:rPr lang="bg-BG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Overloading</a:t>
            </a:r>
            <a:endParaRPr/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262626"/>
              </a:buClr>
              <a:buSzPts val="630"/>
              <a:buFont typeface="Noto Sans Symbols"/>
              <a:buChar char="●"/>
            </a:pPr>
            <a:r>
              <a:rPr lang="bg-BG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Влагане на функции</a:t>
            </a: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283995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6"/>
          <p:cNvSpPr/>
          <p:nvPr/>
        </p:nvSpPr>
        <p:spPr>
          <a:xfrm>
            <a:off x="0" y="0"/>
            <a:ext cx="9143640" cy="763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6"/>
          <p:cNvSpPr/>
          <p:nvPr/>
        </p:nvSpPr>
        <p:spPr>
          <a:xfrm>
            <a:off x="0" y="30240"/>
            <a:ext cx="6805079" cy="7034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bg-BG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Съдържание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7"/>
          <p:cNvSpPr/>
          <p:nvPr/>
        </p:nvSpPr>
        <p:spPr>
          <a:xfrm>
            <a:off x="0" y="0"/>
            <a:ext cx="9143640" cy="51435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Деклариране и създаване на функции в JS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>
            <a:spLocks noGrp="1"/>
          </p:cNvSpPr>
          <p:nvPr>
            <p:ph type="body" idx="4294967295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32000" marR="0" lvl="0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10"/>
              <a:buFont typeface="Noto Sans Symbols"/>
              <a:buChar char="●"/>
            </a:pPr>
            <a:r>
              <a:rPr lang="bg-BG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Какво представляват функциите?</a:t>
            </a:r>
            <a:endParaRPr/>
          </a:p>
          <a:p>
            <a:pPr marL="432000" marR="0" lvl="0" indent="-272565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endParaRPr sz="1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endParaRPr sz="1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595959"/>
              </a:buClr>
              <a:buSzPts val="810"/>
              <a:buFont typeface="Noto Sans Symbols"/>
              <a:buChar char="●"/>
            </a:pPr>
            <a:r>
              <a:rPr lang="bg-BG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Защо използваме функции? – </a:t>
            </a:r>
            <a:endParaRPr/>
          </a:p>
          <a:p>
            <a:pPr marL="864000" marR="0" lvl="1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595959"/>
              </a:buClr>
              <a:buSzPts val="810"/>
              <a:buFont typeface="Noto Sans Symbols"/>
              <a:buChar char="●"/>
            </a:pPr>
            <a:r>
              <a:rPr lang="bg-BG" sz="1800" b="0" i="1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Избройте поне 5 причини да използваме функции.</a:t>
            </a:r>
            <a:endParaRPr/>
          </a:p>
          <a:p>
            <a:pPr marL="432000" marR="0" lvl="0" indent="-283995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8"/>
          <p:cNvSpPr/>
          <p:nvPr/>
        </p:nvSpPr>
        <p:spPr>
          <a:xfrm>
            <a:off x="0" y="0"/>
            <a:ext cx="9143640" cy="763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8"/>
          <p:cNvSpPr/>
          <p:nvPr/>
        </p:nvSpPr>
        <p:spPr>
          <a:xfrm>
            <a:off x="0" y="30240"/>
            <a:ext cx="9143640" cy="7336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3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Деклариране и създаване на функции</a:t>
            </a:r>
            <a:endParaRPr sz="3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9"/>
          <p:cNvSpPr txBox="1">
            <a:spLocks noGrp="1"/>
          </p:cNvSpPr>
          <p:nvPr>
            <p:ph type="body" idx="4294967295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32000" marR="0" lvl="0" indent="-2839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9"/>
          <p:cNvSpPr/>
          <p:nvPr/>
        </p:nvSpPr>
        <p:spPr>
          <a:xfrm>
            <a:off x="0" y="0"/>
            <a:ext cx="9143640" cy="763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9"/>
          <p:cNvSpPr/>
          <p:nvPr/>
        </p:nvSpPr>
        <p:spPr>
          <a:xfrm>
            <a:off x="0" y="30240"/>
            <a:ext cx="9143640" cy="7336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3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Деклариране и създаване на функции</a:t>
            </a:r>
            <a:endParaRPr sz="3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9"/>
          <p:cNvSpPr/>
          <p:nvPr/>
        </p:nvSpPr>
        <p:spPr>
          <a:xfrm>
            <a:off x="539552" y="1347614"/>
            <a:ext cx="7992888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marR="0" lvl="1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ourier New"/>
              <a:buChar char="o"/>
            </a:pPr>
            <a:r>
              <a:rPr lang="bg-BG"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Разрешаваме големи проблеми като ги разделяме на по-малки</a:t>
            </a:r>
            <a:endParaRPr/>
          </a:p>
          <a:p>
            <a:pPr marL="742950" marR="0" lvl="1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ourier New"/>
              <a:buChar char="o"/>
            </a:pPr>
            <a:r>
              <a:rPr lang="bg-BG"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По-добра организация на програмата</a:t>
            </a:r>
            <a:endParaRPr/>
          </a:p>
          <a:p>
            <a:pPr marL="742950" marR="0" lvl="1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ourier New"/>
              <a:buChar char="o"/>
            </a:pPr>
            <a:r>
              <a:rPr lang="bg-BG"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Кодът се чете по-лесно и е по-разбираем</a:t>
            </a:r>
            <a:endParaRPr/>
          </a:p>
          <a:p>
            <a:pPr marL="742950" marR="0" lvl="1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ourier New"/>
              <a:buChar char="o"/>
            </a:pPr>
            <a:r>
              <a:rPr lang="bg-BG"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Избягваме повторения</a:t>
            </a:r>
            <a:endParaRPr/>
          </a:p>
          <a:p>
            <a:pPr marL="742950" marR="0" lvl="1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ourier New"/>
              <a:buChar char="o"/>
            </a:pPr>
            <a:r>
              <a:rPr lang="bg-BG"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Подобряваме поддръжката на кода – променяме само на едно място.</a:t>
            </a:r>
            <a:endParaRPr/>
          </a:p>
          <a:p>
            <a:pPr marL="742950" marR="0" lvl="1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ourier New"/>
              <a:buChar char="o"/>
            </a:pPr>
            <a:r>
              <a:rPr lang="bg-BG"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Преизползване на кода – използваме функциите много пъти.</a:t>
            </a:r>
            <a:endParaRPr sz="18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0"/>
          <p:cNvSpPr txBox="1">
            <a:spLocks noGrp="1"/>
          </p:cNvSpPr>
          <p:nvPr>
            <p:ph type="body" idx="4294967295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32000" marR="0" lvl="0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30"/>
              <a:buFont typeface="Noto Sans Symbols"/>
              <a:buChar char="●"/>
            </a:pPr>
            <a:r>
              <a:rPr lang="bg-BG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Всяка функция може да има име, което се използваме за да я извикваме и тяло  /body/, което решава определена задача.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595959"/>
              </a:buClr>
              <a:buSzPts val="630"/>
              <a:buFont typeface="Noto Sans Symbols"/>
              <a:buChar char="●"/>
            </a:pPr>
            <a:r>
              <a:rPr lang="bg-BG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Името трябва да описва нейното предназначение.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000" marR="0" lvl="0" indent="0" algn="l" rtl="0">
              <a:lnSpc>
                <a:spcPct val="200000"/>
              </a:lnSpc>
              <a:spcBef>
                <a:spcPts val="1417"/>
              </a:spcBef>
              <a:spcAft>
                <a:spcPts val="0"/>
              </a:spcAft>
              <a:buClr>
                <a:srgbClr val="B6DDE7"/>
              </a:buClr>
              <a:buSzPts val="980"/>
              <a:buFont typeface="Noto Sans Symbols"/>
              <a:buNone/>
            </a:pPr>
            <a:r>
              <a:rPr lang="bg-BG" sz="1400" b="1" i="0" u="none" strike="noStrike" cap="none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	function </a:t>
            </a:r>
            <a:r>
              <a:rPr lang="bg-BG" sz="1400" b="1" i="0" u="none" strike="noStrike" cap="non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myFunctionName</a:t>
            </a:r>
            <a:r>
              <a:rPr lang="bg-BG" sz="1400" b="1" i="0" u="none" strike="noStrike" cap="none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/>
          </a:p>
          <a:p>
            <a:pPr marL="108000" marR="0" lvl="0" indent="0" algn="l" rtl="0">
              <a:lnSpc>
                <a:spcPct val="200000"/>
              </a:lnSpc>
              <a:spcBef>
                <a:spcPts val="1417"/>
              </a:spcBef>
              <a:spcAft>
                <a:spcPts val="0"/>
              </a:spcAft>
              <a:buClr>
                <a:srgbClr val="B6DDE7"/>
              </a:buClr>
              <a:buSzPts val="980"/>
              <a:buFont typeface="Noto Sans Symbols"/>
              <a:buNone/>
            </a:pPr>
            <a:r>
              <a:rPr lang="bg-BG" sz="1400" b="1" i="0" u="none" strike="noStrike" cap="none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		//</a:t>
            </a:r>
            <a:r>
              <a:rPr lang="bg-BG" sz="1400" b="1" i="0" u="none" strike="noStrike" cap="non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bg-BG" sz="1400" b="1" i="0" u="none" strike="noStrike" cap="none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 code goes here</a:t>
            </a:r>
            <a:endParaRPr sz="1400" b="1" i="0" u="none" strike="noStrike" cap="none">
              <a:solidFill>
                <a:srgbClr val="99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08000" marR="0" lvl="0" indent="0" algn="l" rtl="0">
              <a:lnSpc>
                <a:spcPct val="200000"/>
              </a:lnSpc>
              <a:spcBef>
                <a:spcPts val="1417"/>
              </a:spcBef>
              <a:spcAft>
                <a:spcPts val="0"/>
              </a:spcAft>
              <a:buClr>
                <a:srgbClr val="B6DDE7"/>
              </a:buClr>
              <a:buSzPts val="980"/>
              <a:buFont typeface="Noto Sans Symbols"/>
              <a:buNone/>
            </a:pPr>
            <a:r>
              <a:rPr lang="bg-BG" sz="1400" b="1" i="0" u="none" strike="noStrike" cap="none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		}</a:t>
            </a:r>
            <a:endParaRPr sz="1400" b="1" i="0" u="none" strike="noStrike" cap="none">
              <a:solidFill>
                <a:srgbClr val="99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32000" marR="0" lvl="0" indent="-283995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283995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0"/>
          <p:cNvSpPr/>
          <p:nvPr/>
        </p:nvSpPr>
        <p:spPr>
          <a:xfrm>
            <a:off x="0" y="0"/>
            <a:ext cx="9143640" cy="763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0"/>
          <p:cNvSpPr/>
          <p:nvPr/>
        </p:nvSpPr>
        <p:spPr>
          <a:xfrm>
            <a:off x="0" y="30240"/>
            <a:ext cx="9143640" cy="7336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3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Деклариране и създаване на функции</a:t>
            </a:r>
            <a:endParaRPr sz="3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>
            <a:spLocks noGrp="1"/>
          </p:cNvSpPr>
          <p:nvPr>
            <p:ph type="body" idx="4294967295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32000" marR="0" lvl="0" indent="-2839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283995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595959"/>
              </a:buClr>
              <a:buSzPts val="630"/>
              <a:buFont typeface="Noto Sans Symbols"/>
              <a:buChar char="●"/>
            </a:pPr>
            <a:r>
              <a:rPr lang="bg-BG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Два от начините да декларираме функции в JS –</a:t>
            </a:r>
            <a:endParaRPr/>
          </a:p>
          <a:p>
            <a:pPr marL="864000" marR="0" lvl="1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595959"/>
              </a:buClr>
              <a:buSzPts val="630"/>
              <a:buFont typeface="Noto Sans Symbols"/>
              <a:buChar char="●"/>
            </a:pPr>
            <a:r>
              <a:rPr lang="bg-BG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Декларация на функция – function declaration</a:t>
            </a:r>
            <a:endParaRPr/>
          </a:p>
          <a:p>
            <a:pPr marL="1007999" marR="0" lvl="2" indent="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2060"/>
              </a:buClr>
              <a:buSzPts val="1050"/>
              <a:buFont typeface="Noto Sans Symbols"/>
              <a:buNone/>
            </a:pPr>
            <a:r>
              <a:rPr lang="bg-BG" sz="1400" b="1" i="0" u="none" strike="noStrike" cap="non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function print() { console.log('Hello') }</a:t>
            </a:r>
            <a:endParaRPr sz="1400" b="1" i="0" u="none" strike="noStrike" cap="none">
              <a:solidFill>
                <a:srgbClr val="00206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295999" marR="0" lvl="2" indent="-221324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283994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283994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07999" marR="0" lvl="2" indent="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endParaRPr sz="1400" b="1" i="0" u="none" strike="noStrike" cap="none">
              <a:solidFill>
                <a:srgbClr val="00206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295999" marR="0" lvl="2" indent="-221324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283995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1"/>
          <p:cNvSpPr/>
          <p:nvPr/>
        </p:nvSpPr>
        <p:spPr>
          <a:xfrm>
            <a:off x="0" y="0"/>
            <a:ext cx="9143640" cy="763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1"/>
          <p:cNvSpPr/>
          <p:nvPr/>
        </p:nvSpPr>
        <p:spPr>
          <a:xfrm>
            <a:off x="0" y="30240"/>
            <a:ext cx="9143640" cy="7336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3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Деклариране и създаване на функции</a:t>
            </a:r>
            <a:endParaRPr sz="3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>
            <a:spLocks noGrp="1"/>
          </p:cNvSpPr>
          <p:nvPr>
            <p:ph type="body" idx="4294967295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95999" marR="0" lvl="2" indent="-22132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595959"/>
              </a:buClr>
              <a:buSzPts val="630"/>
              <a:buFont typeface="Noto Sans Symbols"/>
              <a:buChar char="●"/>
            </a:pPr>
            <a:r>
              <a:rPr lang="bg-BG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Израз – function expression – без име на функцията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B6DDE7"/>
              </a:buClr>
              <a:buSzPts val="980"/>
              <a:buFont typeface="Noto Sans Symbols"/>
              <a:buNone/>
            </a:pPr>
            <a:r>
              <a:rPr lang="bg-BG" sz="1400" b="1" i="0" u="none" strike="noStrike" cap="non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	var print = function() {  return ‘Hello’; };</a:t>
            </a:r>
            <a:endParaRPr/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B6DDE7"/>
              </a:buClr>
              <a:buSzPts val="980"/>
              <a:buFont typeface="Noto Sans Symbols"/>
              <a:buNone/>
            </a:pPr>
            <a:r>
              <a:rPr lang="bg-BG" sz="1400" b="1" i="0" u="none" strike="noStrike" cap="non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	console.log(print());</a:t>
            </a:r>
            <a:endParaRPr sz="1400" b="1" i="0" u="none" strike="noStrike" cap="none">
              <a:solidFill>
                <a:srgbClr val="00206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B6DDE7"/>
              </a:buClr>
              <a:buSzPts val="980"/>
              <a:buFont typeface="Noto Sans Symbols"/>
              <a:buNone/>
            </a:pPr>
            <a:r>
              <a:rPr lang="bg-BG" sz="1400" b="1" i="0" u="none" strike="noStrike" cap="none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				с име на функцията</a:t>
            </a:r>
            <a:endParaRPr/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B6DDE7"/>
              </a:buClr>
              <a:buSzPts val="980"/>
              <a:buFont typeface="Noto Sans Symbols"/>
              <a:buNone/>
            </a:pPr>
            <a:r>
              <a:rPr lang="bg-BG" sz="1400" b="1" i="0" u="none" strike="noStrike" cap="non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	var print = function printFunc() { console.log('Hello') };</a:t>
            </a:r>
            <a:endParaRPr/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B6DDE7"/>
              </a:buClr>
              <a:buSzPts val="980"/>
              <a:buFont typeface="Noto Sans Symbols"/>
              <a:buNone/>
            </a:pPr>
            <a:r>
              <a:rPr lang="bg-BG" sz="1400" b="1" i="0" u="none" strike="noStrike" cap="non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	print();</a:t>
            </a:r>
            <a:endParaRPr sz="1400" b="0" i="0" u="none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283994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283994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283994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07999" marR="0" lvl="2" indent="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endParaRPr sz="1400" b="1" i="0" u="none" strike="noStrike" cap="none">
              <a:solidFill>
                <a:srgbClr val="00206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295999" marR="0" lvl="2" indent="-221324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283995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2"/>
          <p:cNvSpPr/>
          <p:nvPr/>
        </p:nvSpPr>
        <p:spPr>
          <a:xfrm>
            <a:off x="0" y="0"/>
            <a:ext cx="9143640" cy="763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2"/>
          <p:cNvSpPr/>
          <p:nvPr/>
        </p:nvSpPr>
        <p:spPr>
          <a:xfrm>
            <a:off x="0" y="30240"/>
            <a:ext cx="9143640" cy="7336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3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Деклариране и създаване на функции</a:t>
            </a:r>
            <a:endParaRPr sz="3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>
            <a:spLocks noGrp="1"/>
          </p:cNvSpPr>
          <p:nvPr>
            <p:ph type="body" idx="4294967295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64000" marR="0" lvl="1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30"/>
              <a:buFont typeface="Noto Sans Symbols"/>
              <a:buChar char="●"/>
            </a:pPr>
            <a:r>
              <a:rPr lang="bg-BG"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Извикване на функцията</a:t>
            </a:r>
            <a:endParaRPr/>
          </a:p>
          <a:p>
            <a:pPr marL="1295999" marR="0" lvl="2" indent="-287999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3F3F3F"/>
              </a:buClr>
              <a:buSzPts val="1050"/>
              <a:buFont typeface="Noto Sans Symbols"/>
              <a:buChar char="–"/>
            </a:pPr>
            <a:r>
              <a:rPr lang="bg-BG"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Името на функцията и ();</a:t>
            </a:r>
            <a:endParaRPr/>
          </a:p>
          <a:p>
            <a:pPr marL="1007999" marR="0" lvl="2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3F3F3F"/>
              </a:buClr>
              <a:buSzPts val="1050"/>
              <a:buFont typeface="Noto Sans Symbols"/>
              <a:buNone/>
            </a:pPr>
            <a:r>
              <a:rPr lang="bg-BG"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print();</a:t>
            </a:r>
            <a:endParaRPr/>
          </a:p>
          <a:p>
            <a:pPr marL="864000" marR="0" lvl="1" indent="-32400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3F3F3F"/>
              </a:buClr>
              <a:buSzPts val="630"/>
              <a:buFont typeface="Noto Sans Symbols"/>
              <a:buChar char="●"/>
            </a:pPr>
            <a:r>
              <a:rPr lang="bg-BG"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Функцията може да бъде извиквана от друга функция </a:t>
            </a:r>
            <a:endParaRPr/>
          </a:p>
          <a:p>
            <a:pPr marL="864000" marR="0" lvl="1" indent="-283994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0000" marR="0" lvl="1" indent="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990000"/>
              </a:buClr>
              <a:buSzPts val="630"/>
              <a:buFont typeface="Noto Sans Symbols"/>
              <a:buNone/>
            </a:pPr>
            <a:r>
              <a:rPr lang="bg-BG" sz="1400" b="1" i="0" u="none" strike="noStrike" cap="none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function anotherPrint(){</a:t>
            </a:r>
            <a:endParaRPr/>
          </a:p>
          <a:p>
            <a:pPr marL="108000" marR="0" lvl="0" indent="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B6DDE7"/>
              </a:buClr>
              <a:buSzPts val="980"/>
              <a:buFont typeface="Noto Sans Symbols"/>
              <a:buNone/>
            </a:pPr>
            <a:r>
              <a:rPr lang="bg-BG" sz="1400" b="1" i="0" u="none" strike="noStrike" cap="none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   	print();</a:t>
            </a:r>
            <a:endParaRPr/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B6DDE7"/>
              </a:buClr>
              <a:buSzPts val="980"/>
              <a:buFont typeface="Noto Sans Symbols"/>
              <a:buNone/>
            </a:pPr>
            <a:r>
              <a:rPr lang="bg-BG" sz="1400" b="1" i="0" u="none" strike="noStrike" cap="none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	}</a:t>
            </a:r>
            <a:endParaRPr sz="1400" b="1" i="0" u="none" strike="noStrike" cap="none">
              <a:solidFill>
                <a:srgbClr val="99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295999" marR="0" lvl="2" indent="-221324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07999" marR="0" lvl="2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283994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283994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07999" marR="0" lvl="2" indent="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endParaRPr sz="1400" b="1" i="0" u="none" strike="noStrike" cap="none">
              <a:solidFill>
                <a:srgbClr val="3F3F3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295999" marR="0" lvl="2" indent="-221324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283995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3"/>
          <p:cNvSpPr/>
          <p:nvPr/>
        </p:nvSpPr>
        <p:spPr>
          <a:xfrm>
            <a:off x="0" y="0"/>
            <a:ext cx="9143640" cy="763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3"/>
          <p:cNvSpPr/>
          <p:nvPr/>
        </p:nvSpPr>
        <p:spPr>
          <a:xfrm>
            <a:off x="0" y="30240"/>
            <a:ext cx="9143640" cy="7336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3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Деклариране и създаване на функции</a:t>
            </a:r>
            <a:endParaRPr sz="3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/>
          <p:nvPr/>
        </p:nvSpPr>
        <p:spPr>
          <a:xfrm>
            <a:off x="0" y="0"/>
            <a:ext cx="9143640" cy="51435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4"/>
          <p:cNvSpPr/>
          <p:nvPr/>
        </p:nvSpPr>
        <p:spPr>
          <a:xfrm>
            <a:off x="0" y="30240"/>
            <a:ext cx="8532440" cy="7034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bg-BG"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Функции с параметри</a:t>
            </a: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1" i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5"/>
          <p:cNvSpPr/>
          <p:nvPr/>
        </p:nvSpPr>
        <p:spPr>
          <a:xfrm>
            <a:off x="0" y="0"/>
            <a:ext cx="9143640" cy="763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5"/>
          <p:cNvSpPr/>
          <p:nvPr/>
        </p:nvSpPr>
        <p:spPr>
          <a:xfrm>
            <a:off x="0" y="30240"/>
            <a:ext cx="8532440" cy="7034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bg-BG"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Функции с параметри</a:t>
            </a:r>
            <a:endParaRPr sz="2800" b="1" i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5"/>
          <p:cNvSpPr txBox="1">
            <a:spLocks noGrp="1"/>
          </p:cNvSpPr>
          <p:nvPr>
            <p:ph type="body" idx="1"/>
          </p:nvPr>
        </p:nvSpPr>
        <p:spPr>
          <a:xfrm>
            <a:off x="311760" y="2284586"/>
            <a:ext cx="8520120" cy="1151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432000" marR="0" lvl="0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30"/>
              <a:buFont typeface="Arial"/>
              <a:buChar char="•"/>
            </a:pPr>
            <a:r>
              <a:rPr lang="bg-BG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Подаваме данни на функцията чрез параметри /аргументи/</a:t>
            </a: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262626"/>
              </a:buClr>
              <a:buSzPts val="630"/>
              <a:buFont typeface="Arial"/>
              <a:buChar char="•"/>
            </a:pPr>
            <a:r>
              <a:rPr lang="bg-BG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Може да подадем 0 или няколко стойности</a:t>
            </a: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262626"/>
              </a:buClr>
              <a:buSzPts val="630"/>
              <a:buFont typeface="Arial"/>
              <a:buChar char="•"/>
            </a:pPr>
            <a:r>
              <a:rPr lang="bg-BG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Всеки параметър, който подаваме има име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6"/>
          <p:cNvSpPr/>
          <p:nvPr/>
        </p:nvSpPr>
        <p:spPr>
          <a:xfrm>
            <a:off x="0" y="0"/>
            <a:ext cx="9143640" cy="763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6"/>
          <p:cNvSpPr/>
          <p:nvPr/>
        </p:nvSpPr>
        <p:spPr>
          <a:xfrm>
            <a:off x="0" y="30240"/>
            <a:ext cx="8532440" cy="7034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bg-BG"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Функции с параметри</a:t>
            </a:r>
            <a:endParaRPr sz="2800" b="1" i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6"/>
          <p:cNvSpPr txBox="1">
            <a:spLocks noGrp="1"/>
          </p:cNvSpPr>
          <p:nvPr>
            <p:ph type="body" idx="1"/>
          </p:nvPr>
        </p:nvSpPr>
        <p:spPr>
          <a:xfrm>
            <a:off x="311760" y="2196100"/>
            <a:ext cx="8520120" cy="132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864000" marR="0" lvl="1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30"/>
              <a:buFont typeface="Arial"/>
              <a:buChar char="•"/>
            </a:pPr>
            <a:r>
              <a:rPr lang="bg-BG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Функцията може да има толкова параметри, колкото са й необходими*</a:t>
            </a: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262626"/>
              </a:buClr>
              <a:buSzPts val="630"/>
              <a:buFont typeface="Arial"/>
              <a:buChar char="•"/>
            </a:pPr>
            <a:r>
              <a:rPr lang="bg-BG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Всеки параметър, при извикване на функцията има конкретна стойност</a:t>
            </a: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262626"/>
              </a:buClr>
              <a:buSzPts val="630"/>
              <a:buFont typeface="Arial"/>
              <a:buChar char="•"/>
            </a:pPr>
            <a:r>
              <a:rPr lang="bg-BG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Подаваните параметри, могат да бъдат от всякакъв тип – число, стринг, обект, масив, дори </a:t>
            </a:r>
            <a:r>
              <a:rPr lang="bg-BG" sz="1400" b="0" i="0" u="none" strike="noStrike" cap="none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rPr>
              <a:t>функция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/>
          <p:nvPr/>
        </p:nvSpPr>
        <p:spPr>
          <a:xfrm>
            <a:off x="0" y="0"/>
            <a:ext cx="9143640" cy="763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7"/>
          <p:cNvSpPr/>
          <p:nvPr/>
        </p:nvSpPr>
        <p:spPr>
          <a:xfrm>
            <a:off x="0" y="30240"/>
            <a:ext cx="8532440" cy="7034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bg-BG"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Функции с параметри</a:t>
            </a:r>
            <a:endParaRPr sz="2800" b="1" i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7"/>
          <p:cNvSpPr txBox="1">
            <a:spLocks noGrp="1"/>
          </p:cNvSpPr>
          <p:nvPr>
            <p:ph type="body" idx="1"/>
          </p:nvPr>
        </p:nvSpPr>
        <p:spPr>
          <a:xfrm>
            <a:off x="311760" y="2552608"/>
            <a:ext cx="852012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432000" marR="0" lvl="0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30"/>
              <a:buFont typeface="Arial"/>
              <a:buChar char="•"/>
            </a:pPr>
            <a:r>
              <a:rPr lang="bg-BG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В зависимост от подаваните стойности, параметрите могат да променят поведението на функцията.</a:t>
            </a:r>
            <a:r>
              <a:rPr lang="bg-BG" sz="10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endParaRPr sz="1000" b="0" i="0" u="none" strike="noStrike" cap="none">
              <a:solidFill>
                <a:srgbClr val="26262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8"/>
          <p:cNvSpPr/>
          <p:nvPr/>
        </p:nvSpPr>
        <p:spPr>
          <a:xfrm>
            <a:off x="360" y="0"/>
            <a:ext cx="9143640" cy="51435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bg-BG" sz="24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bg-BG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endParaRPr sz="2400" b="1" i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9"/>
          <p:cNvSpPr txBox="1">
            <a:spLocks noGrp="1"/>
          </p:cNvSpPr>
          <p:nvPr>
            <p:ph type="body" idx="4294967295"/>
          </p:nvPr>
        </p:nvSpPr>
        <p:spPr>
          <a:xfrm>
            <a:off x="311760" y="1152360"/>
            <a:ext cx="4157279" cy="610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endParaRPr sz="1200" b="1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None/>
            </a:pPr>
            <a:endParaRPr sz="16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2" name="Google Shape;212;p39"/>
          <p:cNvSpPr txBox="1">
            <a:spLocks noGrp="1"/>
          </p:cNvSpPr>
          <p:nvPr>
            <p:ph type="body" idx="4294967295"/>
          </p:nvPr>
        </p:nvSpPr>
        <p:spPr>
          <a:xfrm>
            <a:off x="251520" y="1131590"/>
            <a:ext cx="8582879" cy="3436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30"/>
              <a:buFont typeface="Noto Sans Symbols"/>
              <a:buNone/>
            </a:pPr>
            <a:r>
              <a:rPr lang="bg-BG" sz="14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	Всяка функция в JS връща стойност</a:t>
            </a:r>
            <a:endParaRPr/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630"/>
              <a:buFont typeface="Noto Sans Symbols"/>
              <a:buNone/>
            </a:pPr>
            <a:r>
              <a:rPr lang="bg-BG" sz="14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	- може изрично да посочим какво да върне функцията*  - използваме </a:t>
            </a:r>
            <a:r>
              <a:rPr lang="bg-BG" sz="1400" b="1" i="0" u="none" strike="noStrike" cap="none">
                <a:solidFill>
                  <a:srgbClr val="3333CC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endParaRPr sz="1400" b="1" i="0" u="none" strike="noStrike" cap="none">
              <a:solidFill>
                <a:srgbClr val="3333CC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630"/>
              <a:buFont typeface="Noto Sans Symbols"/>
              <a:buNone/>
            </a:pPr>
            <a:r>
              <a:rPr lang="bg-BG" sz="14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	- в противен случай – функцията връща </a:t>
            </a:r>
            <a:r>
              <a:rPr lang="bg-BG" sz="1400" b="1" i="0" u="none" strike="noStrike" cap="none">
                <a:solidFill>
                  <a:srgbClr val="3333CC"/>
                </a:solidFill>
                <a:latin typeface="Verdana"/>
                <a:ea typeface="Verdana"/>
                <a:cs typeface="Verdana"/>
                <a:sym typeface="Verdana"/>
              </a:rPr>
              <a:t>undefined</a:t>
            </a:r>
            <a:endParaRPr sz="1400" b="1" i="0" u="none" strike="noStrike" cap="none">
              <a:solidFill>
                <a:srgbClr val="3333CC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1" i="0" u="none" strike="noStrike" cap="none">
              <a:solidFill>
                <a:srgbClr val="3333CC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31999" marR="0" lvl="0" indent="-323999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333CC"/>
              </a:buClr>
              <a:buSzPts val="630"/>
              <a:buFont typeface="Noto Sans Symbols"/>
              <a:buNone/>
            </a:pPr>
            <a:r>
              <a:rPr lang="bg-BG" sz="1400" b="1" i="0" u="none" strike="noStrike" cap="none">
                <a:solidFill>
                  <a:srgbClr val="3333CC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r>
              <a:rPr lang="bg-BG" sz="14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стринг, масив … всякакъв тип</a:t>
            </a:r>
            <a:endParaRPr sz="1400" b="0" i="0" u="none" strike="noStrike" cap="none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31999" marR="0" lvl="0" indent="-323999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333CC"/>
              </a:buClr>
              <a:buSzPts val="630"/>
              <a:buFont typeface="Noto Sans Symbols"/>
              <a:buNone/>
            </a:pPr>
            <a:endParaRPr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333CC"/>
              </a:buClr>
              <a:buSzPts val="630"/>
              <a:buFont typeface="Noto Sans Symbols"/>
              <a:buNone/>
            </a:pPr>
            <a:r>
              <a:rPr lang="bg-BG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demo function_return</a:t>
            </a:r>
            <a:endParaRPr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1" i="0" u="none" strike="noStrike" cap="none">
              <a:solidFill>
                <a:srgbClr val="3333C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3" name="Google Shape;213;p39"/>
          <p:cNvSpPr/>
          <p:nvPr/>
        </p:nvSpPr>
        <p:spPr>
          <a:xfrm>
            <a:off x="360" y="0"/>
            <a:ext cx="9143640" cy="763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bg-BG" sz="24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bg-BG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endParaRPr sz="2400" b="1" i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0"/>
          <p:cNvSpPr txBox="1">
            <a:spLocks noGrp="1"/>
          </p:cNvSpPr>
          <p:nvPr>
            <p:ph type="body" idx="4294967295"/>
          </p:nvPr>
        </p:nvSpPr>
        <p:spPr>
          <a:xfrm>
            <a:off x="311760" y="1152360"/>
            <a:ext cx="4157279" cy="610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endParaRPr sz="1200" b="1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None/>
            </a:pPr>
            <a:endParaRPr sz="16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9" name="Google Shape;219;p40"/>
          <p:cNvSpPr txBox="1">
            <a:spLocks noGrp="1"/>
          </p:cNvSpPr>
          <p:nvPr>
            <p:ph type="body" idx="4294967295"/>
          </p:nvPr>
        </p:nvSpPr>
        <p:spPr>
          <a:xfrm>
            <a:off x="251520" y="1131590"/>
            <a:ext cx="8582879" cy="3436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08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630"/>
              <a:buFont typeface="Noto Sans Symbols"/>
              <a:buNone/>
            </a:pPr>
            <a:r>
              <a:rPr lang="bg-BG" sz="1400" b="1" i="0" u="none" strike="noStrike" cap="non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endParaRPr sz="1400" b="1" i="0" u="none" strike="noStrike" cap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262626"/>
              </a:buClr>
              <a:buSzPts val="630"/>
              <a:buFont typeface="Noto Sans Symbols"/>
              <a:buChar char="●"/>
            </a:pPr>
            <a:r>
              <a:rPr lang="bg-BG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Веднага прекратява изпълнението на функцията</a:t>
            </a:r>
            <a:endParaRPr/>
          </a:p>
          <a:p>
            <a:pPr marL="864000" marR="0" lvl="1" indent="-32400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262626"/>
              </a:buClr>
              <a:buSzPts val="630"/>
              <a:buFont typeface="Noto Sans Symbols"/>
              <a:buChar char="●"/>
            </a:pPr>
            <a:r>
              <a:rPr lang="bg-BG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Връща конкретен израз/стойност при извикване на функцията</a:t>
            </a:r>
            <a:endParaRPr/>
          </a:p>
          <a:p>
            <a:pPr marL="864000" marR="0" lvl="1" indent="-323999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262626"/>
              </a:buClr>
              <a:buSzPts val="630"/>
              <a:buFont typeface="Noto Sans Symbols"/>
              <a:buChar char="●"/>
            </a:pPr>
            <a:r>
              <a:rPr lang="bg-BG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Може да бъде използвано няколко пъти в една функция, за да върне различна стойност/резултат при различни случаи.</a:t>
            </a: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None/>
            </a:pPr>
            <a:endParaRPr>
              <a:solidFill>
                <a:srgbClr val="26262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None/>
            </a:pPr>
            <a:r>
              <a:rPr lang="bg-BG">
                <a:solidFill>
                  <a:srgbClr val="262626"/>
                </a:solidFill>
              </a:rPr>
              <a:t>demo function_return</a:t>
            </a:r>
            <a:endParaRPr>
              <a:solidFill>
                <a:srgbClr val="262626"/>
              </a:solidFill>
            </a:endParaRPr>
          </a:p>
          <a:p>
            <a:pPr marL="864000" marR="0" lvl="1" indent="-283994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0"/>
          <p:cNvSpPr/>
          <p:nvPr/>
        </p:nvSpPr>
        <p:spPr>
          <a:xfrm>
            <a:off x="360" y="0"/>
            <a:ext cx="9143640" cy="763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bg-BG" sz="24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bg-BG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endParaRPr sz="2400" b="1" i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1"/>
          <p:cNvSpPr txBox="1">
            <a:spLocks noGrp="1"/>
          </p:cNvSpPr>
          <p:nvPr>
            <p:ph type="title" idx="4294967295"/>
          </p:nvPr>
        </p:nvSpPr>
        <p:spPr>
          <a:xfrm>
            <a:off x="0" y="-20538"/>
            <a:ext cx="9144000" cy="516403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Noto Sans Symbols"/>
              <a:buNone/>
            </a:pPr>
            <a:r>
              <a:rPr lang="bg-BG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Scope &amp; context</a:t>
            </a: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2"/>
          <p:cNvSpPr txBox="1">
            <a:spLocks noGrp="1"/>
          </p:cNvSpPr>
          <p:nvPr>
            <p:ph type="title" idx="4294967295"/>
          </p:nvPr>
        </p:nvSpPr>
        <p:spPr>
          <a:xfrm>
            <a:off x="0" y="-20538"/>
            <a:ext cx="9144000" cy="72008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Noto Sans Symbols"/>
              <a:buNone/>
            </a:pPr>
            <a:r>
              <a:rPr lang="bg-BG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 Scope &amp; context</a:t>
            </a: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2"/>
          <p:cNvSpPr txBox="1">
            <a:spLocks noGrp="1"/>
          </p:cNvSpPr>
          <p:nvPr>
            <p:ph type="body" idx="4294967295"/>
          </p:nvPr>
        </p:nvSpPr>
        <p:spPr>
          <a:xfrm>
            <a:off x="299880" y="1265759"/>
            <a:ext cx="8520120" cy="395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08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30"/>
              <a:buFont typeface="Noto Sans Symbols"/>
              <a:buNone/>
            </a:pPr>
            <a:r>
              <a:rPr lang="bg-BG"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Всяка променлива има свой </a:t>
            </a:r>
            <a:r>
              <a:rPr lang="bg-BG" sz="1400" b="0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scope</a:t>
            </a:r>
            <a:endParaRPr/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630"/>
              <a:buFont typeface="Noto Sans Symbols"/>
              <a:buNone/>
            </a:pPr>
            <a:r>
              <a:rPr lang="bg-BG"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Той определя къде е достъпна/живее тази променлива </a:t>
            </a:r>
            <a:endParaRPr/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630"/>
              <a:buFont typeface="Noto Sans Symbols"/>
              <a:buNone/>
            </a:pPr>
            <a:r>
              <a:rPr lang="bg-BG"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Съществува глобален и локален </a:t>
            </a:r>
            <a:r>
              <a:rPr lang="bg-BG" sz="1400" b="0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scope</a:t>
            </a:r>
            <a:r>
              <a:rPr lang="bg-BG"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630"/>
              <a:buFont typeface="Noto Sans Symbols"/>
              <a:buNone/>
            </a:pPr>
            <a:r>
              <a:rPr lang="bg-BG"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Глобалните променливи – тези, които са декларирани без var са различни от променливите, декларирани в глобалния scope.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3"/>
          <p:cNvSpPr txBox="1">
            <a:spLocks noGrp="1"/>
          </p:cNvSpPr>
          <p:nvPr>
            <p:ph type="title" idx="4294967295"/>
          </p:nvPr>
        </p:nvSpPr>
        <p:spPr>
          <a:xfrm>
            <a:off x="0" y="-20538"/>
            <a:ext cx="9144000" cy="72008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Noto Sans Symbols"/>
              <a:buNone/>
            </a:pPr>
            <a:r>
              <a:rPr lang="bg-BG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 Scope &amp; context</a:t>
            </a: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3"/>
          <p:cNvSpPr txBox="1">
            <a:spLocks noGrp="1"/>
          </p:cNvSpPr>
          <p:nvPr>
            <p:ph type="body" idx="4294967295"/>
          </p:nvPr>
        </p:nvSpPr>
        <p:spPr>
          <a:xfrm>
            <a:off x="299880" y="1265759"/>
            <a:ext cx="8520120" cy="395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08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1" i="1" u="none" strike="noStrike" cap="non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1" i="1" u="none" strike="noStrike" cap="non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7999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B0F0"/>
              </a:buClr>
              <a:buSzPts val="630"/>
              <a:buFont typeface="Noto Sans Symbols"/>
              <a:buNone/>
            </a:pPr>
            <a:r>
              <a:rPr lang="bg-BG" sz="1400" b="1" i="1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Контекст на функция</a:t>
            </a:r>
            <a:r>
              <a:rPr lang="bg-BG" sz="1400" b="0" i="1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или как функциите виждат променливите, декларирани в скоупа, в който е декларирана функцията.</a:t>
            </a:r>
            <a:endParaRPr sz="1400" b="0" i="1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7999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B0F0"/>
              </a:buClr>
              <a:buSzPts val="630"/>
              <a:buFont typeface="Noto Sans Symbols"/>
              <a:buNone/>
            </a:pPr>
            <a:endParaRPr i="1">
              <a:solidFill>
                <a:srgbClr val="3F3F3F"/>
              </a:solidFill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B0F0"/>
              </a:buClr>
              <a:buSzPts val="630"/>
              <a:buFont typeface="Noto Sans Symbols"/>
              <a:buNone/>
            </a:pPr>
            <a:r>
              <a:rPr lang="bg-BG" i="1">
                <a:solidFill>
                  <a:srgbClr val="3F3F3F"/>
                </a:solidFill>
              </a:rPr>
              <a:t>demo function_context</a:t>
            </a:r>
            <a:endParaRPr i="1">
              <a:solidFill>
                <a:srgbClr val="3F3F3F"/>
              </a:solidFill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1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4"/>
          <p:cNvSpPr txBox="1">
            <a:spLocks noGrp="1"/>
          </p:cNvSpPr>
          <p:nvPr>
            <p:ph type="title" idx="4294967295"/>
          </p:nvPr>
        </p:nvSpPr>
        <p:spPr>
          <a:xfrm>
            <a:off x="0" y="-20538"/>
            <a:ext cx="9144000" cy="5164038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Noto Sans Symbols"/>
              <a:buNone/>
            </a:pPr>
            <a:r>
              <a:rPr lang="bg-BG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Overloading</a:t>
            </a: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5"/>
          <p:cNvSpPr txBox="1">
            <a:spLocks noGrp="1"/>
          </p:cNvSpPr>
          <p:nvPr>
            <p:ph type="title" idx="4294967295"/>
          </p:nvPr>
        </p:nvSpPr>
        <p:spPr>
          <a:xfrm>
            <a:off x="0" y="-20538"/>
            <a:ext cx="9144000" cy="72008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Noto Sans Symbols"/>
              <a:buNone/>
            </a:pPr>
            <a:r>
              <a:rPr lang="bg-BG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Overloading</a:t>
            </a: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5"/>
          <p:cNvSpPr txBox="1">
            <a:spLocks noGrp="1"/>
          </p:cNvSpPr>
          <p:nvPr>
            <p:ph type="body" idx="4294967295"/>
          </p:nvPr>
        </p:nvSpPr>
        <p:spPr>
          <a:xfrm>
            <a:off x="299880" y="1265759"/>
            <a:ext cx="8520120" cy="395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2839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3999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630"/>
              <a:buFont typeface="Noto Sans Symbols"/>
              <a:buChar char="●"/>
            </a:pPr>
            <a:r>
              <a:rPr lang="bg-BG"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JavaScript не поддържа overloading – само една функция с дадено име може да съществува в един и същ scope.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rPr lang="bg-BG">
                <a:solidFill>
                  <a:srgbClr val="3F3F3F"/>
                </a:solidFill>
              </a:rPr>
              <a:t>demo function_overloading</a:t>
            </a:r>
            <a:endParaRPr>
              <a:solidFill>
                <a:srgbClr val="3F3F3F"/>
              </a:solidFill>
            </a:endParaRPr>
          </a:p>
          <a:p>
            <a:pPr marL="432000" marR="0" lvl="0" indent="-283995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endParaRPr sz="1800" b="1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6"/>
          <p:cNvSpPr txBox="1">
            <a:spLocks noGrp="1"/>
          </p:cNvSpPr>
          <p:nvPr>
            <p:ph type="title" idx="4294967295"/>
          </p:nvPr>
        </p:nvSpPr>
        <p:spPr>
          <a:xfrm>
            <a:off x="0" y="-20538"/>
            <a:ext cx="9144000" cy="5164038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Noto Sans Symbols"/>
              <a:buNone/>
            </a:pPr>
            <a:r>
              <a:rPr lang="bg-BG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Влагане на функции</a:t>
            </a: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7"/>
          <p:cNvSpPr txBox="1">
            <a:spLocks noGrp="1"/>
          </p:cNvSpPr>
          <p:nvPr>
            <p:ph type="title" idx="4294967295"/>
          </p:nvPr>
        </p:nvSpPr>
        <p:spPr>
          <a:xfrm>
            <a:off x="0" y="-20538"/>
            <a:ext cx="9144000" cy="72008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Noto Sans Symbols"/>
              <a:buNone/>
            </a:pPr>
            <a:r>
              <a:rPr lang="bg-BG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Влагане на функции</a:t>
            </a: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47"/>
          <p:cNvSpPr txBox="1">
            <a:spLocks noGrp="1"/>
          </p:cNvSpPr>
          <p:nvPr>
            <p:ph type="body" idx="4294967295"/>
          </p:nvPr>
        </p:nvSpPr>
        <p:spPr>
          <a:xfrm>
            <a:off x="299880" y="1265759"/>
            <a:ext cx="8520120" cy="395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30"/>
              <a:buFont typeface="Noto Sans Symbols"/>
              <a:buChar char="●"/>
            </a:pPr>
            <a:r>
              <a:rPr lang="bg-BG"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Възможно е влагането на функции една в друга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630"/>
              <a:buFont typeface="Noto Sans Symbols"/>
              <a:buChar char="●"/>
            </a:pPr>
            <a:r>
              <a:rPr lang="bg-BG"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Променливите, дефинирани в родителската функция са видими за вътрешната.</a:t>
            </a:r>
            <a:endParaRPr/>
          </a:p>
          <a:p>
            <a:pPr marL="431999" marR="0" lvl="0" indent="-323999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630"/>
              <a:buFont typeface="Noto Sans Symbols"/>
              <a:buChar char="●"/>
            </a:pPr>
            <a:r>
              <a:rPr lang="bg-BG"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Вътрешната функция не е видима извън родителския scope.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None/>
            </a:pPr>
            <a:endParaRPr>
              <a:solidFill>
                <a:srgbClr val="3F3F3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rPr lang="bg-BG">
                <a:solidFill>
                  <a:srgbClr val="3F3F3F"/>
                </a:solidFill>
              </a:rPr>
              <a:t>demo nested_functions</a:t>
            </a:r>
            <a:endParaRPr>
              <a:solidFill>
                <a:srgbClr val="3F3F3F"/>
              </a:solidFill>
            </a:endParaRPr>
          </a:p>
          <a:p>
            <a:pPr marL="432000" marR="0" lvl="0" indent="-283995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о подразбиране">
  <a:themeElements>
    <a:clrScheme name="О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По подразбиране 1">
  <a:themeElements>
    <a:clrScheme name="О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тема">
  <a:themeElements>
    <a:clrScheme name="О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422</Words>
  <Application>Microsoft Office PowerPoint</Application>
  <PresentationFormat>Презентация на цял екран (16:9)</PresentationFormat>
  <Paragraphs>135</Paragraphs>
  <Slides>23</Slides>
  <Notes>23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8</vt:i4>
      </vt:variant>
      <vt:variant>
        <vt:lpstr>Тема</vt:lpstr>
      </vt:variant>
      <vt:variant>
        <vt:i4>2</vt:i4>
      </vt:variant>
      <vt:variant>
        <vt:lpstr>Заглавия на слайдовете</vt:lpstr>
      </vt:variant>
      <vt:variant>
        <vt:i4>23</vt:i4>
      </vt:variant>
    </vt:vector>
  </HeadingPairs>
  <TitlesOfParts>
    <vt:vector size="33" baseType="lpstr">
      <vt:lpstr>Arial</vt:lpstr>
      <vt:lpstr>Syncopate</vt:lpstr>
      <vt:lpstr>Consolas</vt:lpstr>
      <vt:lpstr>Noto Sans Symbols</vt:lpstr>
      <vt:lpstr>Times New Roman</vt:lpstr>
      <vt:lpstr>Verdana</vt:lpstr>
      <vt:lpstr>Calibri</vt:lpstr>
      <vt:lpstr>Courier New</vt:lpstr>
      <vt:lpstr>По подразбиране</vt:lpstr>
      <vt:lpstr>По подразбиране 1</vt:lpstr>
      <vt:lpstr>УЕБ РАЗРАБОТКА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 Scope &amp; context</vt:lpstr>
      <vt:lpstr>  Scope &amp; context</vt:lpstr>
      <vt:lpstr>  Scope &amp; context</vt:lpstr>
      <vt:lpstr> Overloading</vt:lpstr>
      <vt:lpstr> Overloading</vt:lpstr>
      <vt:lpstr> Влагане на функции</vt:lpstr>
      <vt:lpstr> Влагане на функции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УЕБ РАЗРАБОТКА</dc:title>
  <dc:creator>Milena</dc:creator>
  <cp:lastModifiedBy>Ariel</cp:lastModifiedBy>
  <cp:revision>1</cp:revision>
  <dcterms:modified xsi:type="dcterms:W3CDTF">2019-04-20T15:12:47Z</dcterms:modified>
</cp:coreProperties>
</file>