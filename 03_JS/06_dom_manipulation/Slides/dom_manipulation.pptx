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Syncopate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0" autoAdjust="0"/>
  </p:normalViewPr>
  <p:slideViewPr>
    <p:cSldViewPr>
      <p:cViewPr>
        <p:scale>
          <a:sx n="103" d="100"/>
          <a:sy n="103" d="100"/>
        </p:scale>
        <p:origin x="-773" y="-1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1pPr>
            <a:lvl2pPr marL="457200" marR="0" lvl="1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2pPr>
            <a:lvl3pPr marL="914400" marR="0" lvl="2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3pPr>
            <a:lvl4pPr marL="1371600" marR="0" lvl="3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4pPr>
            <a:lvl5pPr marL="1828800" marR="0" lvl="4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5pPr>
            <a:lvl6pPr marL="2286000" marR="0" lvl="5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6pPr>
            <a:lvl7pPr marL="2743200" marR="0" lvl="6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7pPr>
            <a:lvl8pPr marL="3200400" marR="0" lvl="7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8pPr>
            <a:lvl9pPr marL="3657600" marR="0" lvl="8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026816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7" cy="1482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7" cy="123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fld id="{00000000-1234-1234-1234-123412341234}" type="slidenum">
              <a:rPr lang="en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DocumentFragmen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>
            <a:off x="-24225" y="2850900"/>
            <a:ext cx="9168300" cy="22926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Shape 5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Syncopate"/>
              <a:buNone/>
            </a:pPr>
            <a:r>
              <a:rPr lang="en" sz="3600" b="1" i="0" u="none" strike="noStrike" cap="none" dirty="0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JavaScript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DOM м</a:t>
            </a:r>
            <a:r>
              <a:rPr lang="en" sz="3000" b="1">
                <a:solidFill>
                  <a:srgbClr val="FFFFFF"/>
                </a:solidFill>
              </a:rPr>
              <a:t>анипулации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Shape 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0" y="497375"/>
            <a:ext cx="2981276" cy="12496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Shape 58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250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WEB РАЗРАБОТКА- </a:t>
            </a:r>
            <a:r>
              <a:rPr lang="en" sz="1400" b="1" i="0" u="none" strike="noStrike" cap="none" dirty="0" smtClean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11.2018 </a:t>
            </a:r>
            <a:r>
              <a:rPr lang="en" sz="1400" b="1" i="0" u="none" strike="noStrike" cap="none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- ВЕРСИЯ </a:t>
            </a:r>
            <a:r>
              <a:rPr lang="en" b="1" dirty="0">
                <a:solidFill>
                  <a:srgbClr val="CCCCCC"/>
                </a:solidFill>
              </a:rPr>
              <a:t>6</a:t>
            </a:r>
            <a:endParaRPr lang="en" sz="1400" b="1" i="0" u="none" strike="noStrike" cap="none" dirty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" sz="1400">
                <a:solidFill>
                  <a:srgbClr val="434343"/>
                </a:solidFill>
              </a:rPr>
              <a:t>DOM елементи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" sz="1400">
                <a:solidFill>
                  <a:srgbClr val="434343"/>
                </a:solidFill>
              </a:rPr>
              <a:t>Обхождане на DOM - дървото</a:t>
            </a:r>
          </a:p>
          <a:p>
            <a:pPr marL="914400" lvl="1" indent="-228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Char char="○"/>
            </a:pPr>
            <a:r>
              <a:rPr lang="en">
                <a:solidFill>
                  <a:srgbClr val="434343"/>
                </a:solidFill>
              </a:rPr>
              <a:t>Добавяне, премахване, променяне на елементи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" sz="1400">
                <a:solidFill>
                  <a:srgbClr val="434343"/>
                </a:solidFill>
              </a:rPr>
              <a:t>Промяна на DOM - дървото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" sz="1400">
                <a:solidFill>
                  <a:srgbClr val="434343"/>
                </a:solidFill>
              </a:rPr>
              <a:t>Оптимизиране на DOM операциите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434343"/>
              </a:solidFill>
            </a:endParaRPr>
          </a:p>
        </p:txBody>
      </p:sp>
      <p:sp>
        <p:nvSpPr>
          <p:cNvPr id="65" name="Shape 65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DOM елементи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endParaRPr sz="36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Shape 76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DOM елементи - преговор</a:t>
            </a:r>
            <a:r>
              <a:rPr lang="en" sz="3600" b="1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Всеки </a:t>
            </a:r>
            <a:r>
              <a:rPr lang="en" b="1" dirty="0">
                <a:solidFill>
                  <a:srgbClr val="FF0000"/>
                </a:solidFill>
              </a:rPr>
              <a:t>DOM елемент</a:t>
            </a:r>
            <a:r>
              <a:rPr lang="en" b="1" dirty="0">
                <a:solidFill>
                  <a:schemeClr val="dk1"/>
                </a:solidFill>
              </a:rPr>
              <a:t> е </a:t>
            </a:r>
            <a:r>
              <a:rPr lang="en" dirty="0">
                <a:solidFill>
                  <a:schemeClr val="dk1"/>
                </a:solidFill>
              </a:rPr>
              <a:t>JavaScript обект, съответстващ на елемент от HTML.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b="1" dirty="0">
                <a:solidFill>
                  <a:srgbClr val="FF0000"/>
                </a:solidFill>
              </a:rPr>
              <a:t>Селектираме </a:t>
            </a:r>
            <a:r>
              <a:rPr lang="en" sz="1800" b="1" dirty="0" smtClean="0">
                <a:solidFill>
                  <a:srgbClr val="FF0000"/>
                </a:solidFill>
              </a:rPr>
              <a:t>ги - </a:t>
            </a:r>
            <a:r>
              <a:rPr lang="en" sz="1800" dirty="0" smtClean="0">
                <a:solidFill>
                  <a:schemeClr val="dk1"/>
                </a:solidFill>
              </a:rPr>
              <a:t>използваме </a:t>
            </a:r>
            <a:r>
              <a:rPr lang="en" sz="1800" dirty="0">
                <a:solidFill>
                  <a:schemeClr val="dk1"/>
                </a:solidFill>
              </a:rPr>
              <a:t>някой от DOM селекторите.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b="1" dirty="0">
                <a:solidFill>
                  <a:srgbClr val="FF0000"/>
                </a:solidFill>
              </a:rPr>
              <a:t>Създаваме ги</a:t>
            </a:r>
            <a:r>
              <a:rPr lang="en" sz="1800" dirty="0">
                <a:solidFill>
                  <a:schemeClr val="dk1"/>
                </a:solidFill>
              </a:rPr>
              <a:t> </a:t>
            </a:r>
            <a:r>
              <a:rPr lang="en" sz="1800" dirty="0" smtClean="0">
                <a:solidFill>
                  <a:schemeClr val="dk1"/>
                </a:solidFill>
              </a:rPr>
              <a:t>- динамично </a:t>
            </a:r>
            <a:r>
              <a:rPr lang="en" sz="1800" dirty="0">
                <a:solidFill>
                  <a:schemeClr val="dk1"/>
                </a:solidFill>
              </a:rPr>
              <a:t>с </a:t>
            </a:r>
            <a:r>
              <a:rPr lang="en-US" sz="1800" dirty="0" smtClean="0">
                <a:solidFill>
                  <a:schemeClr val="dk1"/>
                </a:solidFill>
              </a:rPr>
              <a:t>JS </a:t>
            </a:r>
            <a:r>
              <a:rPr lang="en" sz="1800" dirty="0" smtClean="0">
                <a:solidFill>
                  <a:schemeClr val="dk1"/>
                </a:solidFill>
              </a:rPr>
              <a:t>код</a:t>
            </a:r>
            <a:r>
              <a:rPr lang="en" sz="1800" dirty="0">
                <a:solidFill>
                  <a:schemeClr val="dk1"/>
                </a:solidFill>
              </a:rPr>
              <a:t>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DOM елементи </a:t>
            </a:r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E91E63"/>
                </a:solidFill>
              </a:rPr>
              <a:t>DOM елементите</a:t>
            </a:r>
            <a:r>
              <a:rPr lang="en" sz="1800" dirty="0">
                <a:solidFill>
                  <a:schemeClr val="dk1"/>
                </a:solidFill>
              </a:rPr>
              <a:t> могат да бъдат променяни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Следните промени се прилагат веднага върху </a:t>
            </a:r>
            <a:r>
              <a:rPr lang="en" sz="1800" dirty="0">
                <a:solidFill>
                  <a:schemeClr val="dk1"/>
                </a:solidFill>
              </a:rPr>
              <a:t>DOM </a:t>
            </a:r>
            <a:r>
              <a:rPr lang="en" dirty="0">
                <a:solidFill>
                  <a:schemeClr val="dk1"/>
                </a:solidFill>
              </a:rPr>
              <a:t>и </a:t>
            </a:r>
            <a:r>
              <a:rPr lang="en" sz="1800" dirty="0">
                <a:solidFill>
                  <a:schemeClr val="dk1"/>
                </a:solidFill>
              </a:rPr>
              <a:t>HTML стр</a:t>
            </a:r>
            <a:r>
              <a:rPr lang="en" dirty="0">
                <a:solidFill>
                  <a:schemeClr val="dk1"/>
                </a:solidFill>
              </a:rPr>
              <a:t>аницата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" dirty="0">
                <a:solidFill>
                  <a:schemeClr val="dk1"/>
                </a:solidFill>
              </a:rPr>
              <a:t> //промяна съдържанието на div-елемент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 </a:t>
            </a:r>
            <a:r>
              <a:rPr lang="en" dirty="0">
                <a:solidFill>
                  <a:srgbClr val="E91E63"/>
                </a:solidFill>
              </a:rPr>
              <a:t>selectedDiv</a:t>
            </a:r>
            <a:r>
              <a:rPr lang="en" dirty="0">
                <a:solidFill>
                  <a:schemeClr val="dk1"/>
                </a:solidFill>
              </a:rPr>
              <a:t>.innerHTML = "changed";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" dirty="0">
                <a:solidFill>
                  <a:schemeClr val="dk1"/>
                </a:solidFill>
              </a:rPr>
              <a:t/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 //променяме фона на div на "#456"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</a:t>
            </a:r>
            <a:r>
              <a:rPr lang="en" dirty="0">
                <a:solidFill>
                  <a:srgbClr val="E91E63"/>
                </a:solidFill>
              </a:rPr>
              <a:t> selectedDiv</a:t>
            </a:r>
            <a:r>
              <a:rPr lang="en" dirty="0">
                <a:solidFill>
                  <a:schemeClr val="dk1"/>
                </a:solidFill>
              </a:rPr>
              <a:t>.style.background = "#456";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bg-BG" i="1" dirty="0" err="1" smtClean="0"/>
              <a:t>демо</a:t>
            </a:r>
            <a:endParaRPr i="1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94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title"/>
          </p:nvPr>
        </p:nvSpPr>
        <p:spPr>
          <a:xfrm>
            <a:off x="311700" y="1684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Обхождане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на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DOM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endParaRPr sz="36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Shape 90" descr="internal_no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850" y="700075"/>
            <a:ext cx="504825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Shape 96"/>
          <p:cNvSpPr txBox="1"/>
          <p:nvPr/>
        </p:nvSpPr>
        <p:spPr>
          <a:xfrm>
            <a:off x="0" y="57950"/>
            <a:ext cx="6805500" cy="6873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387350" rt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>
                <a:solidFill>
                  <a:schemeClr val="lt1"/>
                </a:solidFill>
              </a:rPr>
              <a:t>Обхождане на DOM</a:t>
            </a:r>
          </a:p>
        </p:txBody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DOM елементите притежават свойства, отнасящи се до тяхната позиция в DOM - дървото: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Техния родител - </a:t>
            </a:r>
            <a:r>
              <a:rPr lang="en" sz="1800" b="1" dirty="0">
                <a:solidFill>
                  <a:srgbClr val="0D65B5"/>
                </a:solidFill>
              </a:rPr>
              <a:t>parent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Техните деца - </a:t>
            </a:r>
            <a:r>
              <a:rPr lang="en" sz="1800" b="1" dirty="0">
                <a:solidFill>
                  <a:srgbClr val="0D65B5"/>
                </a:solidFill>
              </a:rPr>
              <a:t>children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Техните </a:t>
            </a:r>
            <a:r>
              <a:rPr lang="bg-BG" sz="1800" dirty="0" smtClean="0">
                <a:solidFill>
                  <a:schemeClr val="dk1"/>
                </a:solidFill>
              </a:rPr>
              <a:t>роднини</a:t>
            </a:r>
            <a:r>
              <a:rPr lang="en-US" sz="1800" dirty="0" smtClean="0">
                <a:solidFill>
                  <a:schemeClr val="dk1"/>
                </a:solidFill>
              </a:rPr>
              <a:t> </a:t>
            </a:r>
            <a:r>
              <a:rPr lang="en" sz="1800" dirty="0" smtClean="0">
                <a:solidFill>
                  <a:schemeClr val="dk1"/>
                </a:solidFill>
              </a:rPr>
              <a:t>- </a:t>
            </a:r>
            <a:r>
              <a:rPr lang="en" sz="1800" b="1" dirty="0">
                <a:solidFill>
                  <a:srgbClr val="0D65B5"/>
                </a:solidFill>
              </a:rPr>
              <a:t>siblings</a:t>
            </a:r>
          </a:p>
          <a:p>
            <a: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</a:pPr>
            <a:r>
              <a:rPr lang="en" sz="1800" dirty="0">
                <a:solidFill>
                  <a:schemeClr val="dk1"/>
                </a:solidFill>
              </a:rPr>
              <a:t>Елементите непосредствено преди и след елемента.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Тези свойства могат да бъдат използвани за обхождане на DOM - дървото.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R="0" lvl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Shape 103"/>
          <p:cNvSpPr txBox="1"/>
          <p:nvPr/>
        </p:nvSpPr>
        <p:spPr>
          <a:xfrm>
            <a:off x="0" y="57950"/>
            <a:ext cx="6805500" cy="6873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387350" rt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>
                <a:solidFill>
                  <a:schemeClr val="lt1"/>
                </a:solidFill>
              </a:rPr>
              <a:t>Обхождане на DOM</a:t>
            </a:r>
          </a:p>
        </p:txBody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D65B5"/>
                </a:solidFill>
              </a:rPr>
              <a:t>parentNode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element.parentNode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Връща директния родител на елемента 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Родителя на </a:t>
            </a:r>
            <a:r>
              <a:rPr lang="en" sz="1800" b="1" dirty="0">
                <a:solidFill>
                  <a:srgbClr val="0D65B5"/>
                </a:solidFill>
              </a:rPr>
              <a:t>document</a:t>
            </a:r>
            <a:r>
              <a:rPr lang="en" sz="1800" dirty="0">
                <a:solidFill>
                  <a:schemeClr val="dk1"/>
                </a:solidFill>
              </a:rPr>
              <a:t> е null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D65B5"/>
                </a:solidFill>
              </a:rPr>
              <a:t>childNodes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element.childNodes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Връща nodeList с всички деца  - </a:t>
            </a:r>
            <a:r>
              <a:rPr lang="en" sz="1800" b="1" dirty="0">
                <a:solidFill>
                  <a:schemeClr val="dk1"/>
                </a:solidFill>
              </a:rPr>
              <a:t>child nodes</a:t>
            </a:r>
          </a:p>
          <a:p>
            <a:pPr marL="1371600" lvl="2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Wingdings"/>
              <a:buChar char="§"/>
            </a:pPr>
            <a:r>
              <a:rPr lang="en" sz="1800" dirty="0">
                <a:solidFill>
                  <a:schemeClr val="dk1"/>
                </a:solidFill>
              </a:rPr>
              <a:t>Включително текста - </a:t>
            </a:r>
            <a:r>
              <a:rPr lang="en" sz="1800" b="1" dirty="0">
                <a:solidFill>
                  <a:schemeClr val="dk1"/>
                </a:solidFill>
              </a:rPr>
              <a:t>text nodes</a:t>
            </a:r>
            <a:r>
              <a:rPr lang="en" sz="1800" dirty="0">
                <a:solidFill>
                  <a:schemeClr val="dk1"/>
                </a:solidFill>
              </a:rPr>
              <a:t> </a:t>
            </a:r>
          </a:p>
          <a:p>
            <a:pPr marL="1371600" lvl="2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Wingdings"/>
              <a:buChar char="§"/>
            </a:pPr>
            <a:r>
              <a:rPr lang="en" sz="1800" dirty="0">
                <a:solidFill>
                  <a:schemeClr val="dk1"/>
                </a:solidFill>
              </a:rPr>
              <a:t>Включително </a:t>
            </a:r>
            <a:r>
              <a:rPr lang="en" sz="1800" dirty="0" smtClean="0">
                <a:solidFill>
                  <a:schemeClr val="dk1"/>
                </a:solidFill>
              </a:rPr>
              <a:t>whitespaces</a:t>
            </a:r>
            <a:endParaRPr lang="en" sz="1800" dirty="0">
              <a:solidFill>
                <a:schemeClr val="dk1"/>
              </a:solidFill>
            </a:endParaRPr>
          </a:p>
        </p:txBody>
      </p:sp>
      <p:pic>
        <p:nvPicPr>
          <p:cNvPr id="105" name="Shape 105" descr="header-node-cor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3312" y="1812925"/>
            <a:ext cx="244792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Shape 111"/>
          <p:cNvSpPr txBox="1"/>
          <p:nvPr/>
        </p:nvSpPr>
        <p:spPr>
          <a:xfrm>
            <a:off x="0" y="57950"/>
            <a:ext cx="6805500" cy="6873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indent="38735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Traversing the DOM</a:t>
            </a:r>
          </a:p>
        </p:txBody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DOM елементите имат някои свойства за специалните елементи, намиращи се около тях -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b="1" dirty="0">
                <a:solidFill>
                  <a:schemeClr val="dk1"/>
                </a:solidFill>
              </a:rPr>
              <a:t>first</a:t>
            </a:r>
            <a:r>
              <a:rPr lang="en" sz="1800" dirty="0">
                <a:solidFill>
                  <a:schemeClr val="dk1"/>
                </a:solidFill>
              </a:rPr>
              <a:t> /</a:t>
            </a:r>
            <a:r>
              <a:rPr lang="en" sz="1800" b="1" dirty="0">
                <a:solidFill>
                  <a:schemeClr val="dk1"/>
                </a:solidFill>
              </a:rPr>
              <a:t>last</a:t>
            </a:r>
            <a:r>
              <a:rPr lang="en" sz="1800" dirty="0">
                <a:solidFill>
                  <a:schemeClr val="dk1"/>
                </a:solidFill>
              </a:rPr>
              <a:t> child nodes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Елементите преди/след избран елемент/node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Свойства - 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firstChild / lastChild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nextSibling / nextElementSibling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previousSibling / </a:t>
            </a:r>
            <a:r>
              <a:rPr lang="en" sz="1800" dirty="0" smtClean="0">
                <a:solidFill>
                  <a:schemeClr val="dk1"/>
                </a:solidFill>
              </a:rPr>
              <a:t>previousElementSibling</a:t>
            </a:r>
            <a:endParaRPr lang="en"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AC7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311700" y="190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Манипулиране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на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DOM - дървото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Може да променяме DOM - дървото динамично, с помощта на JS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Създаваме HTML елементи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Премахваме HTML елементи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Променяне на HTML елементите -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Тяхното съдържание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Стилизирането им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Техните атрибути - src, href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24" name="Shape 124"/>
          <p:cNvSpPr txBox="1"/>
          <p:nvPr/>
        </p:nvSpPr>
        <p:spPr>
          <a:xfrm>
            <a:off x="428275" y="0"/>
            <a:ext cx="6184500" cy="52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Манипулиране на DOM - дървото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DOM притежава метод за създаване на HTML елементи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document.</a:t>
            </a:r>
            <a:r>
              <a:rPr lang="en" sz="1800" b="1" dirty="0">
                <a:solidFill>
                  <a:srgbClr val="33AC71"/>
                </a:solidFill>
              </a:rPr>
              <a:t>createElement(elementName)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Връща обект от съответния тип HTML елемент.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dk1"/>
                </a:solidFill>
              </a:rPr>
              <a:t>var </a:t>
            </a:r>
            <a:r>
              <a:rPr lang="en" sz="1800" dirty="0">
                <a:solidFill>
                  <a:schemeClr val="dk1"/>
                </a:solidFill>
              </a:rPr>
              <a:t>liElement = document.createElement("li");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31" name="Shape 131"/>
          <p:cNvSpPr txBox="1"/>
          <p:nvPr/>
        </p:nvSpPr>
        <p:spPr>
          <a:xfrm>
            <a:off x="428275" y="0"/>
            <a:ext cx="6184500" cy="52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createElement()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Когато създаваме HTML елемент динамично, той е просто един </a:t>
            </a:r>
            <a:r>
              <a:rPr lang="en" sz="1800" b="1" dirty="0">
                <a:solidFill>
                  <a:schemeClr val="dk1"/>
                </a:solidFill>
              </a:rPr>
              <a:t>JavaScript обект, </a:t>
            </a:r>
            <a:r>
              <a:rPr lang="en" sz="1800" dirty="0">
                <a:solidFill>
                  <a:schemeClr val="dk1"/>
                </a:solidFill>
              </a:rPr>
              <a:t>който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Все още </a:t>
            </a:r>
            <a:r>
              <a:rPr lang="en" sz="1800" b="1" dirty="0">
                <a:solidFill>
                  <a:srgbClr val="33AC71"/>
                </a:solidFill>
              </a:rPr>
              <a:t>не е част от DOM</a:t>
            </a:r>
            <a:r>
              <a:rPr lang="en" sz="1800" dirty="0">
                <a:solidFill>
                  <a:schemeClr val="dk1"/>
                </a:solidFill>
              </a:rPr>
              <a:t> - дървото /на уеб страницата/.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Новият HTML елемент трябва </a:t>
            </a:r>
            <a:r>
              <a:rPr lang="en" sz="1800" dirty="0">
                <a:solidFill>
                  <a:srgbClr val="33AC71"/>
                </a:solidFill>
              </a:rPr>
              <a:t>да бъде добавен /</a:t>
            </a:r>
            <a:r>
              <a:rPr lang="en" sz="1800" b="1" dirty="0">
                <a:solidFill>
                  <a:srgbClr val="33AC71"/>
                </a:solidFill>
              </a:rPr>
              <a:t>appended/</a:t>
            </a:r>
            <a:r>
              <a:rPr lang="en" sz="1800" dirty="0">
                <a:solidFill>
                  <a:schemeClr val="dk1"/>
                </a:solidFill>
              </a:rPr>
              <a:t> към DOM - дървото.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 var studentsList = document.createElement("ul");</a:t>
            </a:r>
          </a:p>
          <a:p>
            <a:pPr lvl="0" indent="3873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var studentLi = document.createElement("li");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		studentsList.appendChild(studentLi);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  			document.body.appendChild(studentsList);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138" name="Shape 138"/>
          <p:cNvSpPr txBox="1"/>
          <p:nvPr/>
        </p:nvSpPr>
        <p:spPr>
          <a:xfrm>
            <a:off x="428275" y="0"/>
            <a:ext cx="6184500" cy="52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appendChild()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DOM API поддържа методи за вмъкване на елемент преди и след конкретен елемент.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 smtClean="0">
                <a:solidFill>
                  <a:schemeClr val="dk1"/>
                </a:solidFill>
              </a:rPr>
              <a:t>appendChild() вмъква елемента винаги в края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 smtClean="0">
                <a:solidFill>
                  <a:schemeClr val="dk1"/>
                </a:solidFill>
              </a:rPr>
              <a:t>parent.</a:t>
            </a:r>
            <a:r>
              <a:rPr lang="en" sz="1800" dirty="0" smtClean="0">
                <a:solidFill>
                  <a:srgbClr val="33AC71"/>
                </a:solidFill>
              </a:rPr>
              <a:t>insertBefore</a:t>
            </a:r>
            <a:r>
              <a:rPr lang="en" sz="1800" dirty="0" smtClean="0">
                <a:solidFill>
                  <a:schemeClr val="dk1"/>
                </a:solidFill>
              </a:rPr>
              <a:t>(newNode, specificElement)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endParaRPr lang="en" sz="1800" dirty="0">
              <a:solidFill>
                <a:schemeClr val="dk1"/>
              </a:solidFill>
            </a:endParaRP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endParaRPr lang="en" sz="1800" dirty="0" smtClean="0">
              <a:solidFill>
                <a:schemeClr val="dk1"/>
              </a:solidFill>
            </a:endParaRPr>
          </a:p>
          <a:p>
            <a:pPr marL="57150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800" i="1" dirty="0" smtClean="0">
                <a:solidFill>
                  <a:schemeClr val="dk1"/>
                </a:solidFill>
              </a:rPr>
              <a:t>demo</a:t>
            </a:r>
            <a:endParaRPr lang="en" sz="1800" i="1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45" name="Shape 145"/>
          <p:cNvSpPr txBox="1"/>
          <p:nvPr/>
        </p:nvSpPr>
        <p:spPr>
          <a:xfrm>
            <a:off x="428275" y="0"/>
            <a:ext cx="6184500" cy="52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insertBefore()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4D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Премахване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на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елементи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dirty="0">
                <a:solidFill>
                  <a:schemeClr val="dk1"/>
                </a:solidFill>
              </a:rPr>
              <a:t>Премахваме елемент с element.</a:t>
            </a:r>
            <a:r>
              <a:rPr lang="en" b="1" dirty="0">
                <a:solidFill>
                  <a:schemeClr val="accent3"/>
                </a:solidFill>
              </a:rPr>
              <a:t>removeChild(elToRemove)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Подаваме елемента, който ще премахваме на неговия </a:t>
            </a:r>
            <a:r>
              <a:rPr lang="en" sz="1800" dirty="0" smtClean="0">
                <a:solidFill>
                  <a:srgbClr val="FF0000"/>
                </a:solidFill>
              </a:rPr>
              <a:t>родител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endParaRPr lang="en" sz="1800" dirty="0">
              <a:solidFill>
                <a:srgbClr val="FF0000"/>
              </a:solidFill>
            </a:endParaRPr>
          </a:p>
          <a:p>
            <a:pPr marL="57150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8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demo</a:t>
            </a:r>
            <a:endParaRPr lang="en" sz="18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b="1" dirty="0"/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b="1" dirty="0"/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56" name="Shape 156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52A4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Shape 157"/>
          <p:cNvSpPr txBox="1"/>
          <p:nvPr/>
        </p:nvSpPr>
        <p:spPr>
          <a:xfrm>
            <a:off x="150975" y="-172525"/>
            <a:ext cx="6805500" cy="76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 b="1">
                <a:solidFill>
                  <a:srgbClr val="FFFFFF"/>
                </a:solidFill>
              </a:rPr>
              <a:t>removeChild()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Променяне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на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елемент/и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>
                <a:solidFill>
                  <a:srgbClr val="434343"/>
                </a:solidFill>
              </a:rPr>
              <a:t>DOM елементите могат да бъдат премахнати и/или променени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Courier New"/>
              <a:buChar char="o"/>
            </a:pPr>
            <a:r>
              <a:rPr lang="en">
                <a:solidFill>
                  <a:srgbClr val="434343"/>
                </a:solidFill>
              </a:rPr>
              <a:t>Както конкретен елемент, така и неговите деца.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>
                <a:solidFill>
                  <a:srgbClr val="434343"/>
                </a:solidFill>
              </a:rPr>
              <a:t>DOM API дава възможност всеки елемент от  DOM - дървото да бъде променян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Courier New"/>
              <a:buChar char="o"/>
            </a:pPr>
            <a:r>
              <a:rPr lang="en">
                <a:solidFill>
                  <a:srgbClr val="434343"/>
                </a:solidFill>
              </a:rPr>
              <a:t>Променяйки свойствата му/properties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Courier New"/>
              <a:buChar char="o"/>
            </a:pPr>
            <a:r>
              <a:rPr lang="en">
                <a:solidFill>
                  <a:srgbClr val="434343"/>
                </a:solidFill>
              </a:rPr>
              <a:t>Променяйки външния му вид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68" name="Shape 16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Shape 16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   </a:t>
            </a:r>
            <a:r>
              <a:rPr lang="en" sz="2300" b="1">
                <a:solidFill>
                  <a:srgbClr val="FFFFFF"/>
                </a:solidFill>
              </a:rPr>
              <a:t>Променяне на елемент/и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">
                <a:solidFill>
                  <a:srgbClr val="434343"/>
                </a:solidFill>
              </a:rPr>
              <a:t>Всеки HTML елемент е уникален в DOM - дървото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>
                <a:solidFill>
                  <a:srgbClr val="434343"/>
                </a:solidFill>
              </a:rPr>
              <a:t>Ако променим с JavaScript неговия външен вид или позиция - той си е все още същия елемент - обект.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75" name="Shape 17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Shape 17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   </a:t>
            </a:r>
            <a:r>
              <a:rPr lang="en" sz="2300" b="1">
                <a:solidFill>
                  <a:srgbClr val="FFFFFF"/>
                </a:solidFill>
              </a:rPr>
              <a:t>Променяне на елемент/и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4EA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Променяне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на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Стила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на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елемент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Стилът на всеки HTML елемент, може да бъде променян с JavaScript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Като променяме стиловите атрибути</a:t>
            </a:r>
          </a:p>
          <a:p>
            <a: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</a:pPr>
            <a:r>
              <a:rPr lang="en" sz="1800">
                <a:solidFill>
                  <a:schemeClr val="dk1"/>
                </a:solidFill>
              </a:rPr>
              <a:t>Променяме - inline - стила, не CSS документ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/Какъв е приоритетът на inline - стила, спрямо останалите начини за задаване на стил на HTML елементите?/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Shape 18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   </a:t>
            </a:r>
            <a:r>
              <a:rPr lang="en" sz="2300" b="1">
                <a:solidFill>
                  <a:srgbClr val="FFFFFF"/>
                </a:solidFill>
              </a:rPr>
              <a:t>element.style.property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var div = document.getElementById("content");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 </a:t>
            </a:r>
            <a:r>
              <a:rPr lang="en" dirty="0" smtClean="0">
                <a:solidFill>
                  <a:schemeClr val="dk1"/>
                </a:solidFill>
              </a:rPr>
              <a:t>	div.style.display </a:t>
            </a:r>
            <a:r>
              <a:rPr lang="en" dirty="0">
                <a:solidFill>
                  <a:schemeClr val="dk1"/>
                </a:solidFill>
              </a:rPr>
              <a:t>= "block";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 </a:t>
            </a:r>
            <a:r>
              <a:rPr lang="en" dirty="0" smtClean="0">
                <a:solidFill>
                  <a:schemeClr val="dk1"/>
                </a:solidFill>
              </a:rPr>
              <a:t>	div.style.width </a:t>
            </a:r>
            <a:r>
              <a:rPr lang="en" dirty="0">
                <a:solidFill>
                  <a:schemeClr val="dk1"/>
                </a:solidFill>
              </a:rPr>
              <a:t>= </a:t>
            </a:r>
            <a:r>
              <a:rPr lang="en" b="1" dirty="0">
                <a:solidFill>
                  <a:srgbClr val="E06666"/>
                </a:solidFill>
              </a:rPr>
              <a:t>"123px</a:t>
            </a:r>
            <a:r>
              <a:rPr lang="en" b="1" dirty="0" smtClean="0">
                <a:solidFill>
                  <a:srgbClr val="E06666"/>
                </a:solidFill>
              </a:rPr>
              <a:t>"</a:t>
            </a:r>
            <a:r>
              <a:rPr lang="en" dirty="0" smtClean="0">
                <a:solidFill>
                  <a:schemeClr val="dk1"/>
                </a:solidFill>
              </a:rPr>
              <a:t>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lang="en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lang="en" dirty="0" smtClean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i="1" dirty="0" smtClean="0">
                <a:solidFill>
                  <a:schemeClr val="dk1"/>
                </a:solidFill>
              </a:rPr>
              <a:t>demo</a:t>
            </a:r>
            <a:endParaRPr lang="en" i="1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94" name="Shape 19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Shape 19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   </a:t>
            </a:r>
            <a:r>
              <a:rPr lang="en" sz="2300" b="1">
                <a:solidFill>
                  <a:srgbClr val="FFFFFF"/>
                </a:solidFill>
              </a:rPr>
              <a:t>element.style.property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CC5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title"/>
          </p:nvPr>
        </p:nvSpPr>
        <p:spPr>
          <a:xfrm>
            <a:off x="311700" y="1235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Оптимизиране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на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DOM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операциите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311700" y="114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Добавянето на елементи към DOM - дървото е много бавна операция</a:t>
            </a:r>
          </a:p>
          <a:p>
            <a:pPr lvl="0" rtl="0"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Когато добавяме елемент към DOM - дървото, то се зарежда отначало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Препоръчително е новосъздадените елементи да бъдат добавяни заедно.</a:t>
            </a:r>
          </a:p>
          <a:p>
            <a:pPr lvl="0" rtl="0"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61111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DCC5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Shape 207"/>
          <p:cNvSpPr txBox="1"/>
          <p:nvPr/>
        </p:nvSpPr>
        <p:spPr>
          <a:xfrm>
            <a:off x="0" y="109975"/>
            <a:ext cx="6805500" cy="654300"/>
          </a:xfrm>
          <a:prstGeom prst="rect">
            <a:avLst/>
          </a:prstGeom>
          <a:solidFill>
            <a:srgbClr val="9DCC5F"/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   Оптимизация на операциите с DOM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311700" y="114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" dirty="0">
                <a:solidFill>
                  <a:schemeClr val="dk1"/>
                </a:solidFill>
              </a:rPr>
              <a:t>За целта използваме елемента </a:t>
            </a:r>
            <a:r>
              <a:rPr lang="en" b="1" dirty="0">
                <a:solidFill>
                  <a:srgbClr val="8BC34A"/>
                </a:solidFill>
              </a:rPr>
              <a:t>DocumentFragment</a:t>
            </a:r>
            <a:r>
              <a:rPr lang="en" dirty="0">
                <a:solidFill>
                  <a:schemeClr val="dk1"/>
                </a:solidFill>
              </a:rPr>
              <a:t> </a:t>
            </a:r>
          </a:p>
          <a:p>
            <a:pPr marL="457200" lvl="0" indent="-228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dirty="0">
                <a:solidFill>
                  <a:schemeClr val="dk1"/>
                </a:solidFill>
              </a:rPr>
              <a:t>Той е малък </a:t>
            </a:r>
            <a:r>
              <a:rPr lang="en" b="1" dirty="0">
                <a:solidFill>
                  <a:schemeClr val="dk1"/>
                </a:solidFill>
              </a:rPr>
              <a:t>DOM елемент</a:t>
            </a:r>
            <a:r>
              <a:rPr lang="en" dirty="0">
                <a:solidFill>
                  <a:schemeClr val="dk1"/>
                </a:solidFill>
              </a:rPr>
              <a:t>, без родители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dirty="0">
                <a:solidFill>
                  <a:schemeClr val="dk1"/>
                </a:solidFill>
              </a:rPr>
              <a:t>Използва се за съхранение на готовите за прикачване, новосъздадени елементи едновременно към DOM - дървото</a:t>
            </a:r>
            <a:r>
              <a:rPr lang="en" dirty="0" smtClean="0">
                <a:solidFill>
                  <a:schemeClr val="dk1"/>
                </a:solidFill>
              </a:rPr>
              <a:t>.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endParaRPr lang="en" dirty="0">
              <a:solidFill>
                <a:schemeClr val="dk1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endParaRPr lang="en" dirty="0" smtClean="0">
              <a:solidFill>
                <a:schemeClr val="dk1"/>
              </a:solidFill>
            </a:endParaRPr>
          </a:p>
          <a:p>
            <a:pPr marL="1143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dirty="0" smtClean="0">
                <a:solidFill>
                  <a:schemeClr val="dk1"/>
                </a:solidFill>
                <a:hlinkClick r:id="rId3"/>
              </a:rPr>
              <a:t>D</a:t>
            </a:r>
            <a:r>
              <a:rPr lang="en" dirty="0" smtClean="0">
                <a:solidFill>
                  <a:schemeClr val="dk1"/>
                </a:solidFill>
                <a:hlinkClick r:id="rId3"/>
              </a:rPr>
              <a:t>etailed document fragment info</a:t>
            </a:r>
            <a:endParaRPr lang="en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61111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DCC5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Shape 214"/>
          <p:cNvSpPr txBox="1"/>
          <p:nvPr/>
        </p:nvSpPr>
        <p:spPr>
          <a:xfrm>
            <a:off x="0" y="109975"/>
            <a:ext cx="6805500" cy="654300"/>
          </a:xfrm>
          <a:prstGeom prst="rect">
            <a:avLst/>
          </a:prstGeom>
          <a:solidFill>
            <a:srgbClr val="9DCC5F"/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   documentFragment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>
            <a:spLocks noGrp="1"/>
          </p:cNvSpPr>
          <p:nvPr>
            <p:ph type="body" idx="1"/>
          </p:nvPr>
        </p:nvSpPr>
        <p:spPr>
          <a:xfrm>
            <a:off x="311700" y="114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dirty="0">
                <a:solidFill>
                  <a:schemeClr val="dk1"/>
                </a:solidFill>
              </a:rPr>
              <a:t>Прикачването на DocumentFragment - елемента към DOM - дървото, добавя само неговите деца - елементи.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" dirty="0">
                <a:solidFill>
                  <a:schemeClr val="dk1"/>
                </a:solidFill>
              </a:rPr>
              <a:t>var dFrag = document.createDocumentFragment();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   dFrag.appendChild(div);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   //appending more elements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" dirty="0">
                <a:solidFill>
                  <a:schemeClr val="dk1"/>
                </a:solidFill>
              </a:rPr>
              <a:t>……..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   document.body.appendChild(dFrag);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endParaRPr dirty="0">
              <a:solidFill>
                <a:schemeClr val="dk1"/>
              </a:solidFill>
            </a:endParaRPr>
          </a:p>
          <a:p>
            <a:pPr lvl="0" rtl="0"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61111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DCC5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Shape 221"/>
          <p:cNvSpPr txBox="1"/>
          <p:nvPr/>
        </p:nvSpPr>
        <p:spPr>
          <a:xfrm>
            <a:off x="0" y="109975"/>
            <a:ext cx="6805500" cy="654300"/>
          </a:xfrm>
          <a:prstGeom prst="rect">
            <a:avLst/>
          </a:prstGeom>
          <a:solidFill>
            <a:srgbClr val="9DCC5F"/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   documentFragment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653</Words>
  <Application>Microsoft Office PowerPoint</Application>
  <PresentationFormat>Презентация на цял екран (16:9)</PresentationFormat>
  <Paragraphs>167</Paragraphs>
  <Slides>26</Slides>
  <Notes>26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Syncopate</vt:lpstr>
      <vt:lpstr>Wingdings</vt:lpstr>
      <vt:lpstr>simple-light-2</vt:lpstr>
      <vt:lpstr>web разработка</vt:lpstr>
      <vt:lpstr>Презентация на PowerPoint</vt:lpstr>
      <vt:lpstr>DOM елементи </vt:lpstr>
      <vt:lpstr>Презентация на PowerPoint</vt:lpstr>
      <vt:lpstr>Презентация на PowerPoint</vt:lpstr>
      <vt:lpstr>Обхождане  на  DOM  </vt:lpstr>
      <vt:lpstr>Презентация на PowerPoint</vt:lpstr>
      <vt:lpstr>Презентация на PowerPoint</vt:lpstr>
      <vt:lpstr>Презентация на PowerPoint</vt:lpstr>
      <vt:lpstr>Манипулиране  на DOM - дървото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Премахване  на  елементи </vt:lpstr>
      <vt:lpstr>Презентация на PowerPoint</vt:lpstr>
      <vt:lpstr>Променяне на  елемент/и  </vt:lpstr>
      <vt:lpstr>Презентация на PowerPoint</vt:lpstr>
      <vt:lpstr>Презентация на PowerPoint</vt:lpstr>
      <vt:lpstr>Променяне  на  Стила  на  елемент</vt:lpstr>
      <vt:lpstr>Презентация на PowerPoint</vt:lpstr>
      <vt:lpstr>Презентация на PowerPoint</vt:lpstr>
      <vt:lpstr>Оптимизиране  на DOM  операциите  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user</dc:creator>
  <cp:lastModifiedBy>Ariel</cp:lastModifiedBy>
  <cp:revision>12</cp:revision>
  <dcterms:modified xsi:type="dcterms:W3CDTF">2019-05-04T17:05:14Z</dcterms:modified>
</cp:coreProperties>
</file>