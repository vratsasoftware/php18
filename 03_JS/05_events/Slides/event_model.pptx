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embeddedFontLst>
    <p:embeddedFont>
      <p:font typeface="Syncopate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3" d="100"/>
          <a:sy n="103" d="100"/>
        </p:scale>
        <p:origin x="-773" y="-1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1pPr>
            <a:lvl2pPr marL="457200" marR="0" lvl="1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2pPr>
            <a:lvl3pPr marL="914400" marR="0" lvl="2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3pPr>
            <a:lvl4pPr marL="1371600" marR="0" lvl="3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4pPr>
            <a:lvl5pPr marL="1828800" marR="0" lvl="4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5pPr>
            <a:lvl6pPr marL="2286000" marR="0" lvl="5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6pPr>
            <a:lvl7pPr marL="2743200" marR="0" lvl="6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7pPr>
            <a:lvl8pPr marL="3200400" marR="0" lvl="7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8pPr>
            <a:lvl9pPr marL="3657600" marR="0" lvl="8" indent="0" algn="l" rtl="0">
              <a:spcBef>
                <a:spcPts val="0"/>
              </a:spcBef>
              <a:buFont typeface="Arial"/>
              <a:buNone/>
              <a:defRPr sz="1100" b="0" i="0" u="none" strike="noStrike" cap="none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3106558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9" name="Shape 1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3" name="Shape 14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0" name="Shape 1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65" name="Shape 1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4" name="Shape 1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1" name="Shape 1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Font typeface="Arial"/>
              <a:buNone/>
            </a:pPr>
            <a:endParaRPr sz="1100" b="0" i="0" u="none" strike="noStrike" cap="non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7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7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7999" cy="7556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197" cy="1482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197" cy="1235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buClr>
                <a:schemeClr val="dk1"/>
              </a:buClr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buClr>
                <a:schemeClr val="dk1"/>
              </a:buClr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fld id="{00000000-1234-1234-1234-123412341234}" type="slidenum">
              <a:rPr lang="en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en"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TR/DOM-Level-3-Events/#event-types-lis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javascript.info/bubbling-and-capturing#capturing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/>
          <p:nvPr/>
        </p:nvSpPr>
        <p:spPr>
          <a:xfrm>
            <a:off x="-24225" y="2850900"/>
            <a:ext cx="9168300" cy="22926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Shape 5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Syncopate"/>
              <a:buNone/>
            </a:pPr>
            <a:r>
              <a:rPr lang="en" sz="3600" b="1" i="0" u="none" strike="noStrike" cap="non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</a:p>
        </p:txBody>
      </p:sp>
      <p:sp>
        <p:nvSpPr>
          <p:cNvPr id="56" name="Shape 5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JavaScript 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Events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30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Shape 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360" y="497375"/>
            <a:ext cx="2981276" cy="124962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Shape 58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ct val="25000"/>
              <a:buFont typeface="Arial"/>
              <a:buNone/>
            </a:pP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WEB РАЗРАБОТКА- </a:t>
            </a:r>
            <a:r>
              <a:rPr lang="en" sz="1400" b="1" i="0" u="none" strike="noStrike" cap="none" smtClean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11.2018 </a:t>
            </a: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- ВЕРСИЯ </a:t>
            </a:r>
            <a:r>
              <a:rPr lang="en" sz="1400" b="1" i="0" u="none" strike="noStrike" cap="none" smtClean="0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lang="en" sz="1400" b="1" i="0" u="none" strike="noStrike" cap="non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311700" y="11256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JavaScript Event Model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000000"/>
                </a:solidFill>
              </a:rPr>
              <a:t>Регистриране на събития/event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>
                <a:solidFill>
                  <a:schemeClr val="dk1"/>
                </a:solidFill>
              </a:rPr>
              <a:t>HTML Attributes, 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>
                <a:solidFill>
                  <a:schemeClr val="dk1"/>
                </a:solidFill>
              </a:rPr>
              <a:t>DOM Properties 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>
                <a:solidFill>
                  <a:schemeClr val="dk1"/>
                </a:solidFill>
              </a:rPr>
              <a:t>DOM методи</a:t>
            </a: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Event - обект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434343"/>
              </a:solidFill>
            </a:endParaRP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434343"/>
              </a:solidFill>
            </a:endParaRPr>
          </a:p>
        </p:txBody>
      </p:sp>
      <p:sp>
        <p:nvSpPr>
          <p:cNvPr id="65" name="Shape 65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Съдържание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1E63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>
            <a:spLocks noGrp="1"/>
          </p:cNvSpPr>
          <p:nvPr>
            <p:ph type="title"/>
          </p:nvPr>
        </p:nvSpPr>
        <p:spPr>
          <a:xfrm>
            <a:off x="311700" y="1540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JavaScript Event Model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/>
        </p:nvSpPr>
        <p:spPr>
          <a:xfrm>
            <a:off x="0" y="0"/>
            <a:ext cx="9144000" cy="655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Shape 76"/>
          <p:cNvSpPr txBox="1"/>
          <p:nvPr/>
        </p:nvSpPr>
        <p:spPr>
          <a:xfrm>
            <a:off x="0" y="30300"/>
            <a:ext cx="6805500" cy="70379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JavaScript Event Model </a:t>
            </a:r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280675" y="897725"/>
            <a:ext cx="8550600" cy="381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Char char="●"/>
            </a:pPr>
            <a:r>
              <a:rPr lang="en" b="1" dirty="0">
                <a:solidFill>
                  <a:srgbClr val="E91E63"/>
                </a:solidFill>
              </a:rPr>
              <a:t>DOM event model</a:t>
            </a:r>
            <a:r>
              <a:rPr lang="en" dirty="0"/>
              <a:t> - дава възможност на потребителя да взаимодейства с уеб-страницата /браузъра/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Char char="●"/>
            </a:pPr>
            <a:r>
              <a:rPr lang="en" dirty="0"/>
              <a:t>Състои се от event/event-и и event listener(s), свързани към DOM - обект.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&lt;button&gt; Click Me&lt;/button&gt;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		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		</a:t>
            </a:r>
            <a:r>
              <a:rPr lang="en" b="1" dirty="0">
                <a:solidFill>
                  <a:srgbClr val="E91E63"/>
                </a:solidFill>
              </a:rPr>
              <a:t>event listener</a:t>
            </a:r>
            <a:r>
              <a:rPr lang="en" dirty="0"/>
              <a:t> (функция) - onButtonClick()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394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>
            <a:spLocks noGrp="1"/>
          </p:cNvSpPr>
          <p:nvPr>
            <p:ph type="title"/>
          </p:nvPr>
        </p:nvSpPr>
        <p:spPr>
          <a:xfrm>
            <a:off x="311700" y="1540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Event Types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0D65B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Shape 88"/>
          <p:cNvSpPr txBox="1"/>
          <p:nvPr/>
        </p:nvSpPr>
        <p:spPr>
          <a:xfrm>
            <a:off x="0" y="57950"/>
            <a:ext cx="6805500" cy="687300"/>
          </a:xfrm>
          <a:prstGeom prst="rect">
            <a:avLst/>
          </a:prstGeom>
          <a:solidFill>
            <a:srgbClr val="0D65B5"/>
          </a:solidFill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indent="38735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Event Types</a:t>
            </a:r>
          </a:p>
        </p:txBody>
      </p:sp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</a:rPr>
              <a:t>Event-и, които се използват в 99% от случаите</a:t>
            </a:r>
          </a:p>
          <a:p>
            <a:pPr marL="914400" lvl="1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600" b="1">
                <a:solidFill>
                  <a:schemeClr val="dk1"/>
                </a:solidFill>
              </a:rPr>
              <a:t>Mouse</a:t>
            </a:r>
            <a:r>
              <a:rPr lang="en" sz="1600">
                <a:solidFill>
                  <a:schemeClr val="dk1"/>
                </a:solidFill>
              </a:rPr>
              <a:t> events</a:t>
            </a:r>
          </a:p>
          <a:p>
            <a:pPr marL="914400" lvl="1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600" b="1">
                <a:solidFill>
                  <a:schemeClr val="dk1"/>
                </a:solidFill>
              </a:rPr>
              <a:t>Touch</a:t>
            </a:r>
            <a:r>
              <a:rPr lang="en" sz="1600">
                <a:solidFill>
                  <a:schemeClr val="dk1"/>
                </a:solidFill>
              </a:rPr>
              <a:t> events</a:t>
            </a:r>
          </a:p>
          <a:p>
            <a:pPr marL="914400" lvl="1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600" b="1">
                <a:solidFill>
                  <a:schemeClr val="dk1"/>
                </a:solidFill>
              </a:rPr>
              <a:t>Form</a:t>
            </a:r>
            <a:r>
              <a:rPr lang="en" sz="1600">
                <a:solidFill>
                  <a:schemeClr val="dk1"/>
                </a:solidFill>
              </a:rPr>
              <a:t> events</a:t>
            </a:r>
          </a:p>
          <a:p>
            <a:pPr marL="914400" lvl="1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600" b="1">
                <a:solidFill>
                  <a:schemeClr val="dk1"/>
                </a:solidFill>
              </a:rPr>
              <a:t>Keyboard</a:t>
            </a:r>
            <a:r>
              <a:rPr lang="en" sz="1600">
                <a:solidFill>
                  <a:schemeClr val="dk1"/>
                </a:solidFill>
              </a:rPr>
              <a:t> events</a:t>
            </a:r>
          </a:p>
          <a:p>
            <a:pPr marL="914400" lvl="1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600" b="1">
                <a:solidFill>
                  <a:schemeClr val="dk1"/>
                </a:solidFill>
              </a:rPr>
              <a:t>DOM</a:t>
            </a:r>
            <a:r>
              <a:rPr lang="en" sz="1600">
                <a:solidFill>
                  <a:schemeClr val="dk1"/>
                </a:solidFill>
              </a:rPr>
              <a:t> events</a:t>
            </a:r>
          </a:p>
          <a:p>
            <a: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</a:rPr>
              <a:t>Пълен списък на типовете еvent-и.</a:t>
            </a:r>
          </a:p>
          <a:p>
            <a:pPr marL="914400" lvl="1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http://www.w3.org/TR/DOM-Level-3-Events/#event-types-list</a:t>
            </a:r>
          </a:p>
          <a:p>
            <a: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600">
                <a:solidFill>
                  <a:schemeClr val="dk1"/>
                </a:solidFill>
              </a:rPr>
              <a:t>Може да дефинираме и Custom Event Types - свои типове еvent-и</a:t>
            </a:r>
          </a:p>
          <a:p>
            <a:pPr marR="0" lvl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D65B5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0" y="57950"/>
            <a:ext cx="6805500" cy="687300"/>
          </a:xfrm>
          <a:prstGeom prst="rect">
            <a:avLst/>
          </a:prstGeom>
          <a:solidFill>
            <a:srgbClr val="0D65B5"/>
          </a:solidFill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indent="38735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Event Types - най-често използвани</a:t>
            </a:r>
          </a:p>
        </p:txBody>
      </p:sp>
      <p:pic>
        <p:nvPicPr>
          <p:cNvPr id="96" name="Shape 96" descr="Без име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225" y="1541450"/>
            <a:ext cx="352425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Shape 97" descr="Без име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2474" y="1588375"/>
            <a:ext cx="1914525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AC7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444650" y="1500025"/>
            <a:ext cx="8520600" cy="401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Регистриране 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на 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Event </a:t>
            </a:r>
          </a:p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/>
        </p:nvSpPr>
        <p:spPr>
          <a:xfrm>
            <a:off x="0" y="0"/>
            <a:ext cx="9144000" cy="714900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800" dirty="0">
                <a:solidFill>
                  <a:schemeClr val="dk1"/>
                </a:solidFill>
              </a:rPr>
              <a:t>Регистрираме еvent чрез </a:t>
            </a:r>
            <a:r>
              <a:rPr lang="en" sz="1800" b="1" dirty="0" smtClean="0">
                <a:solidFill>
                  <a:schemeClr val="dk1"/>
                </a:solidFill>
              </a:rPr>
              <a:t>функция </a:t>
            </a:r>
            <a:r>
              <a:rPr lang="en" sz="1800" dirty="0" smtClean="0">
                <a:solidFill>
                  <a:schemeClr val="dk1"/>
                </a:solidFill>
              </a:rPr>
              <a:t>и </a:t>
            </a:r>
            <a:r>
              <a:rPr lang="en" sz="1800" b="1" dirty="0">
                <a:solidFill>
                  <a:schemeClr val="dk1"/>
                </a:solidFill>
              </a:rPr>
              <a:t>DOM </a:t>
            </a:r>
            <a:r>
              <a:rPr lang="en" sz="1800" b="1" dirty="0" smtClean="0">
                <a:solidFill>
                  <a:schemeClr val="dk1"/>
                </a:solidFill>
              </a:rPr>
              <a:t>– елемент</a:t>
            </a:r>
            <a:r>
              <a:rPr lang="bg-BG" sz="1800" b="1" dirty="0" smtClean="0">
                <a:solidFill>
                  <a:schemeClr val="dk1"/>
                </a:solidFill>
              </a:rPr>
              <a:t>, който ще предизвика изпълнението на функцията.</a:t>
            </a:r>
          </a:p>
          <a:p>
            <a:pPr marL="11430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" sz="1800" b="1" dirty="0">
              <a:solidFill>
                <a:schemeClr val="dk1"/>
              </a:solidFill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800" dirty="0">
                <a:solidFill>
                  <a:schemeClr val="dk1"/>
                </a:solidFill>
              </a:rPr>
              <a:t>Има три начина за регистриране на event: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Като HTML - атрибут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Използване на свойство на DOM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dk1"/>
                </a:solidFill>
              </a:rPr>
              <a:t>Използване на DOM event handler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09" name="Shape 109"/>
          <p:cNvSpPr txBox="1"/>
          <p:nvPr/>
        </p:nvSpPr>
        <p:spPr>
          <a:xfrm>
            <a:off x="428275" y="0"/>
            <a:ext cx="6184500" cy="528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2400" b="1">
                <a:solidFill>
                  <a:srgbClr val="FFFFFF"/>
                </a:solidFill>
              </a:rPr>
              <a:t>Event Handlers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/>
          <p:nvPr/>
        </p:nvSpPr>
        <p:spPr>
          <a:xfrm>
            <a:off x="0" y="0"/>
            <a:ext cx="9144000" cy="714900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800" dirty="0">
                <a:solidFill>
                  <a:schemeClr val="dk1"/>
                </a:solidFill>
              </a:rPr>
              <a:t>Като HTML атрибут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</a:rPr>
              <a:t>В html кода →</a:t>
            </a:r>
            <a:br>
              <a:rPr lang="en" sz="1800" dirty="0">
                <a:solidFill>
                  <a:schemeClr val="dk1"/>
                </a:solidFill>
              </a:rPr>
            </a:br>
            <a:r>
              <a:rPr lang="en" sz="1800" dirty="0">
                <a:solidFill>
                  <a:schemeClr val="dk1"/>
                </a:solidFill>
              </a:rPr>
              <a:t>&lt;button </a:t>
            </a:r>
            <a:r>
              <a:rPr lang="en" sz="1800" b="1" dirty="0">
                <a:solidFill>
                  <a:srgbClr val="57BB8A"/>
                </a:solidFill>
              </a:rPr>
              <a:t>onclick</a:t>
            </a:r>
            <a:r>
              <a:rPr lang="en" sz="1800" dirty="0">
                <a:solidFill>
                  <a:schemeClr val="dk1"/>
                </a:solidFill>
              </a:rPr>
              <a:t>="onButtonClick()"&gt;Click Me&lt;/button&gt;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</a:rPr>
              <a:t>В js кода →</a:t>
            </a:r>
            <a:br>
              <a:rPr lang="en" sz="1800" dirty="0">
                <a:solidFill>
                  <a:schemeClr val="dk1"/>
                </a:solidFill>
              </a:rPr>
            </a:br>
            <a:r>
              <a:rPr lang="en" sz="1800" dirty="0">
                <a:solidFill>
                  <a:schemeClr val="dk1"/>
                </a:solidFill>
              </a:rPr>
              <a:t>function onButtonClick() {</a:t>
            </a:r>
            <a:br>
              <a:rPr lang="en" sz="1800" dirty="0">
                <a:solidFill>
                  <a:schemeClr val="dk1"/>
                </a:solidFill>
              </a:rPr>
            </a:br>
            <a:r>
              <a:rPr lang="en" sz="1800" dirty="0">
                <a:solidFill>
                  <a:schemeClr val="dk1"/>
                </a:solidFill>
              </a:rPr>
              <a:t>  console.log("You clicked the Button");</a:t>
            </a:r>
            <a:br>
              <a:rPr lang="en" sz="1800" dirty="0">
                <a:solidFill>
                  <a:schemeClr val="dk1"/>
                </a:solidFill>
              </a:rPr>
            </a:br>
            <a:r>
              <a:rPr lang="en" sz="1800" dirty="0">
                <a:solidFill>
                  <a:schemeClr val="dk1"/>
                </a:solidFill>
              </a:rPr>
              <a:t>}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 dirty="0" smtClean="0">
                <a:solidFill>
                  <a:srgbClr val="33AC71"/>
                </a:solidFill>
              </a:rPr>
              <a:t>Задача→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1" dirty="0">
              <a:solidFill>
                <a:srgbClr val="33AC71"/>
              </a:solidFill>
            </a:endParaRPr>
          </a:p>
        </p:txBody>
      </p:sp>
      <p:sp>
        <p:nvSpPr>
          <p:cNvPr id="116" name="Shape 116"/>
          <p:cNvSpPr txBox="1"/>
          <p:nvPr/>
        </p:nvSpPr>
        <p:spPr>
          <a:xfrm>
            <a:off x="428275" y="0"/>
            <a:ext cx="6184500" cy="528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2400" b="1">
                <a:solidFill>
                  <a:srgbClr val="FFFFFF"/>
                </a:solidFill>
              </a:rPr>
              <a:t>As HTML Attribute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/>
        </p:nvSpPr>
        <p:spPr>
          <a:xfrm>
            <a:off x="0" y="0"/>
            <a:ext cx="9144000" cy="714900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Shape 1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Напишете JS, с който при преминаване с мишката над картинката - от усмихната става сериозна и текста под картинката се сменява от 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 am serious със Just Kidding!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sp>
        <p:nvSpPr>
          <p:cNvPr id="123" name="Shape 123"/>
          <p:cNvSpPr txBox="1"/>
          <p:nvPr/>
        </p:nvSpPr>
        <p:spPr>
          <a:xfrm>
            <a:off x="428275" y="0"/>
            <a:ext cx="6184500" cy="528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2400" b="1">
                <a:solidFill>
                  <a:srgbClr val="FFFFFF"/>
                </a:solidFill>
              </a:rPr>
              <a:t>As HTML Attribute - задача</a:t>
            </a:r>
          </a:p>
        </p:txBody>
      </p:sp>
      <p:pic>
        <p:nvPicPr>
          <p:cNvPr id="124" name="Shape 124" descr="Untit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487" y="2619375"/>
            <a:ext cx="2828925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Shape 125" descr="Untitl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3525" y="2619375"/>
            <a:ext cx="2819400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/>
        </p:nvSpPr>
        <p:spPr>
          <a:xfrm>
            <a:off x="0" y="0"/>
            <a:ext cx="9144000" cy="714900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Shape 1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Прилагаме DOM - event върху конкретен DOM - елемент и </a:t>
            </a:r>
            <a:r>
              <a:rPr lang="bg-BG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му задаваме </a:t>
            </a:r>
            <a:r>
              <a:rPr lang="en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референция </a:t>
            </a: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към функция. /Само звучи ужасно :))/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 dirty="0">
              <a:solidFill>
                <a:schemeClr val="dk1"/>
              </a:solidFill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всъщност→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 html кода → имаме </a:t>
            </a:r>
            <a:r>
              <a:rPr lang="en" sz="1100" b="1" dirty="0">
                <a:solidFill>
                  <a:srgbClr val="00B050"/>
                </a:solidFill>
              </a:rPr>
              <a:t>шпионин</a:t>
            </a: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- бутон, който чака да бъде кликнат за да предизвика действие</a:t>
            </a:r>
            <a:b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&lt;button </a:t>
            </a:r>
            <a:r>
              <a:rPr lang="en" sz="1100" b="1" dirty="0">
                <a:solidFill>
                  <a:srgbClr val="00B050"/>
                </a:solidFill>
              </a:rPr>
              <a:t>id="click-button"</a:t>
            </a: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&gt;Click me&lt;/button&gt;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 js кода→</a:t>
            </a:r>
          </a:p>
          <a:p>
            <a: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bg-BG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П</a:t>
            </a:r>
            <a:r>
              <a:rPr lang="en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одготвили</a:t>
            </a:r>
            <a:r>
              <a:rPr lang="bg-BG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сме</a:t>
            </a:r>
            <a:r>
              <a:rPr lang="en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обекта</a:t>
            </a:r>
            <a:r>
              <a:rPr lang="bg-BG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-шпионин</a:t>
            </a:r>
            <a:r>
              <a:rPr lang="en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bg-BG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който е някой от наличните </a:t>
            </a:r>
            <a:r>
              <a:rPr lang="en-US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html-</a:t>
            </a:r>
            <a:r>
              <a:rPr lang="en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елемент</a:t>
            </a:r>
            <a:r>
              <a:rPr lang="bg-BG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и</a:t>
            </a:r>
            <a:r>
              <a:rPr lang="en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endParaRPr lang="e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bg-BG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</a:t>
            </a:r>
            <a:r>
              <a:rPr lang="en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азали </a:t>
            </a: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сме му при какви обстоятелства(</a:t>
            </a:r>
            <a:r>
              <a:rPr lang="en" sz="1100" b="1" dirty="0">
                <a:solidFill>
                  <a:srgbClr val="00B050"/>
                </a:solidFill>
              </a:rPr>
              <a:t>когато бъде кликнат</a:t>
            </a: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Какво да направи - </a:t>
            </a:r>
            <a:r>
              <a:rPr lang="en" sz="1100" b="1" dirty="0">
                <a:solidFill>
                  <a:srgbClr val="00B050"/>
                </a:solidFill>
              </a:rPr>
              <a:t>да логне</a:t>
            </a: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някакво съобщение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/>
            </a:r>
            <a:b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bg-BG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	</a:t>
            </a:r>
            <a:r>
              <a:rPr lang="en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var </a:t>
            </a: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button = document.getElementById("click-button");</a:t>
            </a:r>
            <a:b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bg-BG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	</a:t>
            </a:r>
            <a:r>
              <a:rPr lang="en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button.onclick </a:t>
            </a: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= function onButtonClick() {</a:t>
            </a:r>
            <a:b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bg-BG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		</a:t>
            </a:r>
            <a:r>
              <a:rPr lang="en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console.log</a:t>
            </a: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("You clicked the button");</a:t>
            </a:r>
            <a:b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bg-BG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			</a:t>
            </a:r>
            <a:r>
              <a:rPr lang="en" sz="11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}</a:t>
            </a:r>
            <a:endParaRPr lang="e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132" name="Shape 132"/>
          <p:cNvSpPr txBox="1"/>
          <p:nvPr/>
        </p:nvSpPr>
        <p:spPr>
          <a:xfrm>
            <a:off x="400086" y="-3553"/>
            <a:ext cx="8417700" cy="67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endParaRPr lang="bg-BG" sz="1800" b="1" dirty="0" smtClean="0">
              <a:solidFill>
                <a:srgbClr val="FFFFFF"/>
              </a:solidFill>
            </a:endParaRPr>
          </a:p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1800" b="1" dirty="0" smtClean="0">
                <a:solidFill>
                  <a:srgbClr val="FFFFFF"/>
                </a:solidFill>
              </a:rPr>
              <a:t>Регистриране </a:t>
            </a:r>
            <a:r>
              <a:rPr lang="en" sz="1800" b="1" dirty="0">
                <a:solidFill>
                  <a:srgbClr val="FFFFFF"/>
                </a:solidFill>
              </a:rPr>
              <a:t>на  Event Handlers </a:t>
            </a:r>
            <a:r>
              <a:rPr lang="bg-BG" sz="1800" b="1" dirty="0" smtClean="0">
                <a:solidFill>
                  <a:srgbClr val="FFFFFF"/>
                </a:solidFill>
              </a:rPr>
              <a:t>чрез </a:t>
            </a:r>
            <a:r>
              <a:rPr lang="en" sz="1800" b="1" dirty="0" smtClean="0">
                <a:solidFill>
                  <a:srgbClr val="FFFFFF"/>
                </a:solidFill>
              </a:rPr>
              <a:t>свойство</a:t>
            </a:r>
            <a:r>
              <a:rPr lang="bg-BG" sz="1800" b="1" dirty="0" smtClean="0">
                <a:solidFill>
                  <a:srgbClr val="FFFFFF"/>
                </a:solidFill>
              </a:rPr>
              <a:t>/</a:t>
            </a:r>
            <a:r>
              <a:rPr lang="en-US" sz="1800" b="1" dirty="0" smtClean="0">
                <a:solidFill>
                  <a:srgbClr val="FFFFFF"/>
                </a:solidFill>
              </a:rPr>
              <a:t>property</a:t>
            </a:r>
            <a:r>
              <a:rPr lang="en" sz="1800" b="1" dirty="0" smtClean="0">
                <a:solidFill>
                  <a:srgbClr val="FFFFFF"/>
                </a:solidFill>
              </a:rPr>
              <a:t> </a:t>
            </a:r>
            <a:r>
              <a:rPr lang="en" sz="1800" b="1" dirty="0">
                <a:solidFill>
                  <a:srgbClr val="FFFFFF"/>
                </a:solidFill>
              </a:rPr>
              <a:t>на DOM </a:t>
            </a:r>
            <a:r>
              <a:rPr lang="en" sz="1800" b="1" dirty="0" smtClean="0">
                <a:solidFill>
                  <a:srgbClr val="FFFFFF"/>
                </a:solidFill>
              </a:rPr>
              <a:t>– елемента /</a:t>
            </a:r>
            <a:r>
              <a:rPr lang="bg-BG" sz="1800" b="1" dirty="0" smtClean="0">
                <a:solidFill>
                  <a:srgbClr val="FFFFFF"/>
                </a:solidFill>
              </a:rPr>
              <a:t>атрибут на </a:t>
            </a:r>
            <a:r>
              <a:rPr lang="en-US" sz="1800" b="1" dirty="0" smtClean="0">
                <a:solidFill>
                  <a:srgbClr val="FFFFFF"/>
                </a:solidFill>
              </a:rPr>
              <a:t>html-e</a:t>
            </a:r>
            <a:r>
              <a:rPr lang="bg-BG" sz="1800" b="1" dirty="0" err="1" smtClean="0">
                <a:solidFill>
                  <a:srgbClr val="FFFFFF"/>
                </a:solidFill>
              </a:rPr>
              <a:t>лемента</a:t>
            </a:r>
            <a:r>
              <a:rPr lang="bg-BG" sz="1800" b="1" dirty="0" smtClean="0">
                <a:solidFill>
                  <a:srgbClr val="FFFFFF"/>
                </a:solidFill>
              </a:rPr>
              <a:t>/</a:t>
            </a:r>
            <a:endParaRPr lang="en" sz="1800" b="1" dirty="0">
              <a:solidFill>
                <a:srgbClr val="FFFFFF"/>
              </a:solidFill>
            </a:endParaRPr>
          </a:p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endParaRPr sz="18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/>
          <p:nvPr/>
        </p:nvSpPr>
        <p:spPr>
          <a:xfrm>
            <a:off x="0" y="0"/>
            <a:ext cx="9144000" cy="714900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Shape 138"/>
          <p:cNvSpPr txBox="1">
            <a:spLocks noGrp="1"/>
          </p:cNvSpPr>
          <p:nvPr>
            <p:ph type="body" idx="1"/>
          </p:nvPr>
        </p:nvSpPr>
        <p:spPr>
          <a:xfrm>
            <a:off x="243137" y="113372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Напишете JS код, който сменява настроението на Smiley след натискане на бутон.</a:t>
            </a:r>
          </a:p>
        </p:txBody>
      </p:sp>
      <p:sp>
        <p:nvSpPr>
          <p:cNvPr id="139" name="Shape 139"/>
          <p:cNvSpPr txBox="1"/>
          <p:nvPr/>
        </p:nvSpPr>
        <p:spPr>
          <a:xfrm>
            <a:off x="420475" y="195550"/>
            <a:ext cx="8417700" cy="67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1800" b="1">
                <a:solidFill>
                  <a:srgbClr val="FFFFFF"/>
                </a:solidFill>
              </a:rPr>
              <a:t>Рег… със свойство на DOM - елемента - задача</a:t>
            </a:r>
          </a:p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endParaRPr sz="1800" b="1">
              <a:solidFill>
                <a:srgbClr val="FFFFFF"/>
              </a:solidFill>
            </a:endParaRPr>
          </a:p>
        </p:txBody>
      </p:sp>
      <p:pic>
        <p:nvPicPr>
          <p:cNvPr id="140" name="Shape 140" descr="Untit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262" y="2133600"/>
            <a:ext cx="2828925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/>
          <p:nvPr/>
        </p:nvSpPr>
        <p:spPr>
          <a:xfrm>
            <a:off x="0" y="0"/>
            <a:ext cx="9144000" cy="714900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Shape 1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11430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Стандартния </a:t>
            </a:r>
            <a:r>
              <a:rPr lang="e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начин за прикачване на event handler-и към </a:t>
            </a:r>
            <a:r>
              <a:rPr lang="en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DOM</a:t>
            </a:r>
            <a:endParaRPr lang="bg-BG" sz="1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lang="bg-BG" sz="1800" b="1" dirty="0" smtClean="0">
              <a:solidFill>
                <a:srgbClr val="00B050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 b="1" dirty="0" smtClean="0">
                <a:solidFill>
                  <a:srgbClr val="00B050"/>
                </a:solidFill>
              </a:rPr>
              <a:t>domElement</a:t>
            </a:r>
            <a:r>
              <a:rPr lang="en" sz="1800" dirty="0" smtClean="0">
                <a:solidFill>
                  <a:schemeClr val="dk1"/>
                </a:solidFill>
              </a:rPr>
              <a:t>.</a:t>
            </a:r>
            <a:r>
              <a:rPr lang="en" sz="1800" b="1" dirty="0" smtClean="0">
                <a:solidFill>
                  <a:srgbClr val="00B0F0"/>
                </a:solidFill>
              </a:rPr>
              <a:t>addEventListener(</a:t>
            </a:r>
            <a:r>
              <a:rPr lang="en" sz="1800" b="1" dirty="0" smtClean="0">
                <a:solidFill>
                  <a:schemeClr val="accent1">
                    <a:lumMod val="75000"/>
                  </a:schemeClr>
                </a:solidFill>
              </a:rPr>
              <a:t>eventType</a:t>
            </a:r>
            <a:r>
              <a:rPr lang="en" sz="1800" dirty="0">
                <a:solidFill>
                  <a:schemeClr val="dk1"/>
                </a:solidFill>
              </a:rPr>
              <a:t>, </a:t>
            </a:r>
            <a:r>
              <a:rPr lang="en" sz="1800" b="1" dirty="0">
                <a:solidFill>
                  <a:schemeClr val="accent5">
                    <a:lumMod val="75000"/>
                  </a:schemeClr>
                </a:solidFill>
              </a:rPr>
              <a:t>eventHandler</a:t>
            </a:r>
            <a:r>
              <a:rPr lang="en" sz="1800" dirty="0">
                <a:solidFill>
                  <a:schemeClr val="dk1"/>
                </a:solidFill>
              </a:rPr>
              <a:t>, </a:t>
            </a:r>
            <a:r>
              <a:rPr lang="en" sz="1800" b="1" dirty="0">
                <a:solidFill>
                  <a:srgbClr val="FF00FF"/>
                </a:solidFill>
              </a:rPr>
              <a:t>isCaptureEvent</a:t>
            </a:r>
            <a:r>
              <a:rPr lang="en" sz="1800" b="1" dirty="0">
                <a:solidFill>
                  <a:srgbClr val="00B0F0"/>
                </a:solidFill>
              </a:rPr>
              <a:t>)</a:t>
            </a:r>
            <a:r>
              <a:rPr lang="en" sz="1800" dirty="0">
                <a:solidFill>
                  <a:schemeClr val="dk1"/>
                </a:solidFill>
              </a:rPr>
              <a:t>;</a:t>
            </a:r>
          </a:p>
          <a:p>
            <a:pPr marL="114300" lvl="0" rtl="0">
              <a:spcBef>
                <a:spcPts val="0"/>
              </a:spcBef>
              <a:spcAft>
                <a:spcPts val="0"/>
              </a:spcAft>
              <a:buClr>
                <a:srgbClr val="57BB8A"/>
              </a:buClr>
              <a:buSzPct val="100000"/>
            </a:pPr>
            <a:endParaRPr lang="bg-BG" sz="1800" dirty="0">
              <a:solidFill>
                <a:schemeClr val="dk1"/>
              </a:solidFill>
            </a:endParaRPr>
          </a:p>
          <a:p>
            <a:pPr marL="114300" lvl="0" rtl="0">
              <a:spcBef>
                <a:spcPts val="0"/>
              </a:spcBef>
              <a:spcAft>
                <a:spcPts val="0"/>
              </a:spcAft>
              <a:buClr>
                <a:srgbClr val="57BB8A"/>
              </a:buClr>
              <a:buSzPct val="100000"/>
            </a:pPr>
            <a:r>
              <a:rPr lang="en" sz="1800" b="1" i="1" dirty="0" smtClean="0">
                <a:solidFill>
                  <a:srgbClr val="57BB8A"/>
                </a:solidFill>
              </a:rPr>
              <a:t>пример</a:t>
            </a:r>
            <a:endParaRPr lang="en" sz="1800" b="1" i="1" dirty="0">
              <a:solidFill>
                <a:srgbClr val="57BB8A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</a:rPr>
              <a:t>var button = document.getElementById("click-button");</a:t>
            </a:r>
            <a:br>
              <a:rPr lang="en" sz="1800" dirty="0">
                <a:solidFill>
                  <a:schemeClr val="dk1"/>
                </a:solidFill>
              </a:rPr>
            </a:br>
            <a:r>
              <a:rPr lang="en" sz="1800" dirty="0">
                <a:solidFill>
                  <a:schemeClr val="dk1"/>
                </a:solidFill>
              </a:rPr>
              <a:t>button.</a:t>
            </a:r>
            <a:r>
              <a:rPr lang="en" sz="1800" b="1" dirty="0">
                <a:solidFill>
                  <a:srgbClr val="57BB8A"/>
                </a:solidFill>
              </a:rPr>
              <a:t>addEventListener</a:t>
            </a:r>
            <a:r>
              <a:rPr lang="en" sz="1800" dirty="0">
                <a:solidFill>
                  <a:schemeClr val="dk1"/>
                </a:solidFill>
              </a:rPr>
              <a:t>("click", function () {</a:t>
            </a:r>
            <a:br>
              <a:rPr lang="en" sz="1800" dirty="0">
                <a:solidFill>
                  <a:schemeClr val="dk1"/>
                </a:solidFill>
              </a:rPr>
            </a:br>
            <a:r>
              <a:rPr lang="en" sz="1800" dirty="0">
                <a:solidFill>
                  <a:schemeClr val="dk1"/>
                </a:solidFill>
              </a:rPr>
              <a:t>  console.log("You clicked me");</a:t>
            </a:r>
            <a:br>
              <a:rPr lang="en" sz="1800" dirty="0">
                <a:solidFill>
                  <a:schemeClr val="dk1"/>
                </a:solidFill>
              </a:rPr>
            </a:br>
            <a:r>
              <a:rPr lang="en" sz="1800" dirty="0">
                <a:solidFill>
                  <a:schemeClr val="dk1"/>
                </a:solidFill>
              </a:rPr>
              <a:t>}, false);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147" name="Shape 147"/>
          <p:cNvSpPr txBox="1"/>
          <p:nvPr/>
        </p:nvSpPr>
        <p:spPr>
          <a:xfrm>
            <a:off x="428275" y="0"/>
            <a:ext cx="6184500" cy="528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2400" b="1">
                <a:solidFill>
                  <a:srgbClr val="FFFFFF"/>
                </a:solidFill>
              </a:rPr>
              <a:t>Използване на DOM Event Listeners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/>
        </p:nvSpPr>
        <p:spPr>
          <a:xfrm>
            <a:off x="0" y="0"/>
            <a:ext cx="9144000" cy="714900"/>
          </a:xfrm>
          <a:prstGeom prst="rect">
            <a:avLst/>
          </a:prstGeom>
          <a:solidFill>
            <a:srgbClr val="57BB8A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Shape 1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412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</p:txBody>
      </p:sp>
      <p:sp>
        <p:nvSpPr>
          <p:cNvPr id="154" name="Shape 154"/>
          <p:cNvSpPr txBox="1"/>
          <p:nvPr/>
        </p:nvSpPr>
        <p:spPr>
          <a:xfrm>
            <a:off x="428275" y="0"/>
            <a:ext cx="8484600" cy="572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 sz="2400" b="1">
                <a:solidFill>
                  <a:srgbClr val="FFFFFF"/>
                </a:solidFill>
              </a:rPr>
              <a:t>Използване на DOM Event Listeners - задача</a:t>
            </a:r>
          </a:p>
        </p:txBody>
      </p:sp>
      <p:sp>
        <p:nvSpPr>
          <p:cNvPr id="155" name="Shape 155"/>
          <p:cNvSpPr txBox="1"/>
          <p:nvPr/>
        </p:nvSpPr>
        <p:spPr>
          <a:xfrm>
            <a:off x="428275" y="14243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800" dirty="0">
                <a:solidFill>
                  <a:schemeClr val="accent5">
                    <a:lumMod val="75000"/>
                  </a:schemeClr>
                </a:solidFill>
              </a:rPr>
              <a:t>Напишете JS код, който сменява настроението на Smiley след натискане на бутон.</a:t>
            </a:r>
          </a:p>
        </p:txBody>
      </p:sp>
      <p:pic>
        <p:nvPicPr>
          <p:cNvPr id="156" name="Shape 156" descr="Untit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6437" y="1647612"/>
            <a:ext cx="2924175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A4D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title"/>
          </p:nvPr>
        </p:nvSpPr>
        <p:spPr>
          <a:xfrm>
            <a:off x="311700" y="1540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Bonus****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Event Object</a:t>
            </a:r>
          </a:p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</p:txBody>
      </p:sp>
      <p:pic>
        <p:nvPicPr>
          <p:cNvPr id="162" name="Shape 162" descr="Qfq6OZrc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100" y="799700"/>
            <a:ext cx="3367625" cy="336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11430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Event handlers имат достъп до т. нар. event object.</a:t>
            </a:r>
          </a:p>
          <a:p>
            <a:pPr marL="11430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Той съдържа информация за: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Типа event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Накъде е насочен/</a:t>
            </a:r>
            <a:r>
              <a:rPr lang="e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target-а</a:t>
            </a:r>
            <a:r>
              <a:rPr lang="e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на event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Клавишът, който е натиснат, ако е задействан keyboard event 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Кой бутон на мишката е натиснат, ако е задействан mouse-event</a:t>
            </a:r>
          </a:p>
          <a:p>
            <a: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Позиция на мишката върху екрана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debugging purposes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8" name="Shape 168"/>
          <p:cNvSpPr/>
          <p:nvPr/>
        </p:nvSpPr>
        <p:spPr>
          <a:xfrm>
            <a:off x="0" y="0"/>
            <a:ext cx="9144000" cy="764398"/>
          </a:xfrm>
          <a:prstGeom prst="rect">
            <a:avLst/>
          </a:prstGeom>
          <a:solidFill>
            <a:srgbClr val="052A4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Shape 169"/>
          <p:cNvSpPr txBox="1"/>
          <p:nvPr/>
        </p:nvSpPr>
        <p:spPr>
          <a:xfrm>
            <a:off x="150975" y="0"/>
            <a:ext cx="6805500" cy="764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 b="1" dirty="0">
                <a:solidFill>
                  <a:srgbClr val="FFFFFF"/>
                </a:solidFill>
              </a:rPr>
              <a:t>Event Object</a:t>
            </a:r>
          </a:p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Font typeface="Arial"/>
              <a:buNone/>
            </a:pPr>
            <a:endParaRPr sz="23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11430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Как достъпваме event object-а и неговите свойства/информацията, която съдържа/ - подаваме го като аргумент на функцията, управляваща event-а /function handler/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bg-BG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bg-BG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function </a:t>
            </a:r>
            <a: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onButtonClick(event) {</a:t>
            </a:r>
            <a:b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bg-BG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console.log(event.target</a:t>
            </a:r>
            <a: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);</a:t>
            </a:r>
            <a:b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bg-BG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console.log(event.type</a:t>
            </a:r>
            <a: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);</a:t>
            </a:r>
            <a:b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bg-BG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console.log(event.clientX</a:t>
            </a:r>
            <a: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event.clientY);</a:t>
            </a:r>
            <a:b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bg-BG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		</a:t>
            </a:r>
            <a:r>
              <a:rPr lang="en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}</a:t>
            </a:r>
            <a:endParaRPr lang="e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bg-BG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r>
              <a:rPr lang="en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button.addEventListener</a:t>
            </a:r>
            <a:r>
              <a:rPr lang="e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("click", onButtonClick, false);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5" name="Shape 17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52A4D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Shape 176"/>
          <p:cNvSpPr txBox="1"/>
          <p:nvPr/>
        </p:nvSpPr>
        <p:spPr>
          <a:xfrm>
            <a:off x="150975" y="0"/>
            <a:ext cx="6805500" cy="764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 b="1" dirty="0">
                <a:solidFill>
                  <a:srgbClr val="FFFFFF"/>
                </a:solidFill>
              </a:rPr>
              <a:t>Event Object</a:t>
            </a:r>
          </a:p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Font typeface="Arial"/>
              <a:buNone/>
            </a:pPr>
            <a:endParaRPr sz="23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27B0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 txBox="1">
            <a:spLocks noGrp="1"/>
          </p:cNvSpPr>
          <p:nvPr>
            <p:ph type="title"/>
          </p:nvPr>
        </p:nvSpPr>
        <p:spPr>
          <a:xfrm>
            <a:off x="311700" y="1540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Bonus***</a:t>
            </a:r>
          </a:p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n" sz="3000" b="1">
                <a:solidFill>
                  <a:srgbClr val="FFFFFF"/>
                </a:solidFill>
              </a:rPr>
              <a:t>Capturing and Bubbling Events</a:t>
            </a:r>
          </a:p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  <a:p>
            <a:pPr lvl="0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ct val="36666"/>
              <a:buFont typeface="Arial"/>
              <a:buNone/>
            </a:pPr>
            <a:endParaRPr sz="30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15875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sz="1100" dirty="0">
                <a:solidFill>
                  <a:schemeClr val="dk1"/>
                </a:solidFill>
              </a:rPr>
              <a:t>Когато, потребителят кликне върху HTML - елемент, event-а се задейства и върху неговите родители.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   &lt;html&gt;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     &lt;body&gt;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       &lt;div&gt;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         &lt;button&gt;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           Click Me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         &lt;/button&gt;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       &lt;/div&gt;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     &lt;/body&gt;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   &lt;/html&gt;</a:t>
            </a:r>
          </a:p>
          <a:p>
            <a:pPr marL="0" marR="0" lvl="0" indent="-69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marR="0" lvl="0" indent="-69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При кликване на бутона - </a:t>
            </a:r>
          </a:p>
          <a:p>
            <a:pPr marL="15875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" sz="1100" dirty="0">
                <a:solidFill>
                  <a:schemeClr val="dk1"/>
                </a:solidFill>
              </a:rPr>
              <a:t>Той си остава целта на event-a, но click event-а се разпространява върху всички негови родители по веригата навън - event chain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demo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dirty="0">
              <a:solidFill>
                <a:srgbClr val="434343"/>
              </a:solidFill>
            </a:endParaRPr>
          </a:p>
        </p:txBody>
      </p:sp>
      <p:sp>
        <p:nvSpPr>
          <p:cNvPr id="187" name="Shape 187"/>
          <p:cNvSpPr/>
          <p:nvPr/>
        </p:nvSpPr>
        <p:spPr>
          <a:xfrm>
            <a:off x="0" y="0"/>
            <a:ext cx="9144000" cy="6396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Shape 18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   Capturing &amp; Bubbling Events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24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100" dirty="0">
                <a:solidFill>
                  <a:schemeClr val="dk1"/>
                </a:solidFill>
              </a:rPr>
              <a:t>Има два вида event chain</a:t>
            </a:r>
          </a:p>
          <a:p>
            <a: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100" dirty="0">
                <a:solidFill>
                  <a:schemeClr val="dk1"/>
                </a:solidFill>
              </a:rPr>
              <a:t>Capturing и Bubbling</a:t>
            </a: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Bubbling</a:t>
            </a:r>
            <a:r>
              <a:rPr lang="en" sz="1100" dirty="0">
                <a:solidFill>
                  <a:schemeClr val="dk1"/>
                </a:solidFill>
              </a:rPr>
              <a:t> - event-а върви нагоре по веригата</a:t>
            </a:r>
          </a:p>
          <a:p>
            <a: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100" dirty="0">
                <a:solidFill>
                  <a:schemeClr val="dk1"/>
                </a:solidFill>
              </a:rPr>
              <a:t>Първо се задейства събитието върху целевия елемент</a:t>
            </a:r>
          </a:p>
          <a:p>
            <a: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100" dirty="0">
                <a:solidFill>
                  <a:schemeClr val="dk1"/>
                </a:solidFill>
              </a:rPr>
              <a:t>После върху родителя му, върху родителя на родителя и т.н.</a:t>
            </a: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1100" b="1" dirty="0">
                <a:solidFill>
                  <a:schemeClr val="dk1"/>
                </a:solidFill>
              </a:rPr>
              <a:t>Capturing</a:t>
            </a:r>
            <a:r>
              <a:rPr lang="en" sz="1100" dirty="0">
                <a:solidFill>
                  <a:schemeClr val="dk1"/>
                </a:solidFill>
              </a:rPr>
              <a:t> - събитието върви надолу по-веригата</a:t>
            </a:r>
          </a:p>
          <a:p>
            <a: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100" dirty="0">
                <a:solidFill>
                  <a:schemeClr val="dk1"/>
                </a:solidFill>
              </a:rPr>
              <a:t>Първо върху родителя на всички елементи</a:t>
            </a:r>
          </a:p>
          <a:p>
            <a: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" sz="1100" dirty="0">
                <a:solidFill>
                  <a:schemeClr val="dk1"/>
                </a:solidFill>
              </a:rPr>
              <a:t>Последно се изпълнява върху целевия елемент</a:t>
            </a:r>
            <a:r>
              <a:rPr lang="en" sz="1100" dirty="0" smtClean="0">
                <a:solidFill>
                  <a:schemeClr val="dk1"/>
                </a:solidFill>
              </a:rPr>
              <a:t>.</a:t>
            </a:r>
          </a:p>
          <a:p>
            <a: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endParaRPr lang="en" sz="1100" dirty="0">
              <a:solidFill>
                <a:schemeClr val="dk1"/>
              </a:solidFill>
            </a:endParaRPr>
          </a:p>
          <a:p>
            <a:pPr marL="615950"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" sz="1100" dirty="0">
              <a:solidFill>
                <a:schemeClr val="dk1"/>
              </a:solidFill>
            </a:endParaRPr>
          </a:p>
          <a:p>
            <a:pPr marL="615950"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" sz="1100" dirty="0" smtClean="0">
              <a:solidFill>
                <a:schemeClr val="dk1"/>
              </a:solidFill>
            </a:endParaRPr>
          </a:p>
          <a:p>
            <a:pPr marL="615950"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sz="1100" dirty="0" smtClean="0">
                <a:solidFill>
                  <a:schemeClr val="dk1"/>
                </a:solidFill>
                <a:hlinkClick r:id="rId3"/>
              </a:rPr>
              <a:t>M</a:t>
            </a:r>
            <a:r>
              <a:rPr lang="en" sz="1100" dirty="0" smtClean="0">
                <a:solidFill>
                  <a:schemeClr val="dk1"/>
                </a:solidFill>
                <a:hlinkClick r:id="rId3"/>
              </a:rPr>
              <a:t>ore info</a:t>
            </a:r>
            <a:endParaRPr lang="en" sz="11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endParaRPr sz="2300" b="1" dirty="0">
              <a:solidFill>
                <a:schemeClr val="dk1"/>
              </a:solidFill>
            </a:endParaRPr>
          </a:p>
        </p:txBody>
      </p:sp>
      <p:sp>
        <p:nvSpPr>
          <p:cNvPr id="194" name="Shape 194"/>
          <p:cNvSpPr/>
          <p:nvPr/>
        </p:nvSpPr>
        <p:spPr>
          <a:xfrm>
            <a:off x="0" y="0"/>
            <a:ext cx="9144000" cy="6396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Shape 19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   Capturing and Bubbling Events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24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530</Words>
  <Application>Microsoft Office PowerPoint</Application>
  <PresentationFormat>Презентация на цял екран (16:9)</PresentationFormat>
  <Paragraphs>123</Paragraphs>
  <Slides>21</Slides>
  <Notes>21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21</vt:i4>
      </vt:variant>
    </vt:vector>
  </HeadingPairs>
  <TitlesOfParts>
    <vt:vector size="25" baseType="lpstr">
      <vt:lpstr>Arial</vt:lpstr>
      <vt:lpstr>Syncopate</vt:lpstr>
      <vt:lpstr>Courier New</vt:lpstr>
      <vt:lpstr>simple-light-2</vt:lpstr>
      <vt:lpstr>web разработка</vt:lpstr>
      <vt:lpstr>Презентация на PowerPoint</vt:lpstr>
      <vt:lpstr>JavaScript Event Model</vt:lpstr>
      <vt:lpstr>Презентация на PowerPoint</vt:lpstr>
      <vt:lpstr>Event Types</vt:lpstr>
      <vt:lpstr>Презентация на PowerPoint</vt:lpstr>
      <vt:lpstr>Презентация на PowerPoint</vt:lpstr>
      <vt:lpstr>Регистриране  на  Event 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Bonus****   Event Object  </vt:lpstr>
      <vt:lpstr>Презентация на PowerPoint</vt:lpstr>
      <vt:lpstr>Презентация на PowerPoint</vt:lpstr>
      <vt:lpstr>Bonus*** Capturing and Bubbling Events   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разработка</dc:title>
  <dc:creator>user</dc:creator>
  <cp:lastModifiedBy>Ariel</cp:lastModifiedBy>
  <cp:revision>4</cp:revision>
  <dcterms:modified xsi:type="dcterms:W3CDTF">2019-05-08T06:24:45Z</dcterms:modified>
</cp:coreProperties>
</file>