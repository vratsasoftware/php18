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Syncopate" panose="020B0604020202020204" charset="0"/>
      <p:regular r:id="rId34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91854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56e8c55e1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56e8c55e1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56e8c55e1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56e8c55e1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6e8c55e1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56e8c55e1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6e8c55e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56e8c55e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6e8c55e1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56e8c55e1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6e8c55e1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56e8c55e1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6e8c55e1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56e8c55e1f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6e8c55e1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56e8c55e1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56e8c55e1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56e8c55e1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6e8c55e1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56e8c55e1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6e8c55e1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56e8c55e1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56e8c55e1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56e8c55e1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56e8c55e1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56e8c55e1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6e8c55e1f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56e8c55e1f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56e8c55e1f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56e8c55e1f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56e8c55e1f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56e8c55e1f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56e8c55e1f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56e8c55e1f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6e8c55e1f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56e8c55e1f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6e8c55e1f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56e8c55e1f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css_selectors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css_text.as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fonts#ChoosePlace:selec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sstricks.com/al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listapart.com/article/css-floats-101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pr_background-color.asp" TargetMode="External"/><Relationship Id="rId7" Type="http://schemas.openxmlformats.org/officeDocument/2006/relationships/hyperlink" Target="http://www.w3schools.com/cssref/pr_background-repeat.asp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w3schools.com/cssref/css3_pr_background-size.asp" TargetMode="External"/><Relationship Id="rId5" Type="http://schemas.openxmlformats.org/officeDocument/2006/relationships/hyperlink" Target="http://www.w3schools.com/cssref/pr_background-position.asp" TargetMode="External"/><Relationship Id="rId4" Type="http://schemas.openxmlformats.org/officeDocument/2006/relationships/hyperlink" Target="http://www.w3schools.com/cssref/pr_background-image.asp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css.spritegen.com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pritecow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copate"/>
              <a:buNone/>
            </a:pPr>
            <a:r>
              <a:rPr lang="en" sz="2400" b="1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 sz="24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CSS advanced</a:t>
            </a:r>
            <a:endParaRPr sz="3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WEB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CSS селектори, CSS-pseudo-classes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Стилизиране на </a:t>
            </a:r>
            <a:endParaRPr sz="1400">
              <a:solidFill>
                <a:srgbClr val="434343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CSS text-properties</a:t>
            </a:r>
            <a:endParaRPr>
              <a:solidFill>
                <a:srgbClr val="434343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62,5 %, em, rems</a:t>
            </a:r>
            <a:endParaRPr>
              <a:solidFill>
                <a:srgbClr val="434343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Google fonts</a:t>
            </a:r>
            <a:endParaRPr>
              <a:solidFill>
                <a:srgbClr val="434343"/>
              </a:solidFill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>
                <a:solidFill>
                  <a:srgbClr val="434343"/>
                </a:solidFill>
              </a:rPr>
              <a:t>colors, borders, width, height</a:t>
            </a:r>
            <a:endParaRPr sz="1400">
              <a:solidFill>
                <a:srgbClr val="434343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CSS optimization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Float design 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Изображенията като част от съдържанието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Изображенията като background</a:t>
            </a:r>
            <a:endParaRPr sz="1400">
              <a:solidFill>
                <a:srgbClr val="434343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-"/>
            </a:pPr>
            <a:r>
              <a:rPr lang="en" sz="1400">
                <a:solidFill>
                  <a:srgbClr val="434343"/>
                </a:solidFill>
              </a:rPr>
              <a:t>Image sprites</a:t>
            </a:r>
            <a:endParaRPr sz="14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селектори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В CSS можем да изброяваме множество селектори, за които да се отнася даден стил. Има 3 типа: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Наследници: </a:t>
            </a:r>
            <a:r>
              <a:rPr lang="en" sz="1200" b="1">
                <a:solidFill>
                  <a:srgbClr val="9900FF"/>
                </a:solidFill>
              </a:rPr>
              <a:t>с интервал /описваме пътя до съответния елемент/</a:t>
            </a:r>
            <a:endParaRPr sz="1200" b="1">
              <a:solidFill>
                <a:srgbClr val="9900FF"/>
              </a:solidFill>
            </a:endParaRPr>
          </a:p>
          <a:p>
            <a:pPr marL="9144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body div .class1 {...} / table tr td {...}</a:t>
            </a:r>
            <a:endParaRPr sz="1200">
              <a:solidFill>
                <a:schemeClr val="dk1"/>
              </a:solidFill>
            </a:endParaRPr>
          </a:p>
          <a:p>
            <a:pPr marL="9144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9900FF"/>
                </a:solidFill>
              </a:rPr>
              <a:t>Преки наследници: с ‘&gt;’</a:t>
            </a:r>
            <a:endParaRPr sz="1200" b="1">
              <a:solidFill>
                <a:srgbClr val="9900FF"/>
              </a:solidFill>
            </a:endParaRPr>
          </a:p>
          <a:p>
            <a:pPr marL="9144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body div&gt;#id1 {...}/ table&gt;tr {...}</a:t>
            </a:r>
            <a:endParaRPr sz="1200">
              <a:solidFill>
                <a:schemeClr val="dk1"/>
              </a:solidFill>
            </a:endParaRPr>
          </a:p>
          <a:p>
            <a:pPr marL="9144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9900FF"/>
                </a:solidFill>
              </a:rPr>
              <a:t>Списък от селектори: със запетая</a:t>
            </a:r>
            <a:endParaRPr sz="1200" b="1">
              <a:solidFill>
                <a:srgbClr val="9900FF"/>
              </a:solidFill>
            </a:endParaRPr>
          </a:p>
          <a:p>
            <a:pPr marL="9144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h1,h2,h3,div{...}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селектори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5CC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000" b="1">
                <a:solidFill>
                  <a:srgbClr val="FFFFFF"/>
                </a:solidFill>
              </a:rPr>
              <a:t>CSS</a:t>
            </a:r>
            <a:endParaRPr sz="30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000" b="1">
                <a:solidFill>
                  <a:srgbClr val="FFFFFF"/>
                </a:solidFill>
              </a:rPr>
              <a:t>Pseudo-classes</a:t>
            </a: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pseudo-classes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07100" cy="3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http://www.w3schools.com/cssref/css_selectors.asp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45720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A52A2A"/>
                </a:solidFill>
              </a:rPr>
              <a:t>selector:pseudo-class </a:t>
            </a:r>
            <a:r>
              <a:rPr lang="en" sz="1800">
                <a:solidFill>
                  <a:schemeClr val="dk1"/>
                </a:solidFill>
              </a:rPr>
              <a:t>{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				property</a:t>
            </a:r>
            <a:r>
              <a:rPr lang="en" sz="1800">
                <a:solidFill>
                  <a:schemeClr val="dk1"/>
                </a:solidFill>
              </a:rPr>
              <a:t>:</a:t>
            </a:r>
            <a:r>
              <a:rPr lang="en" sz="1800">
                <a:solidFill>
                  <a:srgbClr val="0000CD"/>
                </a:solidFill>
              </a:rPr>
              <a:t>value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 sz="1800">
              <a:solidFill>
                <a:schemeClr val="dk1"/>
              </a:solidFill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pseudo-classes - 2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29550" y="92925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100" b="1">
                <a:solidFill>
                  <a:srgbClr val="1155CC"/>
                </a:solidFill>
              </a:rPr>
              <a:t>Примери - </a:t>
            </a:r>
            <a:endParaRPr sz="1100"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A52A2A"/>
                </a:solidFill>
              </a:rPr>
              <a:t>1//	a:hover </a:t>
            </a:r>
            <a:r>
              <a:rPr lang="en" sz="1200">
                <a:solidFill>
                  <a:schemeClr val="dk1"/>
                </a:solidFill>
              </a:rPr>
              <a:t>{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0000"/>
                </a:solidFill>
              </a:rPr>
              <a:t>		color</a:t>
            </a:r>
            <a:r>
              <a:rPr lang="en" sz="1200">
                <a:solidFill>
                  <a:schemeClr val="dk1"/>
                </a:solidFill>
              </a:rPr>
              <a:t>:</a:t>
            </a:r>
            <a:r>
              <a:rPr lang="en" sz="1200">
                <a:solidFill>
                  <a:srgbClr val="0000CD"/>
                </a:solidFill>
              </a:rPr>
              <a:t> #fof</a:t>
            </a:r>
            <a:r>
              <a:rPr lang="en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A52A2A"/>
                </a:solidFill>
              </a:rPr>
              <a:t>2// 	p:first-child </a:t>
            </a:r>
            <a:r>
              <a:rPr lang="en" sz="1200">
                <a:solidFill>
                  <a:schemeClr val="dk1"/>
                </a:solidFill>
              </a:rPr>
              <a:t>{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0000"/>
                </a:solidFill>
              </a:rPr>
              <a:t>   	 	color</a:t>
            </a:r>
            <a:r>
              <a:rPr lang="en" sz="1200">
                <a:solidFill>
                  <a:schemeClr val="dk1"/>
                </a:solidFill>
              </a:rPr>
              <a:t>:</a:t>
            </a:r>
            <a:r>
              <a:rPr lang="en" sz="1200">
                <a:solidFill>
                  <a:srgbClr val="0000CD"/>
                </a:solidFill>
              </a:rPr>
              <a:t> blue</a:t>
            </a:r>
            <a:r>
              <a:rPr lang="en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</a:rPr>
              <a:t>3//	</a:t>
            </a:r>
            <a:r>
              <a:rPr lang="en" sz="1200">
                <a:solidFill>
                  <a:srgbClr val="A52A2A"/>
                </a:solidFill>
              </a:rPr>
              <a:t>p:first-of-type 	</a:t>
            </a:r>
            <a:r>
              <a:rPr lang="en" sz="1200">
                <a:solidFill>
                  <a:schemeClr val="dk1"/>
                </a:solidFill>
              </a:rPr>
              <a:t>{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0000"/>
                </a:solidFill>
              </a:rPr>
              <a:t>	    	background</a:t>
            </a:r>
            <a:r>
              <a:rPr lang="en" sz="1200">
                <a:solidFill>
                  <a:schemeClr val="dk1"/>
                </a:solidFill>
              </a:rPr>
              <a:t>:</a:t>
            </a:r>
            <a:r>
              <a:rPr lang="en" sz="1200">
                <a:solidFill>
                  <a:srgbClr val="0000CD"/>
                </a:solidFill>
              </a:rPr>
              <a:t> #f00</a:t>
            </a:r>
            <a:r>
              <a:rPr lang="en" sz="1200">
                <a:solidFill>
                  <a:schemeClr val="dk1"/>
                </a:solidFill>
              </a:rPr>
              <a:t>;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FF0000"/>
                </a:solidFill>
              </a:rPr>
              <a:t>	</a:t>
            </a:r>
            <a:r>
              <a:rPr lang="en" sz="120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52A2A"/>
                </a:solidFill>
              </a:rPr>
              <a:t>p:nth-child(2)	</a:t>
            </a:r>
            <a:r>
              <a:rPr lang="en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	    	background</a:t>
            </a:r>
            <a:r>
              <a:rPr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rgbClr val="0000CD"/>
                </a:solidFill>
              </a:rPr>
              <a:t> #f00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0000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52A2A"/>
                </a:solidFill>
              </a:rPr>
              <a:t>p:nth-of-type(2) 	</a:t>
            </a:r>
            <a:r>
              <a:rPr lang="en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	    	background</a:t>
            </a:r>
            <a:r>
              <a:rPr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rgbClr val="0000CD"/>
                </a:solidFill>
              </a:rPr>
              <a:t> #f00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0000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52A2A"/>
                </a:solidFill>
              </a:rPr>
              <a:t>p:last-child 	</a:t>
            </a:r>
            <a:r>
              <a:rPr lang="en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	    	background</a:t>
            </a:r>
            <a:r>
              <a:rPr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rgbClr val="0000CD"/>
                </a:solidFill>
              </a:rPr>
              <a:t> #f00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0000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52A2A"/>
                </a:solidFill>
              </a:rPr>
              <a:t>p:last-of-type 	</a:t>
            </a:r>
            <a:r>
              <a:rPr lang="en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	    	background</a:t>
            </a:r>
            <a:r>
              <a:rPr lang="en">
                <a:solidFill>
                  <a:schemeClr val="dk1"/>
                </a:solidFill>
              </a:rPr>
              <a:t>:</a:t>
            </a:r>
            <a:r>
              <a:rPr lang="en">
                <a:solidFill>
                  <a:srgbClr val="0000CD"/>
                </a:solidFill>
              </a:rPr>
              <a:t> #f00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0000"/>
                </a:solidFill>
              </a:rPr>
              <a:t>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 sz="1100">
                <a:solidFill>
                  <a:schemeClr val="dk1"/>
                </a:solidFill>
              </a:rPr>
              <a:t>	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113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4800">
                <a:solidFill>
                  <a:srgbClr val="FFFFFF"/>
                </a:solidFill>
              </a:rPr>
              <a:t>Стилизиране </a:t>
            </a:r>
            <a:endParaRPr sz="4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4800">
                <a:solidFill>
                  <a:srgbClr val="FFFFFF"/>
                </a:solidFill>
              </a:rPr>
              <a:t>на текст</a:t>
            </a:r>
            <a:endParaRPr sz="48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4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0" descr="text-coding-cs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7175" y="1133263"/>
            <a:ext cx="36195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http://www.w3schools.com/css/css_text.asp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h1 {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color: #ccc;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text-align: center;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r>
              <a:rPr lang="en">
                <a:solidFill>
                  <a:srgbClr val="FF0000"/>
                </a:solidFill>
              </a:rPr>
              <a:t>text-transform: uppercase; </a:t>
            </a:r>
            <a:endParaRPr>
              <a:solidFill>
                <a:srgbClr val="FF0000"/>
              </a:solidFill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letter-spacing: 3px;</a:t>
            </a: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r>
              <a:rPr lang="en">
                <a:solidFill>
                  <a:srgbClr val="FF0000"/>
                </a:solidFill>
              </a:rPr>
              <a:t>line-height: 0.8;</a:t>
            </a:r>
            <a:endParaRPr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{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text-decoration: none;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 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body {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font-family: Arial, Helvetica;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font-size: 62.5%;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font-size: 62.5%; === font-size: 10px;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/за всички браузъри/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0" y="30300"/>
            <a:ext cx="90897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 - 62.5%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&lt;!DOCTYPE html&gt;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&lt;body&gt;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&lt;div class="wrapper"&gt;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…..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	&lt;/div&gt;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…..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Стилизране на текст - еm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2"/>
          </p:nvPr>
        </p:nvSpPr>
        <p:spPr>
          <a:xfrm>
            <a:off x="3830825" y="1152475"/>
            <a:ext cx="5001600" cy="3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body {</a:t>
            </a:r>
            <a:endParaRPr sz="18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font-family: Arial, Helvetica;</a:t>
            </a:r>
            <a:endParaRPr sz="18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font-size: 62.5%;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#wrapper {</a:t>
            </a:r>
            <a:endParaRPr sz="1800"/>
          </a:p>
          <a:p>
            <a:pPr marL="0" lvl="0" indent="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solidFill>
                  <a:schemeClr val="dk1"/>
                </a:solidFill>
              </a:rPr>
              <a:t>font-size: 1.2em;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}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solidFill>
                  <a:schemeClr val="dk1"/>
                </a:solidFill>
              </a:rPr>
              <a:t>font-size: 1.2em; === font-size: 12px;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 - em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4" descr="Без име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113" y="1184913"/>
            <a:ext cx="2657475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Големината на шрифта се изчислява спрямо шрифта на родителския елемент -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Ако той е 16px, а на наследника зададем големина на шрифта - 2еm, големината на шрифта на наследника става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2*16px = 32px!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sz="3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0" y="30300"/>
            <a:ext cx="88323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 - REM vs. 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/>
              <a:t>Когато използваме rem като единици за големина на шрифта - </a:t>
            </a:r>
            <a:endParaRPr sz="22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sz="2200"/>
              <a:t>големината на шрифтовете на елементите се изчислява спрямо root /най-горния елемент/ елемента - html.</a:t>
            </a:r>
            <a:endParaRPr sz="2200">
              <a:solidFill>
                <a:srgbClr val="FF0000"/>
              </a:solidFill>
            </a:endParaRPr>
          </a:p>
        </p:txBody>
      </p:sp>
      <p:pic>
        <p:nvPicPr>
          <p:cNvPr id="143" name="Google Shape;143;p25" descr="Untitl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850900"/>
            <a:ext cx="34290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294675" y="764400"/>
            <a:ext cx="8537700" cy="3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Google fonts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0" y="30300"/>
            <a:ext cx="83811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 - Google fonts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4294967295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sz="3000">
              <a:solidFill>
                <a:srgbClr val="FF0000"/>
              </a:solidFill>
            </a:endParaRPr>
          </a:p>
        </p:txBody>
      </p:sp>
      <p:pic>
        <p:nvPicPr>
          <p:cNvPr id="152" name="Google Shape;152;p26" descr="Без име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700" y="1193927"/>
            <a:ext cx="6805501" cy="169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 descr="Без име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475" y="3348793"/>
            <a:ext cx="9144000" cy="935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294675" y="764400"/>
            <a:ext cx="8537700" cy="44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Разглеждате и избирате от опциите на страницата…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0000"/>
                </a:solidFill>
              </a:rPr>
              <a:t>															</a:t>
            </a:r>
            <a:r>
              <a:rPr lang="en" sz="2400">
                <a:solidFill>
                  <a:srgbClr val="FF0000"/>
                </a:solidFill>
              </a:rPr>
              <a:t>ЗАДАЧИ-&gt;</a:t>
            </a:r>
            <a:endParaRPr sz="240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Стилизиране на текст - 6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7" descr="Без име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000" y="810400"/>
            <a:ext cx="7742050" cy="326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3200" marR="0" lvl="0" indent="7394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311700" y="113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rgbClr val="FFFFFF"/>
                </a:solidFill>
              </a:rPr>
              <a:t>CSS optimization</a:t>
            </a:r>
            <a:endParaRPr sz="36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4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8" descr="text-coding-cs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7175" y="1133263"/>
            <a:ext cx="36195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optimization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Как нашия CSS да работи по-бързо?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color: #fff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вместо color:white - за да не се налага CSS да “превежда” white в код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или color:#ffffff - по-малко знаци.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padding-left:12px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padding-right:12px</a:t>
            </a:r>
            <a:endParaRPr sz="120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вместо padding: 0 12px; - за да не се извършват излишни операции и задаване на ст-сти за top/bottom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Img-sprites вместо много картинки за фон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 optimization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Задаваме стиловите правила като се движим от общото към конкретното - т.е -</a:t>
            </a:r>
            <a:endParaRPr sz="14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Първо задаваме правилата, важащи за всичнки или за повечето елементир след това задаваме конкретните свойства за отделните елементи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Обединяваме правилата, важащи за един селектор.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400">
                <a:solidFill>
                  <a:schemeClr val="dk1"/>
                </a:solidFill>
              </a:rPr>
              <a:t>Разделяме файла на зони, като оставяме коментари, коя част от стиловия файл към кои елементи се отнася.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Float design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Позициониране чрез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7B0"/>
                </a:solidFill>
              </a:rPr>
              <a:t>display: inline</a:t>
            </a:r>
            <a:r>
              <a:rPr lang="en">
                <a:solidFill>
                  <a:schemeClr val="dk1"/>
                </a:solidFill>
              </a:rPr>
              <a:t> - div или други блокови елементи имат поведение на inline елементи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7B0"/>
                </a:solidFill>
              </a:rPr>
              <a:t>display: block</a:t>
            </a:r>
            <a:r>
              <a:rPr lang="en">
                <a:solidFill>
                  <a:schemeClr val="dk1"/>
                </a:solidFill>
              </a:rPr>
              <a:t> - span или други inline елементи имат поведение на block елементи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7B0"/>
                </a:solidFill>
              </a:rPr>
              <a:t>display: inline-block</a:t>
            </a:r>
            <a:r>
              <a:rPr lang="en">
                <a:solidFill>
                  <a:schemeClr val="dk1"/>
                </a:solidFill>
              </a:rPr>
              <a:t> - комбинирано поведение на inline и block елементи - елементите се подреждат като &lt;span&gt;, но вътре са с поведение на &lt;div&gt;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7B0"/>
                </a:solidFill>
              </a:rPr>
              <a:t>display: none</a:t>
            </a:r>
            <a:r>
              <a:rPr lang="en">
                <a:solidFill>
                  <a:schemeClr val="dk1"/>
                </a:solidFill>
              </a:rPr>
              <a:t> - елемента не се визуализира </a:t>
            </a:r>
            <a:r>
              <a:rPr lang="en" b="1">
                <a:solidFill>
                  <a:srgbClr val="9C27B0"/>
                </a:solidFill>
              </a:rPr>
              <a:t>/падащи менюта!/</a:t>
            </a:r>
            <a:endParaRPr b="1">
              <a:solidFill>
                <a:srgbClr val="9C27B0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display: 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CSS позициониране изкарва елемента от стандартната подредба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float приема стойности left и right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9900FF"/>
                </a:solidFill>
              </a:rPr>
              <a:t>!!! </a:t>
            </a:r>
            <a:r>
              <a:rPr lang="en">
                <a:solidFill>
                  <a:schemeClr val="dk1"/>
                </a:solidFill>
              </a:rPr>
              <a:t>Когато елементите са float-позиционирани, може да фиксирате ширината им, но височината се определя от тяхното съдържание.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Когато височината се определя от съдържанието, background може да не бъде приложен правилно, елемента може да излезе извън рамките на родителския елемент. Използваме </a:t>
            </a:r>
            <a:r>
              <a:rPr lang="en" b="1">
                <a:solidFill>
                  <a:srgbClr val="9900FF"/>
                </a:solidFill>
              </a:rPr>
              <a:t>clear.</a:t>
            </a:r>
            <a:endParaRPr b="1">
              <a:solidFill>
                <a:srgbClr val="9900FF"/>
              </a:solidFill>
            </a:endParaRPr>
          </a:p>
        </p:txBody>
      </p:sp>
      <p:sp>
        <p:nvSpPr>
          <p:cNvPr id="200" name="Google Shape;200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Float design - 1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clear • clear контролира поведението на float елементите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стойности: left / right / both / none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#footer{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clear: both;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Float позициониране -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https://csstricks.com/all</a:t>
            </a:r>
            <a:r>
              <a:rPr lang="en">
                <a:solidFill>
                  <a:schemeClr val="dk1"/>
                </a:solidFill>
              </a:rPr>
              <a:t> - about -floats/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Float позициониране с много примери -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ttp://alistapart.com/article/css-floats-101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Float design - 2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56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Проблем с преливащо съдържание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Преливане по височина и по ширина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 начина за оправяне: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1//	</a:t>
            </a:r>
            <a:r>
              <a:rPr lang="en" b="1">
                <a:solidFill>
                  <a:srgbClr val="9C27B0"/>
                </a:solidFill>
              </a:rPr>
              <a:t>							</a:t>
            </a:r>
            <a:endParaRPr b="1">
              <a:solidFill>
                <a:srgbClr val="9C27B0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#id1{</a:t>
            </a:r>
            <a:endParaRPr sz="1800" b="1">
              <a:solidFill>
                <a:srgbClr val="9C27B0"/>
              </a:solidFill>
            </a:endParaRPr>
          </a:p>
          <a:p>
            <a:pPr marL="4572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overflow: auto;</a:t>
            </a:r>
            <a:endParaRPr sz="1800" b="1">
              <a:solidFill>
                <a:srgbClr val="9C27B0"/>
              </a:solidFill>
            </a:endParaRPr>
          </a:p>
          <a:p>
            <a:pPr marL="45720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}</a:t>
            </a:r>
            <a:endParaRPr sz="1800" b="1">
              <a:solidFill>
                <a:srgbClr val="9C27B0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rgbClr val="674EA7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Float design - 3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2"/>
          </p:nvPr>
        </p:nvSpPr>
        <p:spPr>
          <a:xfrm>
            <a:off x="5072075" y="1152475"/>
            <a:ext cx="3760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674EA7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 b="1">
                <a:solidFill>
                  <a:srgbClr val="9C27B0"/>
                </a:solidFill>
              </a:rPr>
              <a:t>2// на родителския елемент</a:t>
            </a:r>
            <a:endParaRPr sz="1800" b="1">
              <a:solidFill>
                <a:srgbClr val="9C27B0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 b="1">
                <a:solidFill>
                  <a:srgbClr val="9C27B0"/>
                </a:solidFill>
              </a:rPr>
              <a:t>#id1:after{</a:t>
            </a:r>
            <a:endParaRPr sz="1800" b="1">
              <a:solidFill>
                <a:srgbClr val="9C27B0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content: “”;</a:t>
            </a:r>
            <a:endParaRPr sz="1800" b="1">
              <a:solidFill>
                <a:srgbClr val="9C27B0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display: block;</a:t>
            </a:r>
            <a:endParaRPr sz="1800" b="1">
              <a:solidFill>
                <a:srgbClr val="9C27B0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 b="1">
                <a:solidFill>
                  <a:srgbClr val="9C27B0"/>
                </a:solidFill>
              </a:rPr>
              <a:t>clear: both;</a:t>
            </a:r>
            <a:endParaRPr sz="1800" b="1">
              <a:solidFill>
                <a:srgbClr val="9C27B0"/>
              </a:solidFill>
            </a:endParaRPr>
          </a:p>
          <a:p>
            <a:pPr marL="0" lvl="0" indent="4572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9C27B0"/>
                </a:solidFill>
              </a:rPr>
              <a:t>}</a:t>
            </a:r>
            <a:endParaRPr sz="1800" b="1">
              <a:solidFill>
                <a:srgbClr val="9C27B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Float design - 4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 txBox="1">
            <a:spLocks noGrp="1"/>
          </p:cNvSpPr>
          <p:nvPr>
            <p:ph type="body" idx="2"/>
          </p:nvPr>
        </p:nvSpPr>
        <p:spPr>
          <a:xfrm>
            <a:off x="366525" y="1172875"/>
            <a:ext cx="8465700" cy="3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::after се слага на родителския елемент, за да се изчисти преливането от float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9C27B0"/>
                </a:solidFill>
              </a:rPr>
              <a:t>Задачи - </a:t>
            </a:r>
            <a:endParaRPr b="1">
              <a:solidFill>
                <a:srgbClr val="9C27B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" b="1">
                <a:solidFill>
                  <a:srgbClr val="9C27B0"/>
                </a:solidFill>
              </a:rPr>
              <a:t>позиционирайте менюто и другите елементи в първата и втората част от psd файла.</a:t>
            </a:r>
            <a:endParaRPr b="1">
              <a:solidFill>
                <a:srgbClr val="9C27B0"/>
              </a:solidFill>
            </a:endParaRPr>
          </a:p>
        </p:txBody>
      </p:sp>
      <p:pic>
        <p:nvPicPr>
          <p:cNvPr id="224" name="Google Shape;224;p36" descr="float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32724"/>
            <a:ext cx="9143999" cy="187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446075" y="977375"/>
            <a:ext cx="85206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rgbClr val="FFFFFF"/>
                </a:solidFill>
              </a:rPr>
              <a:t>Изображенията </a:t>
            </a: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rgbClr val="FFFFFF"/>
                </a:solidFill>
              </a:rPr>
              <a:t>като част от </a:t>
            </a: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600">
                <a:solidFill>
                  <a:srgbClr val="FFFFFF"/>
                </a:solidFill>
              </a:rPr>
              <a:t>съдържанието</a:t>
            </a:r>
            <a:endParaRPr sz="36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4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img - таг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8"/>
          <p:cNvSpPr txBox="1">
            <a:spLocks noGrp="1"/>
          </p:cNvSpPr>
          <p:nvPr>
            <p:ph type="body" idx="1"/>
          </p:nvPr>
        </p:nvSpPr>
        <p:spPr>
          <a:xfrm>
            <a:off x="311700" y="875100"/>
            <a:ext cx="8519700" cy="3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Задължителни атрибути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E91E63"/>
                </a:solidFill>
              </a:rPr>
              <a:t>src</a:t>
            </a:r>
            <a:r>
              <a:rPr lang="en">
                <a:solidFill>
                  <a:schemeClr val="dk1"/>
                </a:solidFill>
              </a:rPr>
              <a:t> = “” //пътят до изображението, обикновено в папка - img, imgs, images ...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E91E63"/>
                </a:solidFill>
              </a:rPr>
              <a:t>alt</a:t>
            </a:r>
            <a:r>
              <a:rPr lang="en">
                <a:solidFill>
                  <a:schemeClr val="dk1"/>
                </a:solidFill>
              </a:rPr>
              <a:t> = “”//в случай, че изображението не се зареди и за специализирани устройства...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E91E63"/>
                </a:solidFill>
              </a:rPr>
              <a:t>width</a:t>
            </a:r>
            <a:r>
              <a:rPr lang="en">
                <a:solidFill>
                  <a:schemeClr val="dk1"/>
                </a:solidFill>
              </a:rPr>
              <a:t> = “”//с цел браузъра да предвиди място за изображението при по-бавно зареждане на страницата, за да се избегне ефектът на поскачане на текста.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5CC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000" b="1">
                <a:solidFill>
                  <a:srgbClr val="FFFFFF"/>
                </a:solidFill>
              </a:rPr>
              <a:t>Изображенията</a:t>
            </a:r>
            <a:endParaRPr sz="30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000" b="1">
                <a:solidFill>
                  <a:srgbClr val="FFFFFF"/>
                </a:solidFill>
              </a:rPr>
              <a:t>като</a:t>
            </a:r>
            <a:endParaRPr sz="30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3000" b="1">
                <a:solidFill>
                  <a:srgbClr val="FFFFFF"/>
                </a:solidFill>
              </a:rPr>
              <a:t>background</a:t>
            </a:r>
            <a:endParaRPr sz="30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Изображенията като background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07100" cy="3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Когато изображението не е част от съдържанието на страницата използваме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solidFill>
                  <a:srgbClr val="A52A2A"/>
                </a:solidFill>
              </a:rPr>
              <a:t>css-selector	</a:t>
            </a:r>
            <a:r>
              <a:rPr lang="en" sz="1800">
                <a:solidFill>
                  <a:schemeClr val="dk1"/>
                </a:solidFill>
              </a:rPr>
              <a:t>{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	    	background</a:t>
            </a:r>
            <a:r>
              <a:rPr lang="en" sz="1800">
                <a:solidFill>
                  <a:schemeClr val="dk1"/>
                </a:solidFill>
              </a:rPr>
              <a:t>:</a:t>
            </a:r>
            <a:r>
              <a:rPr lang="en" sz="1800">
                <a:solidFill>
                  <a:srgbClr val="0000CD"/>
                </a:solidFill>
              </a:rPr>
              <a:t> #00ff00 url("smiley.gif") no-repeat fixed center</a:t>
            </a:r>
            <a:r>
              <a:rPr lang="en" sz="1800">
                <a:solidFill>
                  <a:schemeClr val="dk1"/>
                </a:solidFill>
              </a:rPr>
              <a:t>;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solidFill>
                  <a:srgbClr val="FF0000"/>
                </a:solidFill>
              </a:rPr>
              <a:t>	</a:t>
            </a:r>
            <a:r>
              <a:rPr lang="en" sz="1800">
                <a:solidFill>
                  <a:schemeClr val="dk1"/>
                </a:solidFill>
              </a:rPr>
              <a:t>}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365760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Което е съкратения запис на -&gt;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0" y="30300"/>
            <a:ext cx="78924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Изображенията като background - 2</a:t>
            </a: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уеб-разработчици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07100" cy="3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155CC"/>
                </a:solidFill>
              </a:rPr>
              <a:t>b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3"/>
              </a:rPr>
              <a:t>ackground-color {</a:t>
            </a:r>
            <a:r>
              <a:rPr lang="en" b="1">
                <a:solidFill>
                  <a:srgbClr val="1155CC"/>
                </a:solidFill>
              </a:rPr>
              <a:t>….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3"/>
              </a:rPr>
              <a:t>}</a:t>
            </a:r>
            <a:endParaRPr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155CC"/>
                </a:solidFill>
              </a:rPr>
              <a:t>b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4"/>
              </a:rPr>
              <a:t>ackground-image</a:t>
            </a:r>
            <a:r>
              <a:rPr lang="en" b="1">
                <a:solidFill>
                  <a:srgbClr val="1155CC"/>
                </a:solidFill>
              </a:rPr>
              <a:t>{...}</a:t>
            </a:r>
            <a:endParaRPr b="1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155CC"/>
                </a:solidFill>
              </a:rPr>
              <a:t>b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5"/>
              </a:rPr>
              <a:t>ackground-position {...}</a:t>
            </a:r>
            <a:endParaRPr b="1">
              <a:solidFill>
                <a:schemeClr val="hlink"/>
              </a:solidFill>
              <a:uFill>
                <a:noFill/>
              </a:uFill>
              <a:hlinkClick r:id="rId5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155CC"/>
                </a:solidFill>
              </a:rPr>
              <a:t>b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6"/>
              </a:rPr>
              <a:t>ackground-size {...}</a:t>
            </a:r>
            <a:endParaRPr b="1">
              <a:solidFill>
                <a:schemeClr val="hlink"/>
              </a:solidFill>
              <a:uFill>
                <a:noFill/>
              </a:uFill>
              <a:hlinkClick r:id="rId6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1155CC"/>
                </a:solidFill>
              </a:rPr>
              <a:t>b</a:t>
            </a:r>
            <a:r>
              <a:rPr lang="en" b="1">
                <a:solidFill>
                  <a:schemeClr val="hlink"/>
                </a:solidFill>
                <a:uFill>
                  <a:noFill/>
                </a:uFill>
                <a:hlinkClick r:id="rId7"/>
              </a:rPr>
              <a:t>ackground-repeat {...}</a:t>
            </a:r>
            <a:endParaRPr b="1">
              <a:solidFill>
                <a:schemeClr val="hlink"/>
              </a:solidFill>
              <a:uFill>
                <a:noFill/>
              </a:uFill>
              <a:hlinkClick r:id="rId7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sprites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Обединяват няколко картинки в един файл.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Намаляват броя на HTTP заявките - ускорява зареждането на страницата.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Достъпваме всяка картинка от спрайта чрез нейната координатите и нейната височина и ширина.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Генериране на спрайт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http://css.spritegen.com/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Координати и размери на картинка в спрайт 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http://www.spritecow.com/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4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sprites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Презентация на цял екран (16:9)</PresentationFormat>
  <Paragraphs>271</Paragraphs>
  <Slides>31</Slides>
  <Notes>31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31</vt:i4>
      </vt:variant>
    </vt:vector>
  </HeadingPairs>
  <TitlesOfParts>
    <vt:vector size="35" baseType="lpstr">
      <vt:lpstr>Arial</vt:lpstr>
      <vt:lpstr>Syncopate</vt:lpstr>
      <vt:lpstr>Calibri</vt:lpstr>
      <vt:lpstr>simple-light-2</vt:lpstr>
      <vt:lpstr>web разработка</vt:lpstr>
      <vt:lpstr>Презентация на PowerPoint</vt:lpstr>
      <vt:lpstr>CSS селектори</vt:lpstr>
      <vt:lpstr>Презентация на PowerPoint</vt:lpstr>
      <vt:lpstr>CSS Pseudo-classes</vt:lpstr>
      <vt:lpstr>Презентация на PowerPoint</vt:lpstr>
      <vt:lpstr>Презентация на PowerPoint</vt:lpstr>
      <vt:lpstr>Стилизиране  на текст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CSS optimization </vt:lpstr>
      <vt:lpstr>Презентация на PowerPoint</vt:lpstr>
      <vt:lpstr>Презентация на PowerPoint</vt:lpstr>
      <vt:lpstr>Float design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Изображенията  като част от  съдържанието </vt:lpstr>
      <vt:lpstr>Презентация на PowerPoint</vt:lpstr>
      <vt:lpstr>Изображенията като background </vt:lpstr>
      <vt:lpstr>Презентация на PowerPoint</vt:lpstr>
      <vt:lpstr>Презентация на PowerPoint</vt:lpstr>
      <vt:lpstr>Image sprites 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2019-05-01T15:57:05Z</dcterms:modified>
</cp:coreProperties>
</file>