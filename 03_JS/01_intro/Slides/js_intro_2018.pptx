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5143500"/>
  <p:notesSz cx="6858000" cy="9144000"/>
  <p:embeddedFontLst>
    <p:embeddedFont>
      <p:font typeface="Syncopate" panose="02000505000000020003"/>
      <p:regular r:id="rId48"/>
    </p:embeddedFont>
    <p:embeddedFont>
      <p:font typeface="Calibri" panose="020F0502020204030204"/>
      <p:regular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font" Target="fonts/font2.fntdata"/><Relationship Id="rId48" Type="http://schemas.openxmlformats.org/officeDocument/2006/relationships/font" Target="fonts/font1.fntdata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9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0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3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title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7999" cy="755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197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197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.mozilla.org/en-US/docs/Web/JavaScrip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youtube.com/watch?v=z8eQ0UYDjO4" TargetMode="External"/><Relationship Id="rId1" Type="http://schemas.openxmlformats.org/officeDocument/2006/relationships/hyperlink" Target="https://www.youtube.com/watch?v=aAOTKWdWLEA" TargetMode="Externa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3.xml"/><Relationship Id="rId5" Type="http://schemas.openxmlformats.org/officeDocument/2006/relationships/hyperlink" Target="https://jsperf.com/" TargetMode="External"/><Relationship Id="rId4" Type="http://schemas.openxmlformats.org/officeDocument/2006/relationships/hyperlink" Target="http://jsfiddle.com/" TargetMode="External"/><Relationship Id="rId3" Type="http://schemas.openxmlformats.org/officeDocument/2006/relationships/hyperlink" Target="http://liveweave.com/" TargetMode="External"/><Relationship Id="rId2" Type="http://schemas.openxmlformats.org/officeDocument/2006/relationships/hyperlink" Target="http://jsbin.com/?html,output" TargetMode="External"/><Relationship Id="rId1" Type="http://schemas.openxmlformats.org/officeDocument/2006/relationships/hyperlink" Target="http://eslint.or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ecma-international.org/ecma-262/6.0/index.html%2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eveloper.mozilla.org/en-US/docs/Web/JavaScript/Reference/Statements/swit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300" cy="22926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yncopate" panose="02000505000000020003"/>
              <a:buNone/>
            </a:pPr>
            <a:r>
              <a:rPr lang="en-GB" sz="3600" b="1" i="0" u="none" strike="noStrike" cap="none">
                <a:solidFill>
                  <a:srgbClr val="8BC34A"/>
                </a:solidFill>
                <a:latin typeface="Syncopate" panose="02000505000000020003"/>
                <a:ea typeface="Syncopate" panose="02000505000000020003"/>
                <a:cs typeface="Syncopate" panose="02000505000000020003"/>
                <a:sym typeface="Syncopate" panose="02000505000000020003"/>
              </a:rPr>
              <a:t>web разработка</a:t>
            </a:r>
            <a:endParaRPr lang="en-GB" sz="3600" b="1" i="0" u="none" strike="noStrike" cap="none">
              <a:solidFill>
                <a:srgbClr val="8BC34A"/>
              </a:solidFill>
              <a:latin typeface="Syncopate" panose="02000505000000020003"/>
              <a:ea typeface="Syncopate" panose="02000505000000020003"/>
              <a:cs typeface="Syncopate" panose="02000505000000020003"/>
              <a:sym typeface="Syncopate" panose="02000505000000020003"/>
            </a:endParaRPr>
          </a:p>
        </p:txBody>
      </p:sp>
      <p:sp>
        <p:nvSpPr>
          <p:cNvPr id="56" name="Google Shape;56;p13"/>
          <p:cNvSpPr txBox="1"/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</a:t>
            </a:r>
            <a:endParaRPr lang="en-GB"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въведение</a:t>
            </a: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81360" y="497375"/>
            <a:ext cx="2981276" cy="124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5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МИЛЕНА ТОМОВА - НПО ВРАЦА СОФТУЕР ОБЩЕСТВО - КУРС WEB РАЗРАБОТКА- 11.201</a:t>
            </a:r>
            <a:r>
              <a:rPr lang="en-US" altLang="en-GB" sz="1400" b="1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r>
            <a:r>
              <a:rPr lang="en-GB" sz="1400" b="1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ВЕРСИЯ </a:t>
            </a:r>
            <a:r>
              <a:rPr lang="en-US" altLang="en-GB" sz="1400" b="1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lang="en-US" altLang="en-GB" sz="1400" b="1" i="0" u="none" strike="noStrike" cap="none">
              <a:solidFill>
                <a:srgbClr val="CCCC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64;p14"/>
          <p:cNvSpPr txBox="1"/>
          <p:nvPr>
            <p:ph type="body" idx="1"/>
          </p:nvPr>
        </p:nvSpPr>
        <p:spPr>
          <a:xfrm>
            <a:off x="311700" y="1131590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Ресурси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Проекти ниво JavaScript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JavaScript!?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Инструменти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Какво /не/може JS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JS във времето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Добавяне на JS към HTML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</a:t>
            </a: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променливи, NaN, undefined, Null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Hoisting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➢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Условни конструкции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Съдържание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GB" sz="4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Ресурси</a:t>
            </a:r>
            <a:endParaRPr lang="en-GB" sz="4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48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1" name="Google Shape;71;p15" descr="c2afc7bb020efc911dd66776b515a3fb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08275" y="565050"/>
            <a:ext cx="28575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Ресурси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16"/>
          <p:cNvSpPr txBox="1"/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r>
              <a:rPr lang="en-GB" sz="18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MDN</a:t>
            </a:r>
            <a:endParaRPr lang="en-GB" sz="1800" b="0" i="0" u="sng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Murach’s JavaScript, 2nd Edition (Training &amp; Reference) - 2015  </a:t>
            </a:r>
            <a:endParaRPr lang="en-GB"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Телерик, JavaScript курсове, BgCoder</a:t>
            </a:r>
            <a:endParaRPr lang="en-GB"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Софтуни, JavaScript, Judge</a:t>
            </a:r>
            <a:endParaRPr lang="en-GB"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5CC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995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Проекти</a:t>
            </a:r>
            <a:endParaRPr lang="en-GB" sz="36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4" name="Google Shape;84;p17" descr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33650" y="1197130"/>
            <a:ext cx="3543724" cy="256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Проекти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 panose="020F0502020204030204"/>
              <a:buNone/>
            </a:pPr>
            <a:r>
              <a:rPr lang="en-GB"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уеб-разработчици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18"/>
          <p:cNvSpPr txBox="1"/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Самостоятелна задача.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Решена с JavaScript.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Трябва да дава правилен отговор с различни типове данни - разгледани са и са изчерпани всички възможни if … else условия.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Работа с GitHub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в процеса на работа по проекта.</a:t>
            </a: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D759">
            <a:alpha val="54901"/>
          </a:srgbClr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descr="javascript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1750" y="1038350"/>
            <a:ext cx="7354774" cy="28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8D70D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 panose="020F0502020204030204"/>
              <a:buNone/>
            </a:pPr>
            <a:r>
              <a:rPr lang="en-GB"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уеб-разработчици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20"/>
          <p:cNvSpPr txBox="1"/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is a scripting language that is run by the JavaScript engine of a web browser</a:t>
            </a:r>
            <a:r>
              <a:rPr lang="en-GB" sz="1800">
                <a:solidFill>
                  <a:srgbClr val="666666"/>
                </a:solidFill>
              </a:rPr>
              <a:t>.</a:t>
            </a:r>
            <a:endParaRPr lang="en-GB" sz="180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• Когато браузъра изпрати заявка към сървъра за HTML страница, съдържаща линк към JavaScript, и HTML кода и JavaScript се зареждат в браузъра. </a:t>
            </a:r>
            <a:endParaRPr lang="en-GB"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• Тъй като JavaScript се изпълнява в средата на </a:t>
            </a: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клиента</a:t>
            </a: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не на сървъра, кодът му не изисква “разходка” до сървъра о</a:t>
            </a:r>
            <a:r>
              <a:rPr lang="en-GB" sz="1800">
                <a:solidFill>
                  <a:srgbClr val="666666"/>
                </a:solidFill>
              </a:rPr>
              <a:t>братно</a:t>
            </a: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Приложението работи по-бързо.</a:t>
            </a:r>
            <a:endParaRPr lang="en-GB"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 panose="020F050202020403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Инструменти</a:t>
            </a:r>
            <a:endParaRPr lang="en-GB" sz="30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body" idx="1"/>
          </p:nvPr>
        </p:nvSpPr>
        <p:spPr>
          <a:xfrm>
            <a:off x="311700" y="1152475"/>
            <a:ext cx="8437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Може да използвате всяко IDE, или текстов редактор, с който работите.</a:t>
            </a:r>
            <a:endParaRPr lang="en-GB"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Browsers` console – Chrome</a:t>
            </a:r>
            <a:endParaRPr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Sublime</a:t>
            </a:r>
            <a:endParaRPr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u="sng">
                <a:solidFill>
                  <a:schemeClr val="hlink"/>
                </a:solidFill>
                <a:hlinkClick r:id="rId1"/>
              </a:rPr>
              <a:t>Sublime - plugins</a:t>
            </a:r>
            <a:endParaRPr sz="1800" b="1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1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2"/>
              </a:rPr>
              <a:t>Конфигуриране на  Sublime за работа с JS - плъгини и др. настройки</a:t>
            </a:r>
            <a:endParaRPr lang="en-GB" sz="1800" b="1" i="0" u="sng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endParaRPr lang="en-GB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инструменти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body" idx="1"/>
          </p:nvPr>
        </p:nvSpPr>
        <p:spPr>
          <a:xfrm>
            <a:off x="311700" y="1152475"/>
            <a:ext cx="8437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ESLint</a:t>
            </a: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– нструмент, който ще ви предпазва от грешки при писане на JS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Среди за разработка он-лайн –</a:t>
            </a:r>
            <a:endParaRPr lang="en-GB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GB" sz="12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2"/>
              </a:rPr>
              <a:t>jsbin.com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GB" sz="12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3"/>
              </a:rPr>
              <a:t>liveweave.com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GB" sz="12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4"/>
              </a:rPr>
              <a:t>jsfiddle.com</a:t>
            </a: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JS performance tester – </a:t>
            </a:r>
            <a:endParaRPr lang="en-GB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</a:t>
            </a:r>
            <a:r>
              <a:rPr lang="en-GB" sz="12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5"/>
              </a:rPr>
              <a:t>jsperf.com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инструменти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2121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GB" sz="2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Какво /не/може JS</a:t>
            </a:r>
            <a:endParaRPr lang="en-GB" sz="2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Управлява събития /events/.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Разчита и създава HTML елементи и модифицира DOM-дървото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Валидира данни, постъпващи с формата /само на ниво клиент, не е достатъчно за сигурността на уеб-приложението.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Достъпва/модифицира кукитата на браузъра.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Може да прихване типа на браузъра ви или ОС.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 panose="020B0604020202020204"/>
              <a:buChar char="◆"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Може да изпълнява асинхронни заявки (AJAX)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Най-често JS - 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При валидация на формите, слайдове,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промяна на цвят/картинки ...</a:t>
            </a:r>
            <a:endParaRPr lang="en-GB" sz="1400" b="1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1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Изключете скрипта на Google и вижте какво се случва ...</a:t>
            </a:r>
            <a:endParaRPr lang="en-GB"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Какво /не/може JS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5" name="Google Shape;135;p25" descr="images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54262" y="2152287"/>
            <a:ext cx="29432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07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JS във времето</a:t>
            </a:r>
            <a:endParaRPr lang="en-GB"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 panose="020F0502020204030204"/>
              <a:buNone/>
            </a:pPr>
            <a:endParaRPr sz="30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Версия ...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June 1997.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June 1998.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December 1999.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 Изоставена, не е публикувана никога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 December 2009.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5.1 June 2011.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 средата 2015. 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 в процес на разработка ...</a:t>
            </a:r>
            <a:endParaRPr lang="en-GB" sz="2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 panose="020B0604020202020204"/>
              <a:buNone/>
            </a:pPr>
            <a:endParaRPr sz="24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</a:t>
            </a: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JS във времето</a:t>
            </a: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body" idx="1"/>
          </p:nvPr>
        </p:nvSpPr>
        <p:spPr>
          <a:xfrm>
            <a:off x="311700" y="923875"/>
            <a:ext cx="8520600" cy="38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1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Все още не се поддъръжа изцяло във всички стари браузъри.</a:t>
            </a:r>
            <a:endParaRPr lang="en-GB"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1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ECMAScript 6 спесификация </a:t>
            </a:r>
            <a:endParaRPr lang="en-GB" sz="1800" b="0" i="1" u="sng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i="1">
                <a:solidFill>
                  <a:schemeClr val="dk1"/>
                </a:solidFill>
              </a:rPr>
              <a:t>V</a:t>
            </a:r>
            <a:r>
              <a:rPr lang="en-GB" sz="18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anilla JavaScript vs. JavaScript </a:t>
            </a:r>
            <a:r>
              <a:rPr lang="en-GB" i="1">
                <a:solidFill>
                  <a:schemeClr val="dk1"/>
                </a:solidFill>
              </a:rPr>
              <a:t>библиотеки ...</a:t>
            </a:r>
            <a:endParaRPr lang="en-GB" i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57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0" y="92875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 panose="020B0604020202020204"/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ECMAScript 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5F06"/>
        </a:solid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Добавяне на JS към HTML</a:t>
            </a:r>
            <a:endParaRPr lang="en-GB" sz="30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Време е за първия ни JS код:))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……...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&lt;body&gt;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&lt;script type="text/javascript"&gt;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alert('Hello JavaScript!');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&lt;/script&gt;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&lt;/body&gt;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…….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30"/>
          <p:cNvSpPr txBox="1"/>
          <p:nvPr/>
        </p:nvSpPr>
        <p:spPr>
          <a:xfrm>
            <a:off x="0" y="0"/>
            <a:ext cx="9072600" cy="684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Добавяне на JS към HTML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Като скрипт в head</a:t>
            </a:r>
            <a:endParaRPr lang="en-GB"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&lt;script type="text/javascript"&gt;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//js script goes here;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&lt;/script&gt;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Като външен/ни файл/фалове в head</a:t>
            </a:r>
            <a:endParaRPr lang="en-GB"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&lt;script src="path/to/your/js/file/here" type="text/javascript"&gt;&lt;/script&gt;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Като скрипт/ове в body</a:t>
            </a:r>
            <a:endParaRPr lang="en-GB"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&lt;script type="text/javascript"&gt;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//js script goes here;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&lt;/script&gt;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Като външен/ни файл/фалове преди затварящия body таг.</a:t>
            </a:r>
            <a:endParaRPr lang="en-GB"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B45F0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&lt;script src="path/to/your/js/file/here" type="text/javascript"&gt;&lt;/script&gt;</a:t>
            </a:r>
            <a:endParaRPr lang="en-GB"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b="1" i="0" u="none" strike="noStrike" cap="none">
              <a:solidFill>
                <a:srgbClr val="B45F0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0" y="0"/>
            <a:ext cx="9072600" cy="684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Добавяне на JS към HTML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6E2F">
            <a:alpha val="91764"/>
          </a:srgbClr>
        </a:solidFill>
        <a:effectLst/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207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</a:t>
            </a:r>
            <a:endParaRPr lang="en-GB" sz="3000" b="1" i="0" u="none" strike="noStrike" cap="none">
              <a:solidFill>
                <a:srgbClr val="F3F3F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Основни правила …</a:t>
            </a:r>
            <a:endParaRPr lang="en-GB"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Case-sensitive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Всяка декларация завършва с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800" b="0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;</a:t>
            </a:r>
            <a:endParaRPr lang="en-GB" sz="1800" b="0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Игнорира whitespace/tab</a:t>
            </a:r>
            <a:endParaRPr lang="en-GB"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За прегледност на кода - може да бъде пренасян, </a:t>
            </a:r>
            <a:endParaRPr lang="en-GB"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при определени условия. /JS ще се опита да добави ; ако прецени, че липсват☺/</a:t>
            </a: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6666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8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5" name="Google Shape;185;p33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Основни правила - имената на променливите </a:t>
            </a:r>
            <a:endParaRPr lang="en-GB" sz="14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Съдържат букви, цифри, _, $ /не го бъркайте с $ в PHP/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Не могат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да започват с цифра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case-sensitive.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Няма ограничение за броя на символите,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но все пак </a:t>
            </a:r>
            <a:r>
              <a:rPr lang="en-GB" sz="14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НЕ - theManOfTheGameThatPlayedTheDayBeforeYesterday !:))</a:t>
            </a:r>
            <a:endParaRPr lang="en-GB" sz="14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Не може да използвате запазените думи в JS /Виж Murach`s JS за списък на запазените думи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Добра практика - придържайте се в кода си или само към </a:t>
            </a: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camel casing (taxRate)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или </a:t>
            </a: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underscores (tax_rate)</a:t>
            </a:r>
            <a:endParaRPr lang="en-GB" sz="14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Ако използвате underscore, използвайте само малки букви.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1" name="Google Shape;191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2" name="Google Shape;192;p34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 - 2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Основни правила - коментарии</a:t>
            </a:r>
            <a:endParaRPr lang="en-GB"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/*</a:t>
            </a:r>
            <a:r>
              <a:rPr lang="en-GB" sz="1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Block 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comments</a:t>
            </a:r>
            <a:r>
              <a:rPr lang="en-GB" sz="1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*/</a:t>
            </a:r>
            <a:endParaRPr lang="en-GB"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Single-line comments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Single-line comments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Single-line comments 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6666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8" name="Google Shape;198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9" name="Google Shape;199;p35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 - 3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в JS - съвкупност от методи и свойства/property.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Методът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изпълнява функция/действи</a:t>
            </a:r>
            <a:r>
              <a:rPr lang="en-GB">
                <a:solidFill>
                  <a:srgbClr val="434343"/>
                </a:solidFill>
              </a:rPr>
              <a:t>я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Свойства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данни, свързани с обекта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Основни правила - извикване на методи на обекти</a:t>
            </a:r>
            <a:endParaRPr lang="en-GB" sz="14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objectName</a:t>
            </a: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methodName()</a:t>
            </a:r>
            <a:endParaRPr lang="en-GB" sz="14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</a:t>
            </a:r>
            <a:r>
              <a:rPr lang="en-GB" sz="14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Window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глобален обект за  JavaScript, и JavaScript ви позволява да изпускате името му и точката като оператор за извикване на негов метод/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window. alert( "This is a test of the alert method " ) ;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Можем да извикаме prompt() като изпуснем името на обекта.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userEntry = prompt("This is a test of the prompt method ", 100);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</a:t>
            </a:r>
            <a:endParaRPr lang="en-GB" sz="14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 - 4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body" idx="1"/>
          </p:nvPr>
        </p:nvSpPr>
        <p:spPr>
          <a:xfrm>
            <a:off x="311700" y="11211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Основни правила - свойство на обект</a:t>
            </a:r>
            <a:endParaRPr lang="en-GB"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objectName.propertyName </a:t>
            </a:r>
            <a:endParaRPr lang="en-GB"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Декларация, с която отпечатваме location свойството на window обекта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alert(window.location); //</a:t>
            </a: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отпечатва URL на текущата страница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3" name="Google Shape;213;p37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 - 5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703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DC6E2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Document</a:t>
            </a:r>
            <a:r>
              <a:rPr lang="en-GB" sz="1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8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Обектът, който ни позволява да работим с т.нар.</a:t>
            </a:r>
            <a:r>
              <a:rPr lang="en-GB"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Document Object Model (D0M),</a:t>
            </a:r>
            <a:endParaRPr lang="en-GB" sz="18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който представлява </a:t>
            </a:r>
            <a:r>
              <a:rPr lang="en-GB" sz="1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всичките HTML елементи </a:t>
            </a: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на една уеб-страница.</a:t>
            </a:r>
            <a:endParaRPr lang="en-GB"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DC6E2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0" y="40200"/>
            <a:ext cx="9072600" cy="684000"/>
          </a:xfrm>
          <a:prstGeom prst="rect">
            <a:avLst/>
          </a:prstGeom>
          <a:solidFill>
            <a:srgbClr val="DC6E2F">
              <a:alpha val="91764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JavaScript синтаксис - 5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A7D6"/>
        </a:solidFill>
        <a:effectLst/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207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</a:t>
            </a:r>
            <a:endParaRPr sz="3000" b="1" i="0" u="none" strike="noStrike" cap="none">
              <a:solidFill>
                <a:srgbClr val="F3F3F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>
                <a:solidFill>
                  <a:srgbClr val="F3F3F3"/>
                </a:solidFill>
              </a:rPr>
              <a:t>Hoisting</a:t>
            </a:r>
            <a:endParaRPr sz="3000" b="1">
              <a:solidFill>
                <a:srgbClr val="F3F3F3"/>
              </a:solidFill>
            </a:endParaRPr>
          </a:p>
        </p:txBody>
      </p:sp>
      <p:pic>
        <p:nvPicPr>
          <p:cNvPr id="226" name="Google Shape;226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46450" y="264570"/>
            <a:ext cx="1864100" cy="203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55349" y="1834676"/>
            <a:ext cx="2455199" cy="26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00375" y="2644799"/>
            <a:ext cx="1550724" cy="16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88925" y="117172"/>
            <a:ext cx="730925" cy="7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23150" y="264570"/>
            <a:ext cx="1864100" cy="203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 descr="javascript_variable_value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35675" y="3521724"/>
            <a:ext cx="1444875" cy="157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Деклариране на променлива без да задаваме й стойност.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</a:t>
            </a:r>
            <a:r>
              <a:rPr lang="en-GB" sz="1400" b="0" i="0" u="none" strike="noStrike" cap="none">
                <a:solidFill>
                  <a:srgbClr val="8E7CC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subtotal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; // declares one variable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067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</a:t>
            </a:r>
            <a:r>
              <a:rPr lang="en-GB" sz="1400" b="0" i="0" u="none" strike="noStrike" cap="none">
                <a:solidFill>
                  <a:srgbClr val="8E7CC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investment, interestRate, years;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// declares three variables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Деклариране на променлива и задаване на стойност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subtotal </a:t>
            </a:r>
            <a:r>
              <a:rPr lang="en-GB" sz="1400" b="0" i="0" u="none" strike="noStrike" cap="none">
                <a:solidFill>
                  <a:srgbClr val="8E7CC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= 74.00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;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salesTax </a:t>
            </a:r>
            <a:r>
              <a:rPr lang="en-GB" sz="1400" b="0" i="0" u="none" strike="noStrike" cap="none">
                <a:solidFill>
                  <a:srgbClr val="8E7CC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= subtotal *.1;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//subtotal = 74.00, salesTax = 7.4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След декарирането на променливата, последващото й използване е без var!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Задаване на стойност с израз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subtotal = 74.95; //subtotal = 74.95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subtotal</a:t>
            </a:r>
            <a:r>
              <a:rPr lang="en-GB" sz="1400" b="0" i="0" u="none" strike="noStrike" cap="none">
                <a:solidFill>
                  <a:srgbClr val="8E7CC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+= 20.00;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// subtotal = 94.95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8" name="Google Shape;238;p40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</a:t>
            </a:r>
            <a:r>
              <a:rPr lang="en-GB" sz="3000" b="1">
                <a:solidFill>
                  <a:srgbClr val="F3F3F3"/>
                </a:solidFill>
              </a:rPr>
              <a:t>,ъ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1" u="none" strike="noStrike" cap="none">
                <a:solidFill>
                  <a:srgbClr val="703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Типове данни в JS</a:t>
            </a:r>
            <a:endParaRPr lang="en-GB" sz="1400" b="0" i="1" u="none" strike="noStrike" cap="none">
              <a:solidFill>
                <a:srgbClr val="703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Подобно на данните в РНР - не декларираме типа на данните, които ще съхранява променливата. Стойността, която даваме на променливата може да бъде /както и в РНР/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Цяло число - integer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Дробно число - float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String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Масив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Boolean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/>
              <a:buChar char="-"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Специфични за JS са undefined и NaN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Работим с математически оператори и оператори за сравнение, както и в РНР.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Употребата на скоби е аналогична на РНР.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Приоритетът на операторите, също.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Променяме стойността с 1 по три начина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counter = 1; // counter = 1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674EA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counter = counter + 1; 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counter now = 2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674EA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counter += 1; 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counter now = 3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674EA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counter ++; 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// counter now = 4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Внимавайте с изчисленията с floating-point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subtotal = 74.95; // subtotal = 74.95 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salesTax = subtotal * . 1; //</a:t>
            </a:r>
            <a:r>
              <a:rPr lang="en-GB" sz="14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salesTax = 7.495000000000001</a:t>
            </a:r>
            <a:endParaRPr lang="en-GB" sz="14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НО, </a:t>
            </a:r>
            <a:r>
              <a:rPr lang="en-GB" sz="1800" b="1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за разлика от РНР</a:t>
            </a:r>
            <a:endParaRPr lang="en-GB" sz="1800" b="1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Знака </a:t>
            </a: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</a:t>
            </a: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в изрази, ако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 panose="020B0604020202020204"/>
              <a:buChar char="-"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 двете стойности са числа - JS ще ги събере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 panose="020B0604020202020204"/>
              <a:buChar char="-"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 двете стойности са стрингове - JavaScript ще ги конкатенира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 panose="020B0604020202020204"/>
              <a:buChar char="-"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Едната е число, другата стринг - JavaScript конвертира числото към стринг и конкатенира</a:t>
            </a: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!!!!</a:t>
            </a:r>
            <a:endParaRPr lang="en-GB" sz="18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4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9" name="Google Shape;259;p43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Придаване на стойност на променлива с израз, съдържащ данни от смесен тип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months=120; 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message = "Months: "; 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message+ = months; // message is "Months: 120" 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Ескейпване на стринговете - както и в РНР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message = "A valid variable name cannot start with a number."; 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message = "This </a:t>
            </a: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isn\'t</a:t>
            </a: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right way to do this."; 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5" name="Google Shape;265;p4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Деклариране на променлива и придаване на Boolean стойност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isValid= false;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4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3000" b="1" i="0" u="none" strike="noStrike" cap="none">
                <a:solidFill>
                  <a:srgbClr val="F3F3F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674EA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parselnt() &amp; parseFloat() </a:t>
            </a:r>
            <a:endParaRPr lang="en-GB" sz="1800" b="1" i="0" u="none" strike="noStrike" cap="none">
              <a:solidFill>
                <a:srgbClr val="674EA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parseInt ( string) Конвертира подадения стринг към integer и връща получената стойност. Ако не може да я превърне в цяло число, връща </a:t>
            </a:r>
            <a:r>
              <a:rPr lang="en-GB" sz="14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NaN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parseFloat(string) Конвертира подадения стринг към float и връща получената стойност. Ако не може да я превърне в float, връща </a:t>
            </a:r>
            <a:r>
              <a:rPr lang="en-GB" sz="14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NaN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endParaRPr sz="1400" b="0" i="0" u="none" strike="noStrike" cap="none">
              <a:solidFill>
                <a:srgbClr val="351C7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/NaN e стойност, означаваща "Not a Number". /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4495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Има по-бързи начини да свършим това, което правят parseInt()and parseFloat() </a:t>
            </a: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4495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434343"/>
              </a:solidFill>
            </a:endParaRPr>
          </a:p>
          <a:p>
            <a:pPr marL="0" marR="0" lvl="0" indent="4495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434343"/>
                </a:solidFill>
              </a:rPr>
              <a:t>+variable</a:t>
            </a:r>
            <a:endParaRPr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p4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0" name="Google Shape;280;p46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NaN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Превръщане от дробно в цяло число –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PI = Math.PI //3,14…..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 = parseInt(PI)//3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Или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 = PI | 0</a:t>
            </a:r>
            <a:endParaRPr sz="1800" b="0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4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7" name="Google Shape;287;p47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NaN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Как да проверим типа на данните, които държи променливата - </a:t>
            </a:r>
            <a:r>
              <a:rPr lang="en-GB" sz="1400" b="1" i="0" u="none" strike="noStrike" cap="none">
                <a:solidFill>
                  <a:srgbClr val="351C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typeof()</a:t>
            </a:r>
            <a:endParaRPr lang="en-GB" sz="1400" b="1" i="0" u="none" strike="noStrike" cap="none">
              <a:solidFill>
                <a:srgbClr val="351C7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x = 5;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console.log(typeof(x)); // number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console.log(x); // 5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= new Number(5);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console.log(typeof(x)); // object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console.log(x); // Number {}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= null;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console.log(typeof(x)); // object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 = undefined;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console.log(typeof(x)); // undefined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674EA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48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typeof()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Локални променливи/Local variables декларираме с ключовата дума </a:t>
            </a:r>
            <a:r>
              <a:rPr lang="en-GB" sz="1400" b="1" i="0" u="none" strike="noStrike" cap="none">
                <a:solidFill>
                  <a:srgbClr val="351C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</a:t>
            </a:r>
            <a:endParaRPr lang="en-GB" sz="1400" b="1" i="0" u="none" strike="noStrike" cap="none">
              <a:solidFill>
                <a:srgbClr val="351C7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Глобални променливи / Global variables - декларираме </a:t>
            </a:r>
            <a:r>
              <a:rPr lang="en-GB" sz="1400" b="0" i="0" u="none" strike="noStrike" cap="none">
                <a:solidFill>
                  <a:srgbClr val="351C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без VAR</a:t>
            </a:r>
            <a:endParaRPr lang="en-GB" sz="1400" b="0" i="0" u="none" strike="noStrike" cap="none">
              <a:solidFill>
                <a:srgbClr val="351C7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Лоша практика - никога не го правете!</a:t>
            </a:r>
            <a:endParaRPr lang="en-GB" sz="14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50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var a = 5; // a is local in the current scope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= 'alabala'; // the same a is referenced here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 = undefined; /също недобра практика/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 = 5; // the same as window.</a:t>
            </a:r>
            <a:r>
              <a:rPr lang="en-GB">
                <a:solidFill>
                  <a:srgbClr val="434343"/>
                </a:solidFill>
              </a:rPr>
              <a:t>b</a:t>
            </a:r>
            <a:r>
              <a:rPr lang="en-GB" sz="14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5;</a:t>
            </a:r>
            <a:endParaRPr lang="en-GB"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 i="0" u="none" strike="noStrike" cap="none">
              <a:solidFill>
                <a:srgbClr val="674EA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0" name="Google Shape;300;p4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1" name="Google Shape;301;p49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Данни и променливи в JS - local/global variables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1B47"/>
        </a:solidFill>
        <a:effectLst/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311700" y="207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Hoisting</a:t>
            </a:r>
            <a:endParaRPr lang="en-GB"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86F"/>
        </a:solidFill>
        <a:effectLst/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311700" y="207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Условни конструкции</a:t>
            </a:r>
            <a:endParaRPr lang="en-GB"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body" idx="1"/>
          </p:nvPr>
        </p:nvSpPr>
        <p:spPr>
          <a:xfrm>
            <a:off x="311700" y="1152475"/>
            <a:ext cx="74679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 (condition) {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	 	Statements1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} else {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		Statements2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}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1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*Също както и в РНР може да влагаме if/else конструкциите</a:t>
            </a:r>
            <a:endParaRPr lang="en-GB" sz="1800" b="0" i="1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7" name="Google Shape;317;p5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8" name="Google Shape;318;p52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2E586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Условни конструкции - if/else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9" name="Google Shape;319;p52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 (x &gt; 5) {</a:t>
            </a: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 </a:t>
            </a:r>
            <a:r>
              <a:rPr lang="en-GB" sz="1800" b="0" i="0" u="none" strike="noStrike" cap="none">
                <a:solidFill>
                  <a:srgbClr val="CC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else if</a:t>
            </a: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(x &gt; 50) {</a:t>
            </a: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 else {</a:t>
            </a: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}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/>
          <p:nvPr>
            <p:ph type="body" idx="1"/>
          </p:nvPr>
        </p:nvSpPr>
        <p:spPr>
          <a:xfrm>
            <a:off x="311700" y="1152475"/>
            <a:ext cx="74679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sng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Switch в MDN</a:t>
            </a:r>
            <a:endParaRPr lang="en-GB" sz="1800" b="0" i="0" u="sng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49580" marR="0" lvl="0" indent="449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 sz="1800" b="0" i="0" u="none" strike="noStrike" cap="none">
                <a:solidFill>
                  <a:srgbClr val="4343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DEMO ...</a:t>
            </a:r>
            <a:endParaRPr lang="en-GB" sz="1800" b="0" i="0" u="none" strike="noStrike" cap="none">
              <a:solidFill>
                <a:srgbClr val="4343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5" name="Google Shape;325;p5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6" name="Google Shape;326;p53"/>
          <p:cNvSpPr txBox="1"/>
          <p:nvPr/>
        </p:nvSpPr>
        <p:spPr>
          <a:xfrm>
            <a:off x="35700" y="40200"/>
            <a:ext cx="9072600" cy="684000"/>
          </a:xfrm>
          <a:prstGeom prst="rect">
            <a:avLst/>
          </a:prstGeom>
          <a:solidFill>
            <a:srgbClr val="2E586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r>
              <a:rPr lang="en-GB" sz="2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Условни конструкции - switch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8434</Words>
  <Application>WPS Presentation</Application>
  <PresentationFormat/>
  <Paragraphs>452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Arial</vt:lpstr>
      <vt:lpstr>SimSun</vt:lpstr>
      <vt:lpstr>Wingdings</vt:lpstr>
      <vt:lpstr>Arial</vt:lpstr>
      <vt:lpstr>Syncopate</vt:lpstr>
      <vt:lpstr>Calibri</vt:lpstr>
      <vt:lpstr>Microsoft YaHei</vt:lpstr>
      <vt:lpstr/>
      <vt:lpstr>Arial Unicode MS</vt:lpstr>
      <vt:lpstr>simple-light-2</vt:lpstr>
      <vt:lpstr>web разработка</vt:lpstr>
      <vt:lpstr>PowerPoint 演示文稿</vt:lpstr>
      <vt:lpstr>Ресурси</vt:lpstr>
      <vt:lpstr>PowerPoint 演示文稿</vt:lpstr>
      <vt:lpstr>Проекти</vt:lpstr>
      <vt:lpstr>PowerPoint 演示文稿</vt:lpstr>
      <vt:lpstr>PowerPoint 演示文稿</vt:lpstr>
      <vt:lpstr>PowerPoint 演示文稿</vt:lpstr>
      <vt:lpstr>Инструменти</vt:lpstr>
      <vt:lpstr>PowerPoint 演示文稿</vt:lpstr>
      <vt:lpstr>PowerPoint 演示文稿</vt:lpstr>
      <vt:lpstr>Какво /не/може JS</vt:lpstr>
      <vt:lpstr>PowerPoint 演示文稿</vt:lpstr>
      <vt:lpstr>JS във времето</vt:lpstr>
      <vt:lpstr>PowerPoint 演示文稿</vt:lpstr>
      <vt:lpstr>PowerPoint 演示文稿</vt:lpstr>
      <vt:lpstr>Добавяне на JS към HTML</vt:lpstr>
      <vt:lpstr>PowerPoint 演示文稿</vt:lpstr>
      <vt:lpstr>PowerPoint 演示文稿</vt:lpstr>
      <vt:lpstr>JavaScript синтаксис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Hoisting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Hoisting</vt:lpstr>
      <vt:lpstr>Условни конструкции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/>
  <cp:lastModifiedBy>labo</cp:lastModifiedBy>
  <cp:revision>1</cp:revision>
  <dcterms:created xsi:type="dcterms:W3CDTF">2019-04-10T06:58:06Z</dcterms:created>
  <dcterms:modified xsi:type="dcterms:W3CDTF">2019-04-10T06:58:07Z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1033-10.2.0.7644</vt:lpwstr>
  </property>
</Properties>
</file>