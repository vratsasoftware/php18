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82" r:id="rId20"/>
    <p:sldId id="28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</p:sldIdLst>
  <p:sldSz cx="9144000" cy="5143500" type="screen16x9"/>
  <p:notesSz cx="6858000" cy="9144000"/>
  <p:embeddedFontLst>
    <p:embeddedFont>
      <p:font typeface="Syncopate" panose="020B0604020202020204" charset="0"/>
      <p:regular r:id="rId31"/>
      <p:bold r:id="rId32"/>
    </p:embeddedFont>
    <p:embeddedFont>
      <p:font typeface="Calibri" panose="020F0502020204030204" pitchFamily="34" charset="0"/>
      <p:regular r:id="rId33"/>
      <p:bold r:id="rId34"/>
      <p:italic r:id="rId35"/>
      <p:boldItalic r:id="rId3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16" d="100"/>
          <a:sy n="116" d="100"/>
        </p:scale>
        <p:origin x="-413" y="-5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3.fntdata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2.fntdata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6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6138985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2" name="Google Shape;52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2439d49592_0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" name="Google Shape;61;g2439d49592_0_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24dacc7b51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8" name="Google Shape;68;g24dacc7b51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2439d49592_0_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3" name="Google Shape;73;g2439d49592_0_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2439d49592_0_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9" name="Google Shape;79;g2439d49592_0_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2439d49592_0_1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7" name="Google Shape;87;g2439d49592_0_1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4dacc7b5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g24dacc7b5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24dacc7b51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g24dacc7b51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24dacc7b51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8" name="Google Shape;108;g24dacc7b51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24dacc7b51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3" name="Google Shape;113;g24dacc7b51_0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24dacc7b51_0_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0" name="Google Shape;120;g24dacc7b51_0_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24dacc7b51_0_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8" name="Google Shape;128;g24dacc7b51_0_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24dacc7b51_0_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7" name="Google Shape;137;g24dacc7b51_0_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24dacc7b51_0_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6" name="Google Shape;146;g24dacc7b51_0_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24dacc7b51_0_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5" name="Google Shape;155;g24dacc7b51_0_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24dacc7b51_0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0" name="Google Shape;160;g24dacc7b51_0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26a7cd001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9" name="Google Shape;169;g26a7cd001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60197ce2e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8" name="Google Shape;178;g60197ce2e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60197ce2e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8" name="Google Shape;178;g60197ce2e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60197ce2e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8" name="Google Shape;178;g60197ce2e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24dacc7b51_0_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7" name="Google Shape;187;g24dacc7b51_0_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24dacc7b51_0_1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2" name="Google Shape;192;g24dacc7b51_0_1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24dacc7b51_0_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1" name="Google Shape;201;g24dacc7b51_0_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4dacc7b51_0_1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9" name="Google Shape;209;g24dacc7b51_0_1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24dacc7b51_0_1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8" name="Google Shape;218;g24dacc7b51_0_1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60197ce2e8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3" name="Google Shape;223;g60197ce2e8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60197ce2e8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2" name="Google Shape;232;g60197ce2e8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60197ce2e8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0" name="Google Shape;240;g60197ce2e8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599" cy="2052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5200">
                <a:solidFill>
                  <a:schemeClr val="dk1"/>
                </a:solidFill>
              </a:defRPr>
            </a:lvl2pPr>
            <a:lvl3pPr lvl="2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5200">
                <a:solidFill>
                  <a:schemeClr val="dk1"/>
                </a:solidFill>
              </a:defRPr>
            </a:lvl3pPr>
            <a:lvl4pPr lvl="3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5200">
                <a:solidFill>
                  <a:schemeClr val="dk1"/>
                </a:solidFill>
              </a:defRPr>
            </a:lvl4pPr>
            <a:lvl5pPr lvl="4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5200">
                <a:solidFill>
                  <a:schemeClr val="dk1"/>
                </a:solidFill>
              </a:defRPr>
            </a:lvl5pPr>
            <a:lvl6pPr lvl="5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5200">
                <a:solidFill>
                  <a:schemeClr val="dk1"/>
                </a:solidFill>
              </a:defRPr>
            </a:lvl6pPr>
            <a:lvl7pPr lvl="6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5200">
                <a:solidFill>
                  <a:schemeClr val="dk1"/>
                </a:solidFill>
              </a:defRPr>
            </a:lvl7pPr>
            <a:lvl8pPr lvl="7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5200">
                <a:solidFill>
                  <a:schemeClr val="dk1"/>
                </a:solidFill>
              </a:defRPr>
            </a:lvl8pPr>
            <a:lvl9pPr lvl="8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5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599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37160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82880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28600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274320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20040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365760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599" cy="5726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599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800">
                <a:solidFill>
                  <a:schemeClr val="dk1"/>
                </a:solidFill>
              </a:defRPr>
            </a:lvl2pPr>
            <a:lvl3pPr lvl="2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800">
                <a:solidFill>
                  <a:schemeClr val="dk1"/>
                </a:solidFill>
              </a:defRPr>
            </a:lvl3pPr>
            <a:lvl4pPr lvl="3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800">
                <a:solidFill>
                  <a:schemeClr val="dk1"/>
                </a:solidFill>
              </a:defRPr>
            </a:lvl4pPr>
            <a:lvl5pPr lvl="4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800">
                <a:solidFill>
                  <a:schemeClr val="dk1"/>
                </a:solidFill>
              </a:defRPr>
            </a:lvl5pPr>
            <a:lvl6pPr lvl="5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800">
                <a:solidFill>
                  <a:schemeClr val="dk1"/>
                </a:solidFill>
              </a:defRPr>
            </a:lvl6pPr>
            <a:lvl7pPr lvl="6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800">
                <a:solidFill>
                  <a:schemeClr val="dk1"/>
                </a:solidFill>
              </a:defRPr>
            </a:lvl7pPr>
            <a:lvl8pPr lvl="7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800">
                <a:solidFill>
                  <a:schemeClr val="dk1"/>
                </a:solidFill>
              </a:defRPr>
            </a:lvl8pPr>
            <a:lvl9pPr lvl="8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" type="secHead">
  <p:cSld name="SECTION_HEADER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599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3600">
                <a:solidFill>
                  <a:schemeClr val="dk1"/>
                </a:solidFill>
              </a:defRPr>
            </a:lvl2pPr>
            <a:lvl3pPr lvl="2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3600">
                <a:solidFill>
                  <a:schemeClr val="dk1"/>
                </a:solidFill>
              </a:defRPr>
            </a:lvl3pPr>
            <a:lvl4pPr lvl="3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3600">
                <a:solidFill>
                  <a:schemeClr val="dk1"/>
                </a:solidFill>
              </a:defRPr>
            </a:lvl4pPr>
            <a:lvl5pPr lvl="4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3600">
                <a:solidFill>
                  <a:schemeClr val="dk1"/>
                </a:solidFill>
              </a:defRPr>
            </a:lvl5pPr>
            <a:lvl6pPr lvl="5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3600">
                <a:solidFill>
                  <a:schemeClr val="dk1"/>
                </a:solidFill>
              </a:defRPr>
            </a:lvl6pPr>
            <a:lvl7pPr lvl="6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3600">
                <a:solidFill>
                  <a:schemeClr val="dk1"/>
                </a:solidFill>
              </a:defRPr>
            </a:lvl7pPr>
            <a:lvl8pPr lvl="7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3600">
                <a:solidFill>
                  <a:schemeClr val="dk1"/>
                </a:solidFill>
              </a:defRPr>
            </a:lvl8pPr>
            <a:lvl9pPr lvl="8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36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599" cy="5726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899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899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599" cy="5726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8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7999" cy="7556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400">
                <a:solidFill>
                  <a:schemeClr val="dk1"/>
                </a:solidFill>
              </a:defRPr>
            </a:lvl2pPr>
            <a:lvl3pPr lvl="2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400">
                <a:solidFill>
                  <a:schemeClr val="dk1"/>
                </a:solidFill>
              </a:defRPr>
            </a:lvl3pPr>
            <a:lvl4pPr lvl="3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400">
                <a:solidFill>
                  <a:schemeClr val="dk1"/>
                </a:solidFill>
              </a:defRPr>
            </a:lvl4pPr>
            <a:lvl5pPr lvl="4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400">
                <a:solidFill>
                  <a:schemeClr val="dk1"/>
                </a:solidFill>
              </a:defRPr>
            </a:lvl5pPr>
            <a:lvl6pPr lvl="5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400">
                <a:solidFill>
                  <a:schemeClr val="dk1"/>
                </a:solidFill>
              </a:defRPr>
            </a:lvl6pPr>
            <a:lvl7pPr lvl="6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400">
                <a:solidFill>
                  <a:schemeClr val="dk1"/>
                </a:solidFill>
              </a:defRPr>
            </a:lvl7pPr>
            <a:lvl8pPr lvl="7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400">
                <a:solidFill>
                  <a:schemeClr val="dk1"/>
                </a:solidFill>
              </a:defRPr>
            </a:lvl8pPr>
            <a:lvl9pPr lvl="8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3" name="Google Shape;33;p8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7999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499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199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200">
                <a:solidFill>
                  <a:schemeClr val="dk1"/>
                </a:solidFill>
              </a:defRPr>
            </a:lvl2pPr>
            <a:lvl3pPr lvl="2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200">
                <a:solidFill>
                  <a:schemeClr val="dk1"/>
                </a:solidFill>
              </a:defRPr>
            </a:lvl3pPr>
            <a:lvl4pPr lvl="3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200">
                <a:solidFill>
                  <a:schemeClr val="dk1"/>
                </a:solidFill>
              </a:defRPr>
            </a:lvl4pPr>
            <a:lvl5pPr lvl="4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200">
                <a:solidFill>
                  <a:schemeClr val="dk1"/>
                </a:solidFill>
              </a:defRPr>
            </a:lvl5pPr>
            <a:lvl6pPr lvl="5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200">
                <a:solidFill>
                  <a:schemeClr val="dk1"/>
                </a:solidFill>
              </a:defRPr>
            </a:lvl6pPr>
            <a:lvl7pPr lvl="6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200">
                <a:solidFill>
                  <a:schemeClr val="dk1"/>
                </a:solidFill>
              </a:defRPr>
            </a:lvl7pPr>
            <a:lvl8pPr lvl="7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200">
                <a:solidFill>
                  <a:schemeClr val="dk1"/>
                </a:solidFill>
              </a:defRPr>
            </a:lvl8pPr>
            <a:lvl9pPr lvl="8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199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37160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82880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28600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274320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20040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365760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0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/>
          </p:nvPr>
        </p:nvSpPr>
        <p:spPr>
          <a:xfrm>
            <a:off x="311700" y="1106125"/>
            <a:ext cx="8520599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2000">
                <a:solidFill>
                  <a:schemeClr val="dk1"/>
                </a:solidFill>
              </a:defRPr>
            </a:lvl2pPr>
            <a:lvl3pPr lvl="2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2000">
                <a:solidFill>
                  <a:schemeClr val="dk1"/>
                </a:solidFill>
              </a:defRPr>
            </a:lvl3pPr>
            <a:lvl4pPr lvl="3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2000">
                <a:solidFill>
                  <a:schemeClr val="dk1"/>
                </a:solidFill>
              </a:defRPr>
            </a:lvl4pPr>
            <a:lvl5pPr lvl="4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2000">
                <a:solidFill>
                  <a:schemeClr val="dk1"/>
                </a:solidFill>
              </a:defRPr>
            </a:lvl5pPr>
            <a:lvl6pPr lvl="5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2000">
                <a:solidFill>
                  <a:schemeClr val="dk1"/>
                </a:solidFill>
              </a:defRPr>
            </a:lvl6pPr>
            <a:lvl7pPr lvl="6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2000">
                <a:solidFill>
                  <a:schemeClr val="dk1"/>
                </a:solidFill>
              </a:defRPr>
            </a:lvl7pPr>
            <a:lvl8pPr lvl="7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2000">
                <a:solidFill>
                  <a:schemeClr val="dk1"/>
                </a:solidFill>
              </a:defRPr>
            </a:lvl8pPr>
            <a:lvl9pPr lvl="8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2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599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ctr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599" cy="5726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599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hp.net/is_a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tech-tajawal/dependency-injection-di-container-in-php-a7e5d309ccc6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/>
          <p:nvPr/>
        </p:nvSpPr>
        <p:spPr>
          <a:xfrm>
            <a:off x="-24225" y="2850900"/>
            <a:ext cx="9168299" cy="2292599"/>
          </a:xfrm>
          <a:prstGeom prst="rect">
            <a:avLst/>
          </a:prstGeom>
          <a:solidFill>
            <a:srgbClr val="8BC34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1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599" cy="2052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Syncopate"/>
              <a:buNone/>
            </a:pPr>
            <a:r>
              <a:rPr lang="en" sz="3600" b="1" i="0" u="none" strike="noStrike" cap="none">
                <a:solidFill>
                  <a:srgbClr val="8BC34A"/>
                </a:solidFill>
                <a:latin typeface="Syncopate"/>
                <a:ea typeface="Syncopate"/>
                <a:cs typeface="Syncopate"/>
                <a:sym typeface="Syncopate"/>
              </a:rPr>
              <a:t>web разработка</a:t>
            </a:r>
            <a:endParaRPr/>
          </a:p>
        </p:txBody>
      </p:sp>
      <p:sp>
        <p:nvSpPr>
          <p:cNvPr id="56" name="Google Shape;56;p1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599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lang="en" sz="3600" b="1">
                <a:solidFill>
                  <a:schemeClr val="lt1"/>
                </a:solidFill>
              </a:rPr>
              <a:t>ООП </a:t>
            </a:r>
            <a:endParaRPr sz="3600" b="1">
              <a:solidFill>
                <a:srgbClr val="FFFFFF"/>
              </a:solidFill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lang="en" sz="3600" b="1">
                <a:solidFill>
                  <a:srgbClr val="FFFFFF"/>
                </a:solidFill>
              </a:rPr>
              <a:t>S.O.L.I.D.</a:t>
            </a:r>
            <a:endParaRPr sz="3600" b="1">
              <a:solidFill>
                <a:srgbClr val="FFFFFF"/>
              </a:solidFill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lang="en" sz="3600" b="1">
                <a:solidFill>
                  <a:srgbClr val="FFFFFF"/>
                </a:solidFill>
              </a:rPr>
              <a:t>принципи </a:t>
            </a:r>
            <a:endParaRPr sz="3600" b="1">
              <a:solidFill>
                <a:srgbClr val="FFFFFF"/>
              </a:solidFill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sz="36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7" name="Google Shape;57;p1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081362" y="497376"/>
            <a:ext cx="2981277" cy="1249626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13"/>
          <p:cNvSpPr txBox="1"/>
          <p:nvPr/>
        </p:nvSpPr>
        <p:spPr>
          <a:xfrm>
            <a:off x="-60750" y="4860300"/>
            <a:ext cx="9265500" cy="28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Font typeface="Arial"/>
              <a:buNone/>
            </a:pPr>
            <a:r>
              <a:rPr lang="en" sz="1400" b="1" i="0" u="none" strike="noStrike" cap="non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Милена Томова - НПО ВРАЦА СОФТУЕР ОБЩЕСТВО - КУРС Уеб Разработка- 11.201</a:t>
            </a:r>
            <a:r>
              <a:rPr lang="en" b="1">
                <a:solidFill>
                  <a:srgbClr val="CCCCCC"/>
                </a:solidFill>
              </a:rPr>
              <a:t>8</a:t>
            </a:r>
            <a:r>
              <a:rPr lang="en" sz="1400" b="1" i="0" u="none" strike="noStrike" cap="non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 - ВЕРСИЯ </a:t>
            </a:r>
            <a:r>
              <a:rPr lang="en" b="1">
                <a:solidFill>
                  <a:srgbClr val="CCCCCC"/>
                </a:solidFill>
              </a:rPr>
              <a:t>6</a:t>
            </a:r>
            <a:endParaRPr/>
          </a:p>
        </p:txBody>
      </p:sp>
    </p:spTree>
  </p:cSld>
  <p:clrMapOvr>
    <a:masterClrMapping/>
  </p:clrMapOvr>
  <p:transition spd="slow">
    <p:fade thruBlk="1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/>
        </p:nvSpPr>
        <p:spPr>
          <a:xfrm>
            <a:off x="0" y="-41317"/>
            <a:ext cx="9144000" cy="703800"/>
          </a:xfrm>
          <a:prstGeom prst="rect">
            <a:avLst/>
          </a:prstGeom>
          <a:solidFill>
            <a:srgbClr val="8BC34A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r>
              <a:rPr lang="en" sz="3600" b="1">
                <a:solidFill>
                  <a:srgbClr val="FFFFFF"/>
                </a:solidFill>
              </a:rPr>
              <a:t>S.O.L.I.D. principles</a:t>
            </a:r>
            <a:endParaRPr sz="3600" b="1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14"/>
          <p:cNvSpPr txBox="1">
            <a:spLocks noGrp="1"/>
          </p:cNvSpPr>
          <p:nvPr>
            <p:ph type="body" idx="1"/>
          </p:nvPr>
        </p:nvSpPr>
        <p:spPr>
          <a:xfrm>
            <a:off x="2761300" y="1869325"/>
            <a:ext cx="3999900" cy="304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/>
              <a:t>S</a:t>
            </a:r>
            <a:r>
              <a:rPr lang="en" sz="1800"/>
              <a:t> - Single-responsiblity principle</a:t>
            </a:r>
            <a:endParaRPr sz="180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800" b="1"/>
              <a:t>O</a:t>
            </a:r>
            <a:r>
              <a:rPr lang="en" sz="1800"/>
              <a:t> - Open-closed principle</a:t>
            </a:r>
            <a:endParaRPr sz="180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800" b="1"/>
              <a:t>L</a:t>
            </a:r>
            <a:r>
              <a:rPr lang="en" sz="1800"/>
              <a:t> - Liskov substitution principle</a:t>
            </a:r>
            <a:endParaRPr sz="180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800" b="1"/>
              <a:t>I</a:t>
            </a:r>
            <a:r>
              <a:rPr lang="en" sz="1800"/>
              <a:t> - Interface segregation principle</a:t>
            </a:r>
            <a:endParaRPr sz="180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800" b="1"/>
              <a:t>D</a:t>
            </a:r>
            <a:r>
              <a:rPr lang="en" sz="1800"/>
              <a:t> - Dependency Inversion Principle</a:t>
            </a:r>
            <a:endParaRPr sz="180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/>
          </a:p>
        </p:txBody>
      </p:sp>
      <p:sp>
        <p:nvSpPr>
          <p:cNvPr id="65" name="Google Shape;65;p14"/>
          <p:cNvSpPr txBox="1">
            <a:spLocks noGrp="1"/>
          </p:cNvSpPr>
          <p:nvPr>
            <p:ph type="body" idx="1"/>
          </p:nvPr>
        </p:nvSpPr>
        <p:spPr>
          <a:xfrm>
            <a:off x="285175" y="807600"/>
            <a:ext cx="8460900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lang="en" sz="1800"/>
              <a:t>Първите пет принципа в ОО дизайн.</a:t>
            </a:r>
            <a:endParaRPr sz="1800"/>
          </a:p>
        </p:txBody>
      </p:sp>
    </p:spTree>
  </p:cSld>
  <p:clrMapOvr>
    <a:masterClrMapping/>
  </p:clrMapOvr>
  <p:transition spd="slow">
    <p:fade thruBlk="1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51AB2A"/>
            </a:gs>
            <a:gs pos="100000">
              <a:srgbClr val="203E13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5"/>
          <p:cNvSpPr txBox="1">
            <a:spLocks noGrp="1"/>
          </p:cNvSpPr>
          <p:nvPr>
            <p:ph type="title"/>
          </p:nvPr>
        </p:nvSpPr>
        <p:spPr>
          <a:xfrm>
            <a:off x="224720" y="1931842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Font typeface="Arial"/>
              <a:buNone/>
            </a:pPr>
            <a:r>
              <a:rPr lang="en" sz="3600" b="1">
                <a:solidFill>
                  <a:schemeClr val="lt1"/>
                </a:solidFill>
              </a:rPr>
              <a:t>S - single responsibility principle</a:t>
            </a:r>
            <a:endParaRPr sz="3600" b="1">
              <a:solidFill>
                <a:schemeClr val="lt1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endParaRPr sz="4000" b="1">
              <a:solidFill>
                <a:srgbClr val="FFC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/>
        </p:nvSpPr>
        <p:spPr>
          <a:xfrm>
            <a:off x="0" y="-41317"/>
            <a:ext cx="9144000" cy="703800"/>
          </a:xfrm>
          <a:prstGeom prst="rect">
            <a:avLst/>
          </a:prstGeom>
          <a:gradFill>
            <a:gsLst>
              <a:gs pos="0">
                <a:srgbClr val="51AB2A"/>
              </a:gs>
              <a:gs pos="100000">
                <a:srgbClr val="203E13"/>
              </a:gs>
            </a:gsLst>
            <a:path path="circle">
              <a:fillToRect l="50000" t="50000" r="50000" b="50000"/>
            </a:path>
            <a:tileRect/>
          </a:gra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r>
              <a:rPr lang="en" sz="3600" b="1">
                <a:solidFill>
                  <a:srgbClr val="FFFFFF"/>
                </a:solidFill>
              </a:rPr>
              <a:t>S - single responsibility principle</a:t>
            </a:r>
            <a:endParaRPr sz="3600" b="1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6"/>
          <p:cNvSpPr txBox="1">
            <a:spLocks noGrp="1"/>
          </p:cNvSpPr>
          <p:nvPr>
            <p:ph type="body" idx="1"/>
          </p:nvPr>
        </p:nvSpPr>
        <p:spPr>
          <a:xfrm>
            <a:off x="285175" y="1586325"/>
            <a:ext cx="8133600" cy="28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1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sz="1800" b="1"/>
              <a:t>Задача </a:t>
            </a:r>
            <a:r>
              <a:rPr lang="en" sz="1800"/>
              <a:t>Създайте приложение с РНР ООП, което сумира площта на две различни геометрични фигури.</a:t>
            </a:r>
            <a:endParaRPr/>
          </a:p>
        </p:txBody>
      </p:sp>
    </p:spTree>
  </p:cSld>
  <p:clrMapOvr>
    <a:masterClrMapping/>
  </p:clrMapOvr>
  <p:transition spd="slow">
    <p:fade thruBlk="1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7"/>
          <p:cNvSpPr txBox="1"/>
          <p:nvPr/>
        </p:nvSpPr>
        <p:spPr>
          <a:xfrm>
            <a:off x="0" y="-41317"/>
            <a:ext cx="9144000" cy="703800"/>
          </a:xfrm>
          <a:prstGeom prst="rect">
            <a:avLst/>
          </a:prstGeom>
          <a:gradFill>
            <a:gsLst>
              <a:gs pos="0">
                <a:srgbClr val="51AB2A"/>
              </a:gs>
              <a:gs pos="100000">
                <a:srgbClr val="203E13"/>
              </a:gs>
            </a:gsLst>
            <a:path path="circle">
              <a:fillToRect l="50000" t="50000" r="50000" b="50000"/>
            </a:path>
            <a:tileRect/>
          </a:gra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r>
              <a:rPr lang="en" sz="3600" b="1">
                <a:solidFill>
                  <a:srgbClr val="FFFFFF"/>
                </a:solidFill>
              </a:rPr>
              <a:t>S - single responsibility principle</a:t>
            </a:r>
            <a:endParaRPr sz="3600" b="1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17"/>
          <p:cNvSpPr txBox="1">
            <a:spLocks noGrp="1"/>
          </p:cNvSpPr>
          <p:nvPr>
            <p:ph type="body" idx="1"/>
          </p:nvPr>
        </p:nvSpPr>
        <p:spPr>
          <a:xfrm>
            <a:off x="338225" y="1462500"/>
            <a:ext cx="4021500" cy="298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200"/>
              <a:t>class Circle {</a:t>
            </a:r>
            <a:endParaRPr sz="120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200"/>
              <a:t>	public $radius;</a:t>
            </a:r>
            <a:endParaRPr sz="120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200"/>
              <a:t>	public function_construct($radius) {</a:t>
            </a:r>
            <a:endParaRPr sz="120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200"/>
              <a:t>    	$this-&gt;radius = $radius;</a:t>
            </a:r>
            <a:endParaRPr sz="120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200"/>
              <a:t>	}</a:t>
            </a:r>
            <a:endParaRPr sz="120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200"/>
              <a:t>}</a:t>
            </a:r>
            <a:endParaRPr sz="1200"/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endParaRPr sz="1800" b="1"/>
          </a:p>
        </p:txBody>
      </p:sp>
      <p:sp>
        <p:nvSpPr>
          <p:cNvPr id="83" name="Google Shape;83;p17"/>
          <p:cNvSpPr txBox="1">
            <a:spLocks noGrp="1"/>
          </p:cNvSpPr>
          <p:nvPr>
            <p:ph type="body" idx="1"/>
          </p:nvPr>
        </p:nvSpPr>
        <p:spPr>
          <a:xfrm>
            <a:off x="285175" y="655200"/>
            <a:ext cx="8460900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lang="en" sz="1800"/>
              <a:t>A class should have one job.</a:t>
            </a:r>
            <a:endParaRPr sz="1800"/>
          </a:p>
        </p:txBody>
      </p:sp>
      <p:sp>
        <p:nvSpPr>
          <p:cNvPr id="84" name="Google Shape;84;p17"/>
          <p:cNvSpPr txBox="1">
            <a:spLocks noGrp="1"/>
          </p:cNvSpPr>
          <p:nvPr>
            <p:ph type="body" idx="1"/>
          </p:nvPr>
        </p:nvSpPr>
        <p:spPr>
          <a:xfrm>
            <a:off x="4775400" y="1561850"/>
            <a:ext cx="3893100" cy="298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class Square {</a:t>
            </a:r>
            <a:endParaRPr sz="12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	public $length;</a:t>
            </a:r>
            <a:endParaRPr sz="12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	public function __construct($length) {</a:t>
            </a:r>
            <a:endParaRPr sz="12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    	$this-&gt;length = $length;</a:t>
            </a:r>
            <a:endParaRPr sz="12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	}</a:t>
            </a:r>
            <a:endParaRPr sz="12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	</a:t>
            </a:r>
            <a:endParaRPr sz="12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	</a:t>
            </a:r>
            <a:endParaRPr sz="12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}</a:t>
            </a:r>
            <a:endParaRPr sz="12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sz="1800" b="1"/>
          </a:p>
        </p:txBody>
      </p:sp>
    </p:spTree>
  </p:cSld>
  <p:clrMapOvr>
    <a:masterClrMapping/>
  </p:clrMapOvr>
  <p:transition spd="slow">
    <p:fade thruBlk="1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8"/>
          <p:cNvSpPr txBox="1"/>
          <p:nvPr/>
        </p:nvSpPr>
        <p:spPr>
          <a:xfrm>
            <a:off x="0" y="-41317"/>
            <a:ext cx="9144000" cy="703800"/>
          </a:xfrm>
          <a:prstGeom prst="rect">
            <a:avLst/>
          </a:prstGeom>
          <a:gradFill>
            <a:gsLst>
              <a:gs pos="0">
                <a:srgbClr val="51AB2A"/>
              </a:gs>
              <a:gs pos="100000">
                <a:srgbClr val="203E13"/>
              </a:gs>
            </a:gsLst>
            <a:path path="circle">
              <a:fillToRect l="50000" t="50000" r="50000" b="50000"/>
            </a:path>
            <a:tileRect/>
          </a:gra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r>
              <a:rPr lang="en" sz="3600" b="1">
                <a:solidFill>
                  <a:srgbClr val="FFFFFF"/>
                </a:solidFill>
              </a:rPr>
              <a:t>S - single responsibility principle</a:t>
            </a:r>
            <a:endParaRPr sz="3600" b="1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18"/>
          <p:cNvSpPr txBox="1">
            <a:spLocks noGrp="1"/>
          </p:cNvSpPr>
          <p:nvPr>
            <p:ph type="body" idx="1"/>
          </p:nvPr>
        </p:nvSpPr>
        <p:spPr>
          <a:xfrm>
            <a:off x="338225" y="1462500"/>
            <a:ext cx="8460900" cy="352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/>
              <a:t>class AreaCalculator {</a:t>
            </a:r>
            <a:endParaRPr sz="1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/>
              <a:t>	protected $shapes;</a:t>
            </a:r>
            <a:endParaRPr sz="1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/>
              <a:t>	public function __construct($shapes = array()) {</a:t>
            </a:r>
            <a:endParaRPr sz="1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/>
              <a:t>    		$this-&gt;shapes = $shapes;</a:t>
            </a:r>
            <a:endParaRPr sz="1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/>
              <a:t>	}</a:t>
            </a:r>
            <a:endParaRPr sz="1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/>
              <a:t>	public function sum() {</a:t>
            </a:r>
            <a:endParaRPr sz="1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/>
              <a:t>    		// logic to calculate and sum the areas</a:t>
            </a:r>
            <a:endParaRPr sz="1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/>
              <a:t>	}</a:t>
            </a:r>
            <a:endParaRPr sz="1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/>
              <a:t>	public function output() {</a:t>
            </a:r>
            <a:endParaRPr sz="1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/>
              <a:t>    		return "Sum of the areas of provided shapes: ". $this-&gt;sum();</a:t>
            </a:r>
            <a:endParaRPr sz="1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/>
              <a:t>	}</a:t>
            </a:r>
            <a:endParaRPr sz="1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/>
              <a:t>}</a:t>
            </a:r>
            <a:endParaRPr sz="1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00" b="1" dirty="0">
              <a:solidFill>
                <a:srgbClr val="38761D"/>
              </a:solidFill>
            </a:endParaRPr>
          </a:p>
        </p:txBody>
      </p:sp>
      <p:sp>
        <p:nvSpPr>
          <p:cNvPr id="91" name="Google Shape;91;p18"/>
          <p:cNvSpPr txBox="1">
            <a:spLocks noGrp="1"/>
          </p:cNvSpPr>
          <p:nvPr>
            <p:ph type="body" idx="1"/>
          </p:nvPr>
        </p:nvSpPr>
        <p:spPr>
          <a:xfrm>
            <a:off x="285175" y="655200"/>
            <a:ext cx="8460900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lang="en" sz="1800"/>
              <a:t>A class should have one job.</a:t>
            </a:r>
            <a:endParaRPr sz="1800"/>
          </a:p>
        </p:txBody>
      </p:sp>
    </p:spTree>
  </p:cSld>
  <p:clrMapOvr>
    <a:masterClrMapping/>
  </p:clrMapOvr>
  <p:transition spd="slow">
    <p:fade thruBlk="1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9"/>
          <p:cNvSpPr txBox="1"/>
          <p:nvPr/>
        </p:nvSpPr>
        <p:spPr>
          <a:xfrm>
            <a:off x="0" y="-41317"/>
            <a:ext cx="9144000" cy="703800"/>
          </a:xfrm>
          <a:prstGeom prst="rect">
            <a:avLst/>
          </a:prstGeom>
          <a:gradFill>
            <a:gsLst>
              <a:gs pos="0">
                <a:srgbClr val="51AB2A"/>
              </a:gs>
              <a:gs pos="100000">
                <a:srgbClr val="203E13"/>
              </a:gs>
            </a:gsLst>
            <a:path path="circle">
              <a:fillToRect l="50000" t="50000" r="50000" b="50000"/>
            </a:path>
            <a:tileRect/>
          </a:gra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r>
              <a:rPr lang="en" sz="3600" b="1">
                <a:solidFill>
                  <a:srgbClr val="FFFFFF"/>
                </a:solidFill>
              </a:rPr>
              <a:t>S - single responsibility principle</a:t>
            </a:r>
            <a:endParaRPr sz="3600" b="1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9"/>
          <p:cNvSpPr txBox="1">
            <a:spLocks noGrp="1"/>
          </p:cNvSpPr>
          <p:nvPr>
            <p:ph type="body" idx="1"/>
          </p:nvPr>
        </p:nvSpPr>
        <p:spPr>
          <a:xfrm>
            <a:off x="338225" y="1462500"/>
            <a:ext cx="8460900" cy="352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SzPts val="1000"/>
              <a:buChar char="-"/>
            </a:pPr>
            <a:r>
              <a:rPr lang="en" sz="1000" dirty="0"/>
              <a:t>Създаваме обект от клас  AreaCalculator;</a:t>
            </a:r>
            <a:endParaRPr sz="1000" dirty="0"/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SzPts val="1000"/>
              <a:buChar char="-"/>
            </a:pPr>
            <a:r>
              <a:rPr lang="en" sz="1000" dirty="0"/>
              <a:t>Подаваме му масив от геометрични фигури;</a:t>
            </a:r>
            <a:endParaRPr sz="1000" dirty="0"/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SzPts val="1000"/>
              <a:buChar char="-"/>
            </a:pPr>
            <a:r>
              <a:rPr lang="en" sz="1000" dirty="0"/>
              <a:t>Отпечатваме сумата от площите</a:t>
            </a:r>
            <a:endParaRPr sz="1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 dirty="0"/>
              <a:t>$shapes = array(</a:t>
            </a:r>
            <a:br>
              <a:rPr lang="en" sz="1000" dirty="0"/>
            </a:br>
            <a:r>
              <a:rPr lang="en" sz="1000" dirty="0"/>
              <a:t>    new Circle(2),</a:t>
            </a:r>
            <a:br>
              <a:rPr lang="en" sz="1000" dirty="0"/>
            </a:br>
            <a:r>
              <a:rPr lang="en" sz="1000" dirty="0"/>
              <a:t>    new Square(5),</a:t>
            </a:r>
            <a:br>
              <a:rPr lang="en" sz="1000" dirty="0"/>
            </a:br>
            <a:r>
              <a:rPr lang="en" sz="1000" dirty="0"/>
              <a:t>    new Square(6)</a:t>
            </a:r>
            <a:br>
              <a:rPr lang="en" sz="1000" dirty="0"/>
            </a:br>
            <a:r>
              <a:rPr lang="en" sz="1000" dirty="0"/>
              <a:t>);</a:t>
            </a:r>
            <a:endParaRPr sz="1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 dirty="0"/>
              <a:t>$areas = new AreaCalculator($shapes);</a:t>
            </a:r>
            <a:br>
              <a:rPr lang="en" sz="1000" dirty="0"/>
            </a:br>
            <a:r>
              <a:rPr lang="en" sz="1000" dirty="0"/>
              <a:t/>
            </a:r>
            <a:br>
              <a:rPr lang="en" sz="1000" dirty="0"/>
            </a:br>
            <a:r>
              <a:rPr lang="en" sz="1000" dirty="0"/>
              <a:t>echo $areas-&gt;output();</a:t>
            </a:r>
            <a:endParaRPr sz="1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00" b="1" dirty="0">
              <a:solidFill>
                <a:srgbClr val="38761D"/>
              </a:solidFill>
            </a:endParaRPr>
          </a:p>
        </p:txBody>
      </p:sp>
      <p:sp>
        <p:nvSpPr>
          <p:cNvPr id="98" name="Google Shape;98;p19"/>
          <p:cNvSpPr txBox="1">
            <a:spLocks noGrp="1"/>
          </p:cNvSpPr>
          <p:nvPr>
            <p:ph type="body" idx="1"/>
          </p:nvPr>
        </p:nvSpPr>
        <p:spPr>
          <a:xfrm>
            <a:off x="285175" y="655200"/>
            <a:ext cx="8460900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lang="en" sz="1800"/>
              <a:t>A class should have one job.</a:t>
            </a:r>
            <a:endParaRPr sz="1800"/>
          </a:p>
        </p:txBody>
      </p:sp>
    </p:spTree>
  </p:cSld>
  <p:clrMapOvr>
    <a:masterClrMapping/>
  </p:clrMapOvr>
  <p:transition spd="slow">
    <p:fade thruBlk="1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0"/>
          <p:cNvSpPr txBox="1"/>
          <p:nvPr/>
        </p:nvSpPr>
        <p:spPr>
          <a:xfrm>
            <a:off x="0" y="-41317"/>
            <a:ext cx="9144000" cy="703800"/>
          </a:xfrm>
          <a:prstGeom prst="rect">
            <a:avLst/>
          </a:prstGeom>
          <a:gradFill>
            <a:gsLst>
              <a:gs pos="0">
                <a:srgbClr val="51AB2A"/>
              </a:gs>
              <a:gs pos="100000">
                <a:srgbClr val="203E13"/>
              </a:gs>
            </a:gsLst>
            <a:path path="circle">
              <a:fillToRect l="50000" t="50000" r="50000" b="50000"/>
            </a:path>
            <a:tileRect/>
          </a:gra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r>
              <a:rPr lang="en" sz="3600" b="1">
                <a:solidFill>
                  <a:srgbClr val="FFFFFF"/>
                </a:solidFill>
              </a:rPr>
              <a:t>S - single responsibility principle</a:t>
            </a:r>
            <a:endParaRPr sz="3600" b="1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20"/>
          <p:cNvSpPr txBox="1">
            <a:spLocks noGrp="1"/>
          </p:cNvSpPr>
          <p:nvPr>
            <p:ph type="body" idx="1"/>
          </p:nvPr>
        </p:nvSpPr>
        <p:spPr>
          <a:xfrm>
            <a:off x="338225" y="1462500"/>
            <a:ext cx="8460900" cy="352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SzPts val="1000"/>
              <a:buChar char="-"/>
            </a:pPr>
            <a:r>
              <a:rPr lang="en" sz="1000" dirty="0"/>
              <a:t>Ако искаме да доразвием задачата и да отпечатваме резултатът в различни формати. Редно е да създадем нов клас SumCalculatorOutputter, който ще има задачата да реализира извеждането на резултата във формата, който ни трябва.</a:t>
            </a:r>
            <a:endParaRPr sz="1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bg-BG" sz="1000" i="1" dirty="0" smtClean="0">
                <a:solidFill>
                  <a:srgbClr val="00B050"/>
                </a:solidFill>
              </a:rPr>
              <a:t>Кой вариант бихте избрали?</a:t>
            </a:r>
            <a:endParaRPr sz="1000" i="1" dirty="0">
              <a:solidFill>
                <a:srgbClr val="00B05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bg-BG" sz="1000" dirty="0" smtClean="0"/>
          </a:p>
          <a:p>
            <a:pPr marL="0" lvl="0" indent="0"/>
            <a:r>
              <a:rPr lang="bg-BG" sz="1000" dirty="0" smtClean="0"/>
              <a:t>Вариант 1 - </a:t>
            </a:r>
            <a:r>
              <a:rPr lang="en" sz="1000" dirty="0" smtClean="0"/>
              <a:t>$output </a:t>
            </a:r>
            <a:r>
              <a:rPr lang="en" sz="1000" dirty="0"/>
              <a:t>= new SumCalculatorOutputter</a:t>
            </a:r>
            <a:r>
              <a:rPr lang="en" sz="1000" dirty="0" smtClean="0"/>
              <a:t>($areas);</a:t>
            </a:r>
            <a:r>
              <a:rPr lang="en" sz="1000" dirty="0"/>
              <a:t/>
            </a:r>
            <a:br>
              <a:rPr lang="en" sz="1000" dirty="0"/>
            </a:br>
            <a:endParaRPr lang="bg-BG" sz="1000" dirty="0" smtClean="0"/>
          </a:p>
          <a:p>
            <a:pPr marL="0" lvl="0" indent="0"/>
            <a:r>
              <a:rPr lang="bg-BG" sz="1000" dirty="0"/>
              <a:t>Вариант </a:t>
            </a:r>
            <a:r>
              <a:rPr lang="bg-BG" sz="1000" dirty="0" smtClean="0"/>
              <a:t>2 </a:t>
            </a:r>
            <a:r>
              <a:rPr lang="bg-BG" sz="1000" dirty="0"/>
              <a:t>- </a:t>
            </a:r>
            <a:r>
              <a:rPr lang="en" sz="1000" dirty="0"/>
              <a:t>$output = new </a:t>
            </a:r>
            <a:r>
              <a:rPr lang="en" sz="1000" dirty="0" smtClean="0"/>
              <a:t>SumOutputter($sum);</a:t>
            </a:r>
            <a:r>
              <a:rPr lang="en" sz="1000" dirty="0"/>
              <a:t/>
            </a:r>
            <a:br>
              <a:rPr lang="en" sz="1000" dirty="0"/>
            </a:br>
            <a:r>
              <a:rPr lang="en" sz="1000" dirty="0"/>
              <a:t/>
            </a:r>
            <a:br>
              <a:rPr lang="en" sz="1000" dirty="0"/>
            </a:br>
            <a:r>
              <a:rPr lang="en" sz="1000" dirty="0"/>
              <a:t>echo $output-&gt;JSON();</a:t>
            </a:r>
            <a:br>
              <a:rPr lang="en" sz="1000" dirty="0"/>
            </a:br>
            <a:r>
              <a:rPr lang="en" sz="1000" dirty="0"/>
              <a:t>echo $output-&gt;HTML();</a:t>
            </a:r>
            <a:br>
              <a:rPr lang="en" sz="1000" dirty="0"/>
            </a:br>
            <a:endParaRPr sz="1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00" dirty="0"/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00" b="1" dirty="0">
              <a:solidFill>
                <a:srgbClr val="38761D"/>
              </a:solidFill>
            </a:endParaRPr>
          </a:p>
        </p:txBody>
      </p:sp>
      <p:sp>
        <p:nvSpPr>
          <p:cNvPr id="105" name="Google Shape;105;p20"/>
          <p:cNvSpPr txBox="1">
            <a:spLocks noGrp="1"/>
          </p:cNvSpPr>
          <p:nvPr>
            <p:ph type="body" idx="1"/>
          </p:nvPr>
        </p:nvSpPr>
        <p:spPr>
          <a:xfrm>
            <a:off x="285175" y="655200"/>
            <a:ext cx="8460900" cy="53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lang="en" sz="1800"/>
              <a:t>A class should have one job.</a:t>
            </a:r>
            <a:endParaRPr sz="1800"/>
          </a:p>
        </p:txBody>
      </p:sp>
    </p:spTree>
  </p:cSld>
  <p:clrMapOvr>
    <a:masterClrMapping/>
  </p:clrMapOvr>
  <p:transition spd="slow">
    <p:fade thruBlk="1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FC002"/>
            </a:gs>
            <a:gs pos="100000">
              <a:srgbClr val="795B04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1"/>
          <p:cNvSpPr txBox="1">
            <a:spLocks noGrp="1"/>
          </p:cNvSpPr>
          <p:nvPr>
            <p:ph type="title"/>
          </p:nvPr>
        </p:nvSpPr>
        <p:spPr>
          <a:xfrm>
            <a:off x="224720" y="1931842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Font typeface="Arial"/>
              <a:buNone/>
            </a:pPr>
            <a:r>
              <a:rPr lang="en" sz="3600" b="1">
                <a:solidFill>
                  <a:schemeClr val="lt1"/>
                </a:solidFill>
              </a:rPr>
              <a:t>O - open-closed principle</a:t>
            </a:r>
            <a:endParaRPr sz="3600" b="1">
              <a:solidFill>
                <a:schemeClr val="lt1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endParaRPr sz="4000" b="1">
              <a:solidFill>
                <a:srgbClr val="FFC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2"/>
          <p:cNvSpPr txBox="1"/>
          <p:nvPr/>
        </p:nvSpPr>
        <p:spPr>
          <a:xfrm>
            <a:off x="0" y="-41317"/>
            <a:ext cx="9144000" cy="703800"/>
          </a:xfrm>
          <a:prstGeom prst="rect">
            <a:avLst/>
          </a:prstGeom>
          <a:gradFill>
            <a:gsLst>
              <a:gs pos="0">
                <a:srgbClr val="FFC002"/>
              </a:gs>
              <a:gs pos="100000">
                <a:srgbClr val="795B04"/>
              </a:gs>
            </a:gsLst>
            <a:path path="circle">
              <a:fillToRect l="50000" t="50000" r="50000" b="50000"/>
            </a:path>
            <a:tileRect/>
          </a:gra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Font typeface="Arial"/>
              <a:buNone/>
            </a:pPr>
            <a:r>
              <a:rPr lang="en" sz="3600" b="1">
                <a:solidFill>
                  <a:schemeClr val="lt1"/>
                </a:solidFill>
              </a:rPr>
              <a:t>O - open-closed principle</a:t>
            </a:r>
            <a:endParaRPr sz="3600" b="1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22"/>
          <p:cNvSpPr txBox="1">
            <a:spLocks noGrp="1"/>
          </p:cNvSpPr>
          <p:nvPr>
            <p:ph type="body" idx="1"/>
          </p:nvPr>
        </p:nvSpPr>
        <p:spPr>
          <a:xfrm>
            <a:off x="338225" y="1462500"/>
            <a:ext cx="8460900" cy="352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434343"/>
                </a:solidFill>
              </a:rPr>
              <a:t>Да разгледаме </a:t>
            </a:r>
            <a:r>
              <a:rPr lang="en" sz="1100" b="1" dirty="0">
                <a:solidFill>
                  <a:srgbClr val="434343"/>
                </a:solidFill>
              </a:rPr>
              <a:t>AreaCalculator</a:t>
            </a:r>
            <a:r>
              <a:rPr lang="en" sz="1100" dirty="0">
                <a:solidFill>
                  <a:srgbClr val="434343"/>
                </a:solidFill>
              </a:rPr>
              <a:t> и неговия </a:t>
            </a:r>
            <a:r>
              <a:rPr lang="en" sz="1100" b="1" dirty="0">
                <a:solidFill>
                  <a:srgbClr val="434343"/>
                </a:solidFill>
              </a:rPr>
              <a:t>sum</a:t>
            </a:r>
            <a:r>
              <a:rPr lang="en" sz="1100" dirty="0">
                <a:solidFill>
                  <a:srgbClr val="434343"/>
                </a:solidFill>
              </a:rPr>
              <a:t> метод в този му вид.</a:t>
            </a:r>
            <a:endParaRPr sz="1100" dirty="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434343"/>
                </a:solidFill>
              </a:rPr>
              <a:t>public function sum() {</a:t>
            </a:r>
            <a:br>
              <a:rPr lang="en" sz="1100" dirty="0">
                <a:solidFill>
                  <a:srgbClr val="434343"/>
                </a:solidFill>
              </a:rPr>
            </a:br>
            <a:r>
              <a:rPr lang="en" sz="1100" dirty="0">
                <a:solidFill>
                  <a:srgbClr val="434343"/>
                </a:solidFill>
              </a:rPr>
              <a:t>    foreach($this-&gt;shapes as $shape) {</a:t>
            </a:r>
            <a:br>
              <a:rPr lang="en" sz="1100" dirty="0">
                <a:solidFill>
                  <a:srgbClr val="434343"/>
                </a:solidFill>
              </a:rPr>
            </a:br>
            <a:r>
              <a:rPr lang="en" sz="1100" dirty="0">
                <a:solidFill>
                  <a:srgbClr val="434343"/>
                </a:solidFill>
              </a:rPr>
              <a:t>        if(</a:t>
            </a:r>
            <a:r>
              <a:rPr lang="en" sz="1100" u="sng" dirty="0">
                <a:solidFill>
                  <a:schemeClr val="hlink"/>
                </a:solidFill>
                <a:hlinkClick r:id="rId3"/>
              </a:rPr>
              <a:t>is_a</a:t>
            </a:r>
            <a:r>
              <a:rPr lang="en" sz="1100" dirty="0">
                <a:solidFill>
                  <a:srgbClr val="434343"/>
                </a:solidFill>
              </a:rPr>
              <a:t>($shape, 'Square')) {</a:t>
            </a:r>
            <a:br>
              <a:rPr lang="en" sz="1100" dirty="0">
                <a:solidFill>
                  <a:srgbClr val="434343"/>
                </a:solidFill>
              </a:rPr>
            </a:br>
            <a:r>
              <a:rPr lang="en" sz="1100" dirty="0">
                <a:solidFill>
                  <a:srgbClr val="434343"/>
                </a:solidFill>
              </a:rPr>
              <a:t>            $area[] = pow($shape-&gt;length, 2);</a:t>
            </a:r>
            <a:br>
              <a:rPr lang="en" sz="1100" dirty="0">
                <a:solidFill>
                  <a:srgbClr val="434343"/>
                </a:solidFill>
              </a:rPr>
            </a:br>
            <a:r>
              <a:rPr lang="en" sz="1100" dirty="0">
                <a:solidFill>
                  <a:srgbClr val="434343"/>
                </a:solidFill>
              </a:rPr>
              <a:t>        } else if(</a:t>
            </a:r>
            <a:r>
              <a:rPr lang="en" sz="1100" u="sng" dirty="0">
                <a:solidFill>
                  <a:schemeClr val="hlink"/>
                </a:solidFill>
                <a:hlinkClick r:id="rId3"/>
              </a:rPr>
              <a:t>is_a</a:t>
            </a:r>
            <a:r>
              <a:rPr lang="en" sz="1100" dirty="0">
                <a:solidFill>
                  <a:srgbClr val="434343"/>
                </a:solidFill>
              </a:rPr>
              <a:t>($shape, 'Circle')) {</a:t>
            </a:r>
            <a:br>
              <a:rPr lang="en" sz="1100" dirty="0">
                <a:solidFill>
                  <a:srgbClr val="434343"/>
                </a:solidFill>
              </a:rPr>
            </a:br>
            <a:r>
              <a:rPr lang="en" sz="1100" dirty="0">
                <a:solidFill>
                  <a:srgbClr val="434343"/>
                </a:solidFill>
              </a:rPr>
              <a:t>            $area[] = pi() * pow($shape-&gt;radius, 2);</a:t>
            </a:r>
            <a:br>
              <a:rPr lang="en" sz="1100" dirty="0">
                <a:solidFill>
                  <a:srgbClr val="434343"/>
                </a:solidFill>
              </a:rPr>
            </a:br>
            <a:r>
              <a:rPr lang="en" sz="1100" dirty="0">
                <a:solidFill>
                  <a:srgbClr val="434343"/>
                </a:solidFill>
              </a:rPr>
              <a:t>        }</a:t>
            </a:r>
            <a:br>
              <a:rPr lang="en" sz="1100" dirty="0">
                <a:solidFill>
                  <a:srgbClr val="434343"/>
                </a:solidFill>
              </a:rPr>
            </a:br>
            <a:r>
              <a:rPr lang="en" sz="1100" dirty="0">
                <a:solidFill>
                  <a:srgbClr val="434343"/>
                </a:solidFill>
              </a:rPr>
              <a:t>    }</a:t>
            </a:r>
            <a:br>
              <a:rPr lang="en" sz="1100" dirty="0">
                <a:solidFill>
                  <a:srgbClr val="434343"/>
                </a:solidFill>
              </a:rPr>
            </a:br>
            <a:r>
              <a:rPr lang="en" sz="1100" dirty="0">
                <a:solidFill>
                  <a:srgbClr val="434343"/>
                </a:solidFill>
              </a:rPr>
              <a:t>    return array_sum($area);</a:t>
            </a:r>
            <a:br>
              <a:rPr lang="en" sz="1100" dirty="0">
                <a:solidFill>
                  <a:srgbClr val="434343"/>
                </a:solidFill>
              </a:rPr>
            </a:br>
            <a:r>
              <a:rPr lang="en" sz="1100" dirty="0">
                <a:solidFill>
                  <a:srgbClr val="434343"/>
                </a:solidFill>
              </a:rPr>
              <a:t>}  </a:t>
            </a:r>
            <a:endParaRPr sz="1100" dirty="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 dirty="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434343"/>
                </a:solidFill>
              </a:rPr>
              <a:t>Ограничени сме с два вида геометрични фигури. </a:t>
            </a:r>
            <a:endParaRPr sz="1100" dirty="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 i="1" dirty="0">
                <a:solidFill>
                  <a:srgbClr val="7F6000"/>
                </a:solidFill>
              </a:rPr>
              <a:t>Ако приложението се развие и искаме да изчисляваме площта на неограничен брой геометрични фигури?</a:t>
            </a:r>
            <a:endParaRPr sz="1100" b="1" i="1" dirty="0">
              <a:solidFill>
                <a:srgbClr val="7F6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rgbClr val="434343"/>
              </a:solidFill>
            </a:endParaRPr>
          </a:p>
        </p:txBody>
      </p:sp>
      <p:sp>
        <p:nvSpPr>
          <p:cNvPr id="117" name="Google Shape;117;p22"/>
          <p:cNvSpPr txBox="1">
            <a:spLocks noGrp="1"/>
          </p:cNvSpPr>
          <p:nvPr>
            <p:ph type="body" idx="1"/>
          </p:nvPr>
        </p:nvSpPr>
        <p:spPr>
          <a:xfrm>
            <a:off x="285175" y="655200"/>
            <a:ext cx="8460900" cy="80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lang="en" sz="1800"/>
              <a:t>Objects or entities should be open for extension, but closed for modification</a:t>
            </a:r>
            <a:endParaRPr sz="180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i="1">
                <a:solidFill>
                  <a:srgbClr val="434343"/>
                </a:solidFill>
              </a:rPr>
              <a:t>Трябва да е възможно разширяването на класа, без да се налага да го променяме.</a:t>
            </a:r>
            <a:endParaRPr sz="1100" i="1">
              <a:solidFill>
                <a:srgbClr val="434343"/>
              </a:solidFill>
            </a:endParaRPr>
          </a:p>
          <a:p>
            <a:pPr marL="0" lvl="0" indent="0" algn="ctr" rtl="0"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sz="1800"/>
          </a:p>
        </p:txBody>
      </p:sp>
    </p:spTree>
  </p:cSld>
  <p:clrMapOvr>
    <a:masterClrMapping/>
  </p:clrMapOvr>
  <p:transition spd="slow">
    <p:fade thruBlk="1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3"/>
          <p:cNvSpPr txBox="1"/>
          <p:nvPr/>
        </p:nvSpPr>
        <p:spPr>
          <a:xfrm>
            <a:off x="0" y="-41317"/>
            <a:ext cx="9144000" cy="703800"/>
          </a:xfrm>
          <a:prstGeom prst="rect">
            <a:avLst/>
          </a:prstGeom>
          <a:gradFill>
            <a:gsLst>
              <a:gs pos="0">
                <a:srgbClr val="FFC002"/>
              </a:gs>
              <a:gs pos="100000">
                <a:srgbClr val="795B04"/>
              </a:gs>
            </a:gsLst>
            <a:path path="circle">
              <a:fillToRect l="50000" t="50000" r="50000" b="50000"/>
            </a:path>
            <a:tileRect/>
          </a:gra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Font typeface="Arial"/>
              <a:buNone/>
            </a:pPr>
            <a:r>
              <a:rPr lang="en" sz="3600" b="1">
                <a:solidFill>
                  <a:schemeClr val="lt1"/>
                </a:solidFill>
              </a:rPr>
              <a:t>O - open-closed principle</a:t>
            </a:r>
            <a:endParaRPr sz="3600" b="1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" name="Google Shape;123;p23"/>
          <p:cNvSpPr txBox="1">
            <a:spLocks noGrp="1"/>
          </p:cNvSpPr>
          <p:nvPr>
            <p:ph type="body" idx="1"/>
          </p:nvPr>
        </p:nvSpPr>
        <p:spPr>
          <a:xfrm>
            <a:off x="338225" y="1462500"/>
            <a:ext cx="4001700" cy="36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b="1" dirty="0">
              <a:solidFill>
                <a:srgbClr val="7F6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b="1" dirty="0">
              <a:solidFill>
                <a:srgbClr val="7F6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b="1" dirty="0">
              <a:solidFill>
                <a:srgbClr val="7F6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b="1" i="1" dirty="0">
                <a:solidFill>
                  <a:srgbClr val="7F6000"/>
                </a:solidFill>
              </a:rPr>
              <a:t>Ако приложението се развие и искаме да изчисляваме площта на неограничен брой геометрични фигури?</a:t>
            </a:r>
            <a:endParaRPr sz="1100" b="1" i="1" dirty="0">
              <a:solidFill>
                <a:srgbClr val="7F6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i="1" dirty="0">
                <a:solidFill>
                  <a:srgbClr val="434343"/>
                </a:solidFill>
              </a:rPr>
              <a:t>Вариант 1</a:t>
            </a:r>
            <a:r>
              <a:rPr lang="en" sz="1100" dirty="0">
                <a:solidFill>
                  <a:srgbClr val="434343"/>
                </a:solidFill>
              </a:rPr>
              <a:t> - добавяме още if/else блокове за всяка фигура - противоречи с оpen-closed принципа</a:t>
            </a:r>
            <a:endParaRPr sz="1100" dirty="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i="1" dirty="0">
                <a:solidFill>
                  <a:srgbClr val="434343"/>
                </a:solidFill>
              </a:rPr>
              <a:t>Вариант 2</a:t>
            </a:r>
            <a:r>
              <a:rPr lang="en" sz="1100" dirty="0">
                <a:solidFill>
                  <a:srgbClr val="434343"/>
                </a:solidFill>
              </a:rPr>
              <a:t> - махаме логиката за изчисляване на площта от sum метода и я поверяваме на логиката на класа на всяка фигура</a:t>
            </a:r>
            <a:endParaRPr sz="1100" dirty="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rgbClr val="434343"/>
              </a:solidFill>
            </a:endParaRPr>
          </a:p>
        </p:txBody>
      </p:sp>
      <p:sp>
        <p:nvSpPr>
          <p:cNvPr id="124" name="Google Shape;124;p23"/>
          <p:cNvSpPr txBox="1">
            <a:spLocks noGrp="1"/>
          </p:cNvSpPr>
          <p:nvPr>
            <p:ph type="body" idx="1"/>
          </p:nvPr>
        </p:nvSpPr>
        <p:spPr>
          <a:xfrm>
            <a:off x="285175" y="655200"/>
            <a:ext cx="8460900" cy="80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lang="en" sz="1800"/>
              <a:t>Objects or entities should be open for extension, but closed for modification</a:t>
            </a:r>
            <a:endParaRPr sz="180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i="1">
                <a:solidFill>
                  <a:srgbClr val="434343"/>
                </a:solidFill>
              </a:rPr>
              <a:t>Трябва да е възможно разширяването на класа, без да се налага да го променяме.</a:t>
            </a:r>
            <a:endParaRPr sz="1100" i="1">
              <a:solidFill>
                <a:srgbClr val="434343"/>
              </a:solidFill>
            </a:endParaRPr>
          </a:p>
          <a:p>
            <a:pPr marL="0" lvl="0" indent="0" algn="ctr" rtl="0"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sz="1800"/>
          </a:p>
        </p:txBody>
      </p:sp>
      <p:sp>
        <p:nvSpPr>
          <p:cNvPr id="125" name="Google Shape;125;p23"/>
          <p:cNvSpPr txBox="1">
            <a:spLocks noGrp="1"/>
          </p:cNvSpPr>
          <p:nvPr>
            <p:ph type="body" idx="1"/>
          </p:nvPr>
        </p:nvSpPr>
        <p:spPr>
          <a:xfrm>
            <a:off x="4892950" y="1462500"/>
            <a:ext cx="4001700" cy="36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b="1" dirty="0">
              <a:solidFill>
                <a:srgbClr val="7F6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b="1" dirty="0">
              <a:solidFill>
                <a:srgbClr val="7F6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7F6000"/>
                </a:solidFill>
              </a:rPr>
              <a:t>class Square {</a:t>
            </a:r>
            <a:r>
              <a:rPr lang="en" sz="1100" b="1" dirty="0">
                <a:solidFill>
                  <a:srgbClr val="7F6000"/>
                </a:solidFill>
              </a:rPr>
              <a:t/>
            </a:r>
            <a:br>
              <a:rPr lang="en" sz="1100" b="1" dirty="0">
                <a:solidFill>
                  <a:srgbClr val="7F6000"/>
                </a:solidFill>
              </a:rPr>
            </a:br>
            <a:r>
              <a:rPr lang="en" sz="1100" b="1" dirty="0">
                <a:solidFill>
                  <a:srgbClr val="7F6000"/>
                </a:solidFill>
              </a:rPr>
              <a:t>    </a:t>
            </a:r>
            <a:r>
              <a:rPr lang="en" sz="1100" dirty="0">
                <a:solidFill>
                  <a:srgbClr val="434343"/>
                </a:solidFill>
              </a:rPr>
              <a:t>public $length;</a:t>
            </a:r>
            <a:br>
              <a:rPr lang="en" sz="1100" dirty="0">
                <a:solidFill>
                  <a:srgbClr val="434343"/>
                </a:solidFill>
              </a:rPr>
            </a:br>
            <a:r>
              <a:rPr lang="en" sz="1100" dirty="0">
                <a:solidFill>
                  <a:srgbClr val="434343"/>
                </a:solidFill>
              </a:rPr>
              <a:t/>
            </a:r>
            <a:br>
              <a:rPr lang="en" sz="1100" dirty="0">
                <a:solidFill>
                  <a:srgbClr val="434343"/>
                </a:solidFill>
              </a:rPr>
            </a:br>
            <a:r>
              <a:rPr lang="en" sz="1100" dirty="0">
                <a:solidFill>
                  <a:srgbClr val="434343"/>
                </a:solidFill>
              </a:rPr>
              <a:t>    public function __construct($length) {</a:t>
            </a:r>
            <a:br>
              <a:rPr lang="en" sz="1100" dirty="0">
                <a:solidFill>
                  <a:srgbClr val="434343"/>
                </a:solidFill>
              </a:rPr>
            </a:br>
            <a:r>
              <a:rPr lang="en" sz="1100" dirty="0">
                <a:solidFill>
                  <a:srgbClr val="434343"/>
                </a:solidFill>
              </a:rPr>
              <a:t>        $this-&gt;length = $length;</a:t>
            </a:r>
            <a:br>
              <a:rPr lang="en" sz="1100" dirty="0">
                <a:solidFill>
                  <a:srgbClr val="434343"/>
                </a:solidFill>
              </a:rPr>
            </a:br>
            <a:r>
              <a:rPr lang="en" sz="1100" dirty="0">
                <a:solidFill>
                  <a:srgbClr val="434343"/>
                </a:solidFill>
              </a:rPr>
              <a:t>    }</a:t>
            </a:r>
            <a:br>
              <a:rPr lang="en" sz="1100" dirty="0">
                <a:solidFill>
                  <a:srgbClr val="434343"/>
                </a:solidFill>
              </a:rPr>
            </a:br>
            <a:r>
              <a:rPr lang="en" sz="1100" dirty="0">
                <a:solidFill>
                  <a:srgbClr val="434343"/>
                </a:solidFill>
              </a:rPr>
              <a:t/>
            </a:r>
            <a:br>
              <a:rPr lang="en" sz="1100" dirty="0">
                <a:solidFill>
                  <a:srgbClr val="434343"/>
                </a:solidFill>
              </a:rPr>
            </a:br>
            <a:r>
              <a:rPr lang="en" sz="1100" b="1" dirty="0">
                <a:solidFill>
                  <a:srgbClr val="7F6000"/>
                </a:solidFill>
              </a:rPr>
              <a:t>  </a:t>
            </a:r>
            <a:r>
              <a:rPr lang="en" sz="1100" dirty="0">
                <a:solidFill>
                  <a:srgbClr val="7F6000"/>
                </a:solidFill>
              </a:rPr>
              <a:t>  public function calc_area() {</a:t>
            </a:r>
            <a:br>
              <a:rPr lang="en" sz="1100" dirty="0">
                <a:solidFill>
                  <a:srgbClr val="7F6000"/>
                </a:solidFill>
              </a:rPr>
            </a:br>
            <a:r>
              <a:rPr lang="en" sz="1100" dirty="0">
                <a:solidFill>
                  <a:srgbClr val="7F6000"/>
                </a:solidFill>
              </a:rPr>
              <a:t>        return pow($this-&gt;length, 2);</a:t>
            </a:r>
            <a:br>
              <a:rPr lang="en" sz="1100" dirty="0">
                <a:solidFill>
                  <a:srgbClr val="7F6000"/>
                </a:solidFill>
              </a:rPr>
            </a:br>
            <a:r>
              <a:rPr lang="en" sz="1100" dirty="0">
                <a:solidFill>
                  <a:srgbClr val="7F6000"/>
                </a:solidFill>
              </a:rPr>
              <a:t>    }</a:t>
            </a:r>
            <a:br>
              <a:rPr lang="en" sz="1100" dirty="0">
                <a:solidFill>
                  <a:srgbClr val="7F6000"/>
                </a:solidFill>
              </a:rPr>
            </a:br>
            <a:r>
              <a:rPr lang="en" sz="1100" dirty="0">
                <a:solidFill>
                  <a:srgbClr val="434343"/>
                </a:solidFill>
              </a:rPr>
              <a:t>}  </a:t>
            </a:r>
            <a:endParaRPr sz="1100" dirty="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rgbClr val="7F6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rgbClr val="7F6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i="1" dirty="0">
                <a:solidFill>
                  <a:srgbClr val="7F6000"/>
                </a:solidFill>
              </a:rPr>
              <a:t>Същото ще направим и </a:t>
            </a:r>
            <a:r>
              <a:rPr lang="en" sz="1100" i="1" dirty="0" smtClean="0">
                <a:solidFill>
                  <a:srgbClr val="7F6000"/>
                </a:solidFill>
              </a:rPr>
              <a:t>в </a:t>
            </a:r>
            <a:r>
              <a:rPr lang="en" sz="1100" i="1" dirty="0">
                <a:solidFill>
                  <a:srgbClr val="7F6000"/>
                </a:solidFill>
              </a:rPr>
              <a:t>класовете за всяка друга фигура.</a:t>
            </a:r>
            <a:endParaRPr sz="1100" i="1" dirty="0">
              <a:solidFill>
                <a:srgbClr val="7F6000"/>
              </a:solidFill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4"/>
          <p:cNvSpPr txBox="1"/>
          <p:nvPr/>
        </p:nvSpPr>
        <p:spPr>
          <a:xfrm>
            <a:off x="0" y="-41317"/>
            <a:ext cx="9144000" cy="703800"/>
          </a:xfrm>
          <a:prstGeom prst="rect">
            <a:avLst/>
          </a:prstGeom>
          <a:gradFill>
            <a:gsLst>
              <a:gs pos="0">
                <a:srgbClr val="FFC002"/>
              </a:gs>
              <a:gs pos="100000">
                <a:srgbClr val="795B04"/>
              </a:gs>
            </a:gsLst>
            <a:path path="circle">
              <a:fillToRect l="50000" t="50000" r="50000" b="50000"/>
            </a:path>
            <a:tileRect/>
          </a:gra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Font typeface="Arial"/>
              <a:buNone/>
            </a:pPr>
            <a:r>
              <a:rPr lang="en" sz="3600" b="1">
                <a:solidFill>
                  <a:schemeClr val="lt1"/>
                </a:solidFill>
              </a:rPr>
              <a:t>O - open-closed principle</a:t>
            </a:r>
            <a:endParaRPr sz="3600" b="1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24"/>
          <p:cNvSpPr txBox="1">
            <a:spLocks noGrp="1"/>
          </p:cNvSpPr>
          <p:nvPr>
            <p:ph type="body" idx="1"/>
          </p:nvPr>
        </p:nvSpPr>
        <p:spPr>
          <a:xfrm>
            <a:off x="338225" y="1462500"/>
            <a:ext cx="4001700" cy="36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rgbClr val="7F6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i="1" dirty="0">
                <a:solidFill>
                  <a:srgbClr val="434343"/>
                </a:solidFill>
              </a:rPr>
              <a:t>Изчисляването на сумата от площите на геометричните фигури няма да е свързано с броя или вида им - </a:t>
            </a:r>
            <a:endParaRPr sz="1100" i="1" dirty="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b="1" dirty="0">
              <a:solidFill>
                <a:srgbClr val="7F6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 dirty="0">
                <a:solidFill>
                  <a:srgbClr val="7F6000"/>
                </a:solidFill>
              </a:rPr>
              <a:t/>
            </a:r>
            <a:br>
              <a:rPr lang="en" sz="1100" b="1" dirty="0">
                <a:solidFill>
                  <a:srgbClr val="7F6000"/>
                </a:solidFill>
              </a:rPr>
            </a:br>
            <a:r>
              <a:rPr lang="en" sz="1100" dirty="0">
                <a:solidFill>
                  <a:srgbClr val="434343"/>
                </a:solidFill>
              </a:rPr>
              <a:t>public function sum() {</a:t>
            </a:r>
            <a:br>
              <a:rPr lang="en" sz="1100" dirty="0">
                <a:solidFill>
                  <a:srgbClr val="434343"/>
                </a:solidFill>
              </a:rPr>
            </a:br>
            <a:r>
              <a:rPr lang="en" sz="1100" dirty="0">
                <a:solidFill>
                  <a:srgbClr val="434343"/>
                </a:solidFill>
              </a:rPr>
              <a:t>    foreach($this-&gt;shapes as $shape) {</a:t>
            </a:r>
            <a:br>
              <a:rPr lang="en" sz="1100" dirty="0">
                <a:solidFill>
                  <a:srgbClr val="434343"/>
                </a:solidFill>
              </a:rPr>
            </a:br>
            <a:r>
              <a:rPr lang="en" sz="1100" dirty="0">
                <a:solidFill>
                  <a:srgbClr val="434343"/>
                </a:solidFill>
              </a:rPr>
              <a:t>        $area[] = $shape-&gt;calc_area();</a:t>
            </a:r>
            <a:br>
              <a:rPr lang="en" sz="1100" dirty="0">
                <a:solidFill>
                  <a:srgbClr val="434343"/>
                </a:solidFill>
              </a:rPr>
            </a:br>
            <a:r>
              <a:rPr lang="en" sz="1100" dirty="0">
                <a:solidFill>
                  <a:srgbClr val="434343"/>
                </a:solidFill>
              </a:rPr>
              <a:t>    }</a:t>
            </a:r>
            <a:br>
              <a:rPr lang="en" sz="1100" dirty="0">
                <a:solidFill>
                  <a:srgbClr val="434343"/>
                </a:solidFill>
              </a:rPr>
            </a:br>
            <a:r>
              <a:rPr lang="en" sz="1100" dirty="0">
                <a:solidFill>
                  <a:srgbClr val="434343"/>
                </a:solidFill>
              </a:rPr>
              <a:t>    return array_sum($area);</a:t>
            </a:r>
            <a:br>
              <a:rPr lang="en" sz="1100" dirty="0">
                <a:solidFill>
                  <a:srgbClr val="434343"/>
                </a:solidFill>
              </a:rPr>
            </a:br>
            <a:r>
              <a:rPr lang="en" sz="1100" dirty="0">
                <a:solidFill>
                  <a:srgbClr val="434343"/>
                </a:solidFill>
              </a:rPr>
              <a:t>}</a:t>
            </a:r>
            <a:br>
              <a:rPr lang="en" sz="1100" dirty="0">
                <a:solidFill>
                  <a:srgbClr val="434343"/>
                </a:solidFill>
              </a:rPr>
            </a:br>
            <a:endParaRPr sz="1100" dirty="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b="1" dirty="0">
              <a:solidFill>
                <a:srgbClr val="7F6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b="1" dirty="0">
              <a:solidFill>
                <a:srgbClr val="7F6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b="1" dirty="0">
              <a:solidFill>
                <a:srgbClr val="7F6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rgbClr val="434343"/>
              </a:solidFill>
            </a:endParaRPr>
          </a:p>
        </p:txBody>
      </p:sp>
      <p:sp>
        <p:nvSpPr>
          <p:cNvPr id="132" name="Google Shape;132;p24"/>
          <p:cNvSpPr txBox="1">
            <a:spLocks noGrp="1"/>
          </p:cNvSpPr>
          <p:nvPr>
            <p:ph type="body" idx="1"/>
          </p:nvPr>
        </p:nvSpPr>
        <p:spPr>
          <a:xfrm>
            <a:off x="285175" y="655200"/>
            <a:ext cx="8460900" cy="80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lang="en" sz="1800"/>
              <a:t>Objects or entities should be open for extension, but closed for modification</a:t>
            </a:r>
            <a:endParaRPr sz="180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i="1">
                <a:solidFill>
                  <a:srgbClr val="434343"/>
                </a:solidFill>
              </a:rPr>
              <a:t>Трябва да е възможно разширяването на класа, без да се налага да го променяме.</a:t>
            </a:r>
            <a:endParaRPr sz="1100" i="1">
              <a:solidFill>
                <a:srgbClr val="434343"/>
              </a:solidFill>
            </a:endParaRPr>
          </a:p>
          <a:p>
            <a:pPr marL="0" lvl="0" indent="0" algn="ctr" rtl="0"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sz="1800"/>
          </a:p>
        </p:txBody>
      </p:sp>
      <p:sp>
        <p:nvSpPr>
          <p:cNvPr id="133" name="Google Shape;133;p24"/>
          <p:cNvSpPr txBox="1">
            <a:spLocks noGrp="1"/>
          </p:cNvSpPr>
          <p:nvPr>
            <p:ph type="body" idx="1"/>
          </p:nvPr>
        </p:nvSpPr>
        <p:spPr>
          <a:xfrm>
            <a:off x="4892950" y="1462500"/>
            <a:ext cx="4001700" cy="36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b="1">
              <a:solidFill>
                <a:srgbClr val="7F6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b="1">
              <a:solidFill>
                <a:srgbClr val="7F6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i="1">
              <a:solidFill>
                <a:srgbClr val="7F6000"/>
              </a:solidFill>
            </a:endParaRPr>
          </a:p>
        </p:txBody>
      </p:sp>
      <p:sp>
        <p:nvSpPr>
          <p:cNvPr id="134" name="Google Shape;134;p24"/>
          <p:cNvSpPr txBox="1">
            <a:spLocks noGrp="1"/>
          </p:cNvSpPr>
          <p:nvPr>
            <p:ph type="body" idx="1"/>
          </p:nvPr>
        </p:nvSpPr>
        <p:spPr>
          <a:xfrm>
            <a:off x="4892950" y="1588125"/>
            <a:ext cx="4001700" cy="36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434343"/>
                </a:solidFill>
              </a:rPr>
              <a:t>Сега можем да създадем друг клас за друга геометрична фигура и да подаваме негови обекти </a:t>
            </a:r>
            <a:r>
              <a:rPr lang="en" sz="1100" dirty="0" smtClean="0">
                <a:solidFill>
                  <a:srgbClr val="434343"/>
                </a:solidFill>
              </a:rPr>
              <a:t>при </a:t>
            </a:r>
            <a:r>
              <a:rPr lang="en" sz="1100" dirty="0">
                <a:solidFill>
                  <a:srgbClr val="434343"/>
                </a:solidFill>
              </a:rPr>
              <a:t>изчисляване на общата сума.</a:t>
            </a:r>
            <a:endParaRPr sz="1100" dirty="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434343"/>
                </a:solidFill>
              </a:rPr>
              <a:t>Възниква въпросът - </a:t>
            </a:r>
            <a:r>
              <a:rPr lang="en" sz="1100" i="1" dirty="0">
                <a:solidFill>
                  <a:srgbClr val="783F04"/>
                </a:solidFill>
              </a:rPr>
              <a:t>Как да сме сигурни, че обектът подаван към AreaCalculator е геометрична фигура или дали този обект има метод, наречен area?</a:t>
            </a:r>
            <a:endParaRPr sz="1100" i="1" dirty="0">
              <a:solidFill>
                <a:srgbClr val="783F04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rgbClr val="783F04"/>
              </a:solidFill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5"/>
          <p:cNvSpPr txBox="1"/>
          <p:nvPr/>
        </p:nvSpPr>
        <p:spPr>
          <a:xfrm>
            <a:off x="0" y="-41317"/>
            <a:ext cx="9144000" cy="703800"/>
          </a:xfrm>
          <a:prstGeom prst="rect">
            <a:avLst/>
          </a:prstGeom>
          <a:gradFill>
            <a:gsLst>
              <a:gs pos="0">
                <a:srgbClr val="FFC002"/>
              </a:gs>
              <a:gs pos="100000">
                <a:srgbClr val="795B04"/>
              </a:gs>
            </a:gsLst>
            <a:path path="circle">
              <a:fillToRect l="50000" t="50000" r="50000" b="50000"/>
            </a:path>
            <a:tileRect/>
          </a:gra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Font typeface="Arial"/>
              <a:buNone/>
            </a:pPr>
            <a:r>
              <a:rPr lang="en" sz="3600" b="1">
                <a:solidFill>
                  <a:schemeClr val="lt1"/>
                </a:solidFill>
              </a:rPr>
              <a:t>O - open-closed principle</a:t>
            </a:r>
            <a:endParaRPr sz="3600" b="1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25"/>
          <p:cNvSpPr txBox="1">
            <a:spLocks noGrp="1"/>
          </p:cNvSpPr>
          <p:nvPr>
            <p:ph type="body" idx="1"/>
          </p:nvPr>
        </p:nvSpPr>
        <p:spPr>
          <a:xfrm>
            <a:off x="338225" y="1462500"/>
            <a:ext cx="4001700" cy="36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i="1">
              <a:solidFill>
                <a:srgbClr val="783F04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i="1">
                <a:solidFill>
                  <a:srgbClr val="783F04"/>
                </a:solidFill>
              </a:rPr>
              <a:t>Как да сме сигурни, че обектът подаван към AreaCalculator е геометрична фигура или дали този обект има метод, наречен area?</a:t>
            </a:r>
            <a:endParaRPr sz="1100" i="1">
              <a:solidFill>
                <a:srgbClr val="783F04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i="1">
              <a:solidFill>
                <a:srgbClr val="783F04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i="1">
              <a:solidFill>
                <a:srgbClr val="783F04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434343"/>
                </a:solidFill>
              </a:rPr>
              <a:t>За да решим този проблем използваме интерфейс, което е неразделна част от S.O.L.I.D</a:t>
            </a:r>
            <a:endParaRPr sz="110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434343"/>
                </a:solidFill>
              </a:rPr>
              <a:t>Този интерфейс ще се имплементира от всеки клас, отговарящ за геометрична фигура.</a:t>
            </a:r>
            <a:endParaRPr sz="1100">
              <a:solidFill>
                <a:srgbClr val="7F6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b="1">
              <a:solidFill>
                <a:srgbClr val="7F6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b="1">
              <a:solidFill>
                <a:srgbClr val="7F6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b="1">
              <a:solidFill>
                <a:srgbClr val="7F6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rgbClr val="434343"/>
              </a:solidFill>
            </a:endParaRPr>
          </a:p>
        </p:txBody>
      </p:sp>
      <p:sp>
        <p:nvSpPr>
          <p:cNvPr id="141" name="Google Shape;141;p25"/>
          <p:cNvSpPr txBox="1">
            <a:spLocks noGrp="1"/>
          </p:cNvSpPr>
          <p:nvPr>
            <p:ph type="body" idx="1"/>
          </p:nvPr>
        </p:nvSpPr>
        <p:spPr>
          <a:xfrm>
            <a:off x="285175" y="655200"/>
            <a:ext cx="8460900" cy="80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lang="en" sz="1800" dirty="0"/>
              <a:t>Objects or entities should be open for extension, but closed for modification</a:t>
            </a:r>
            <a:endParaRPr sz="1800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i="1" dirty="0">
                <a:solidFill>
                  <a:srgbClr val="434343"/>
                </a:solidFill>
              </a:rPr>
              <a:t>Трябва да е възможно разширяването на класа, без да се налага да го променяме.</a:t>
            </a:r>
            <a:endParaRPr sz="1100" i="1" dirty="0">
              <a:solidFill>
                <a:srgbClr val="434343"/>
              </a:solidFill>
            </a:endParaRPr>
          </a:p>
          <a:p>
            <a:pPr marL="0" lvl="0" indent="0" algn="ctr" rtl="0"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sz="1800" dirty="0"/>
          </a:p>
        </p:txBody>
      </p:sp>
      <p:sp>
        <p:nvSpPr>
          <p:cNvPr id="142" name="Google Shape;142;p25"/>
          <p:cNvSpPr txBox="1">
            <a:spLocks noGrp="1"/>
          </p:cNvSpPr>
          <p:nvPr>
            <p:ph type="body" idx="1"/>
          </p:nvPr>
        </p:nvSpPr>
        <p:spPr>
          <a:xfrm>
            <a:off x="4892950" y="1462500"/>
            <a:ext cx="4001700" cy="36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b="1">
              <a:solidFill>
                <a:srgbClr val="7F6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b="1">
              <a:solidFill>
                <a:srgbClr val="7F6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i="1">
              <a:solidFill>
                <a:srgbClr val="7F6000"/>
              </a:solidFill>
            </a:endParaRPr>
          </a:p>
        </p:txBody>
      </p:sp>
      <p:sp>
        <p:nvSpPr>
          <p:cNvPr id="143" name="Google Shape;143;p25"/>
          <p:cNvSpPr txBox="1">
            <a:spLocks noGrp="1"/>
          </p:cNvSpPr>
          <p:nvPr>
            <p:ph type="body" idx="1"/>
          </p:nvPr>
        </p:nvSpPr>
        <p:spPr>
          <a:xfrm>
            <a:off x="4892950" y="1588125"/>
            <a:ext cx="4001700" cy="36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B45F06"/>
                </a:solidFill>
              </a:rPr>
              <a:t>interface ShapeInterface {</a:t>
            </a:r>
            <a:br>
              <a:rPr lang="en" sz="1100" dirty="0">
                <a:solidFill>
                  <a:srgbClr val="B45F06"/>
                </a:solidFill>
              </a:rPr>
            </a:br>
            <a:r>
              <a:rPr lang="en" sz="1100" dirty="0">
                <a:solidFill>
                  <a:srgbClr val="B45F06"/>
                </a:solidFill>
              </a:rPr>
              <a:t>    public function calc_area();</a:t>
            </a:r>
            <a:br>
              <a:rPr lang="en" sz="1100" dirty="0">
                <a:solidFill>
                  <a:srgbClr val="B45F06"/>
                </a:solidFill>
              </a:rPr>
            </a:br>
            <a:r>
              <a:rPr lang="en" sz="1100" dirty="0">
                <a:solidFill>
                  <a:srgbClr val="B45F06"/>
                </a:solidFill>
              </a:rPr>
              <a:t>}</a:t>
            </a:r>
            <a:br>
              <a:rPr lang="en" sz="1100" dirty="0">
                <a:solidFill>
                  <a:srgbClr val="B45F06"/>
                </a:solidFill>
              </a:rPr>
            </a:br>
            <a:r>
              <a:rPr lang="en" sz="1100" dirty="0">
                <a:solidFill>
                  <a:srgbClr val="434343"/>
                </a:solidFill>
              </a:rPr>
              <a:t/>
            </a:r>
            <a:br>
              <a:rPr lang="en" sz="1100" dirty="0">
                <a:solidFill>
                  <a:srgbClr val="434343"/>
                </a:solidFill>
              </a:rPr>
            </a:br>
            <a:r>
              <a:rPr lang="en" sz="1100" dirty="0">
                <a:solidFill>
                  <a:srgbClr val="434343"/>
                </a:solidFill>
              </a:rPr>
              <a:t>class Circle implements ShapeInterface {</a:t>
            </a:r>
            <a:br>
              <a:rPr lang="en" sz="1100" dirty="0">
                <a:solidFill>
                  <a:srgbClr val="434343"/>
                </a:solidFill>
              </a:rPr>
            </a:br>
            <a:r>
              <a:rPr lang="en" sz="1100" dirty="0">
                <a:solidFill>
                  <a:srgbClr val="434343"/>
                </a:solidFill>
              </a:rPr>
              <a:t>    public $radius;</a:t>
            </a:r>
            <a:br>
              <a:rPr lang="en" sz="1100" dirty="0">
                <a:solidFill>
                  <a:srgbClr val="434343"/>
                </a:solidFill>
              </a:rPr>
            </a:br>
            <a:r>
              <a:rPr lang="en" sz="1100" dirty="0">
                <a:solidFill>
                  <a:srgbClr val="434343"/>
                </a:solidFill>
              </a:rPr>
              <a:t/>
            </a:r>
            <a:br>
              <a:rPr lang="en" sz="1100" dirty="0">
                <a:solidFill>
                  <a:srgbClr val="434343"/>
                </a:solidFill>
              </a:rPr>
            </a:br>
            <a:r>
              <a:rPr lang="en" sz="1100" dirty="0">
                <a:solidFill>
                  <a:srgbClr val="434343"/>
                </a:solidFill>
              </a:rPr>
              <a:t>    public function __construct($radius) {</a:t>
            </a:r>
            <a:br>
              <a:rPr lang="en" sz="1100" dirty="0">
                <a:solidFill>
                  <a:srgbClr val="434343"/>
                </a:solidFill>
              </a:rPr>
            </a:br>
            <a:r>
              <a:rPr lang="en" sz="1100" dirty="0">
                <a:solidFill>
                  <a:srgbClr val="434343"/>
                </a:solidFill>
              </a:rPr>
              <a:t>        $this-&gt;radius = $radius;</a:t>
            </a:r>
            <a:br>
              <a:rPr lang="en" sz="1100" dirty="0">
                <a:solidFill>
                  <a:srgbClr val="434343"/>
                </a:solidFill>
              </a:rPr>
            </a:br>
            <a:r>
              <a:rPr lang="en" sz="1100" dirty="0">
                <a:solidFill>
                  <a:srgbClr val="434343"/>
                </a:solidFill>
              </a:rPr>
              <a:t>    }</a:t>
            </a:r>
            <a:br>
              <a:rPr lang="en" sz="1100" dirty="0">
                <a:solidFill>
                  <a:srgbClr val="434343"/>
                </a:solidFill>
              </a:rPr>
            </a:br>
            <a:r>
              <a:rPr lang="en" sz="1100" dirty="0">
                <a:solidFill>
                  <a:srgbClr val="434343"/>
                </a:solidFill>
              </a:rPr>
              <a:t/>
            </a:r>
            <a:br>
              <a:rPr lang="en" sz="1100" dirty="0">
                <a:solidFill>
                  <a:srgbClr val="434343"/>
                </a:solidFill>
              </a:rPr>
            </a:br>
            <a:r>
              <a:rPr lang="en" sz="1100" dirty="0">
                <a:solidFill>
                  <a:srgbClr val="434343"/>
                </a:solidFill>
              </a:rPr>
              <a:t>    public </a:t>
            </a:r>
            <a:r>
              <a:rPr lang="en" sz="1100" dirty="0" smtClean="0">
                <a:solidFill>
                  <a:srgbClr val="434343"/>
                </a:solidFill>
              </a:rPr>
              <a:t>function</a:t>
            </a:r>
            <a:r>
              <a:rPr lang="en-US" sz="1100" dirty="0" smtClean="0">
                <a:solidFill>
                  <a:srgbClr val="434343"/>
                </a:solidFill>
              </a:rPr>
              <a:t> </a:t>
            </a:r>
            <a:r>
              <a:rPr lang="en-US" sz="1100" dirty="0" err="1" smtClean="0">
                <a:solidFill>
                  <a:srgbClr val="434343"/>
                </a:solidFill>
              </a:rPr>
              <a:t>calc_area</a:t>
            </a:r>
            <a:r>
              <a:rPr lang="en-US" sz="1100" dirty="0" smtClean="0">
                <a:solidFill>
                  <a:srgbClr val="434343"/>
                </a:solidFill>
              </a:rPr>
              <a:t>()</a:t>
            </a:r>
            <a:r>
              <a:rPr lang="en" sz="1100" dirty="0" smtClean="0">
                <a:solidFill>
                  <a:srgbClr val="434343"/>
                </a:solidFill>
              </a:rPr>
              <a:t> </a:t>
            </a:r>
            <a:r>
              <a:rPr lang="en" sz="1100" dirty="0">
                <a:solidFill>
                  <a:srgbClr val="434343"/>
                </a:solidFill>
              </a:rPr>
              <a:t>{</a:t>
            </a:r>
            <a:br>
              <a:rPr lang="en" sz="1100" dirty="0">
                <a:solidFill>
                  <a:srgbClr val="434343"/>
                </a:solidFill>
              </a:rPr>
            </a:br>
            <a:r>
              <a:rPr lang="en" sz="1100" dirty="0">
                <a:solidFill>
                  <a:srgbClr val="434343"/>
                </a:solidFill>
              </a:rPr>
              <a:t>        return pi() * pow($this-&gt;radius, 2);</a:t>
            </a:r>
            <a:br>
              <a:rPr lang="en" sz="1100" dirty="0">
                <a:solidFill>
                  <a:srgbClr val="434343"/>
                </a:solidFill>
              </a:rPr>
            </a:br>
            <a:r>
              <a:rPr lang="en" sz="1100" dirty="0">
                <a:solidFill>
                  <a:srgbClr val="434343"/>
                </a:solidFill>
              </a:rPr>
              <a:t>    }</a:t>
            </a:r>
            <a:br>
              <a:rPr lang="en" sz="1100" dirty="0">
                <a:solidFill>
                  <a:srgbClr val="434343"/>
                </a:solidFill>
              </a:rPr>
            </a:br>
            <a:r>
              <a:rPr lang="en" sz="1100" dirty="0">
                <a:solidFill>
                  <a:srgbClr val="434343"/>
                </a:solidFill>
              </a:rPr>
              <a:t>} </a:t>
            </a:r>
            <a:endParaRPr sz="1100" dirty="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rgbClr val="783F04"/>
              </a:solidFill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6"/>
          <p:cNvSpPr txBox="1"/>
          <p:nvPr/>
        </p:nvSpPr>
        <p:spPr>
          <a:xfrm>
            <a:off x="0" y="-41317"/>
            <a:ext cx="9144000" cy="703800"/>
          </a:xfrm>
          <a:prstGeom prst="rect">
            <a:avLst/>
          </a:prstGeom>
          <a:gradFill>
            <a:gsLst>
              <a:gs pos="0">
                <a:srgbClr val="FFC002"/>
              </a:gs>
              <a:gs pos="100000">
                <a:srgbClr val="795B04"/>
              </a:gs>
            </a:gsLst>
            <a:path path="circle">
              <a:fillToRect l="50000" t="50000" r="50000" b="50000"/>
            </a:path>
            <a:tileRect/>
          </a:gra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Font typeface="Arial"/>
              <a:buNone/>
            </a:pPr>
            <a:r>
              <a:rPr lang="en" sz="3600" b="1">
                <a:solidFill>
                  <a:schemeClr val="lt1"/>
                </a:solidFill>
              </a:rPr>
              <a:t>O - open-closed principle</a:t>
            </a:r>
            <a:endParaRPr sz="3600" b="1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6"/>
          <p:cNvSpPr txBox="1">
            <a:spLocks noGrp="1"/>
          </p:cNvSpPr>
          <p:nvPr>
            <p:ph type="body" idx="1"/>
          </p:nvPr>
        </p:nvSpPr>
        <p:spPr>
          <a:xfrm>
            <a:off x="338225" y="1462500"/>
            <a:ext cx="4001700" cy="36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i="1">
              <a:solidFill>
                <a:srgbClr val="783F04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434343"/>
                </a:solidFill>
              </a:rPr>
              <a:t>В sum методът на </a:t>
            </a:r>
            <a:r>
              <a:rPr lang="en" sz="1100" b="1">
                <a:solidFill>
                  <a:srgbClr val="434343"/>
                </a:solidFill>
              </a:rPr>
              <a:t>AreaCalculator</a:t>
            </a:r>
            <a:r>
              <a:rPr lang="en" sz="1100">
                <a:solidFill>
                  <a:srgbClr val="434343"/>
                </a:solidFill>
              </a:rPr>
              <a:t> проверяваме дали подаваната геометрична фигура в действителност е истанция на клас, който имплементира </a:t>
            </a:r>
            <a:r>
              <a:rPr lang="en" sz="1100" b="1">
                <a:solidFill>
                  <a:srgbClr val="434343"/>
                </a:solidFill>
              </a:rPr>
              <a:t>ShapeInterface</a:t>
            </a:r>
            <a:r>
              <a:rPr lang="en" sz="1100">
                <a:solidFill>
                  <a:srgbClr val="434343"/>
                </a:solidFill>
              </a:rPr>
              <a:t>.</a:t>
            </a:r>
            <a:endParaRPr sz="110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434343"/>
                </a:solidFill>
              </a:rPr>
              <a:t>В случай, че не е - връщаме подходящо съобщение, грешка и т.н</a:t>
            </a:r>
            <a:endParaRPr sz="110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b="1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b="1">
              <a:solidFill>
                <a:srgbClr val="7F6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b="1">
              <a:solidFill>
                <a:srgbClr val="7F6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rgbClr val="434343"/>
              </a:solidFill>
            </a:endParaRPr>
          </a:p>
        </p:txBody>
      </p:sp>
      <p:sp>
        <p:nvSpPr>
          <p:cNvPr id="150" name="Google Shape;150;p26"/>
          <p:cNvSpPr txBox="1">
            <a:spLocks noGrp="1"/>
          </p:cNvSpPr>
          <p:nvPr>
            <p:ph type="body" idx="1"/>
          </p:nvPr>
        </p:nvSpPr>
        <p:spPr>
          <a:xfrm>
            <a:off x="285175" y="655200"/>
            <a:ext cx="8460900" cy="80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lang="en" sz="1800"/>
              <a:t>Objects or entities should be open for extension, but closed for modification</a:t>
            </a:r>
            <a:endParaRPr sz="180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i="1">
                <a:solidFill>
                  <a:srgbClr val="434343"/>
                </a:solidFill>
              </a:rPr>
              <a:t>Трябва да е възможно разширяването на класа, без да се налага да го променяме.</a:t>
            </a:r>
            <a:endParaRPr sz="1100" i="1">
              <a:solidFill>
                <a:srgbClr val="434343"/>
              </a:solidFill>
            </a:endParaRPr>
          </a:p>
          <a:p>
            <a:pPr marL="0" lvl="0" indent="0" algn="ctr" rtl="0"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sz="1800"/>
          </a:p>
        </p:txBody>
      </p:sp>
      <p:sp>
        <p:nvSpPr>
          <p:cNvPr id="151" name="Google Shape;151;p26"/>
          <p:cNvSpPr txBox="1">
            <a:spLocks noGrp="1"/>
          </p:cNvSpPr>
          <p:nvPr>
            <p:ph type="body" idx="1"/>
          </p:nvPr>
        </p:nvSpPr>
        <p:spPr>
          <a:xfrm>
            <a:off x="4892950" y="1462500"/>
            <a:ext cx="4001700" cy="36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b="1">
              <a:solidFill>
                <a:srgbClr val="7F6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b="1">
              <a:solidFill>
                <a:srgbClr val="7F6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i="1">
              <a:solidFill>
                <a:srgbClr val="7F6000"/>
              </a:solidFill>
            </a:endParaRPr>
          </a:p>
        </p:txBody>
      </p:sp>
      <p:sp>
        <p:nvSpPr>
          <p:cNvPr id="152" name="Google Shape;152;p26"/>
          <p:cNvSpPr txBox="1">
            <a:spLocks noGrp="1"/>
          </p:cNvSpPr>
          <p:nvPr>
            <p:ph type="body" idx="1"/>
          </p:nvPr>
        </p:nvSpPr>
        <p:spPr>
          <a:xfrm>
            <a:off x="4892950" y="1588125"/>
            <a:ext cx="4001700" cy="36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rgbClr val="B45F06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rgbClr val="B45F06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434343"/>
                </a:solidFill>
              </a:rPr>
              <a:t>public function sum() {</a:t>
            </a:r>
            <a:br>
              <a:rPr lang="en" sz="1100" dirty="0">
                <a:solidFill>
                  <a:srgbClr val="434343"/>
                </a:solidFill>
              </a:rPr>
            </a:br>
            <a:r>
              <a:rPr lang="en" sz="1100" dirty="0">
                <a:solidFill>
                  <a:srgbClr val="434343"/>
                </a:solidFill>
              </a:rPr>
              <a:t>    foreach($this-&gt;shapes as $shape) {</a:t>
            </a:r>
            <a:br>
              <a:rPr lang="en" sz="1100" dirty="0">
                <a:solidFill>
                  <a:srgbClr val="434343"/>
                </a:solidFill>
              </a:rPr>
            </a:br>
            <a:r>
              <a:rPr lang="en" sz="1100" dirty="0">
                <a:solidFill>
                  <a:srgbClr val="434343"/>
                </a:solidFill>
              </a:rPr>
              <a:t>        if(is_a($shape, 'ShapeInterface')) {</a:t>
            </a:r>
            <a:br>
              <a:rPr lang="en" sz="1100" dirty="0">
                <a:solidFill>
                  <a:srgbClr val="434343"/>
                </a:solidFill>
              </a:rPr>
            </a:br>
            <a:r>
              <a:rPr lang="en" sz="1100" dirty="0">
                <a:solidFill>
                  <a:srgbClr val="434343"/>
                </a:solidFill>
              </a:rPr>
              <a:t>            $area[] = $shape-&gt;area</a:t>
            </a:r>
            <a:r>
              <a:rPr lang="en" sz="1100" dirty="0" smtClean="0">
                <a:solidFill>
                  <a:srgbClr val="434343"/>
                </a:solidFill>
              </a:rPr>
              <a:t>();            </a:t>
            </a:r>
            <a:r>
              <a:rPr lang="en" sz="1100" dirty="0">
                <a:solidFill>
                  <a:srgbClr val="434343"/>
                </a:solidFill>
              </a:rPr>
              <a:t/>
            </a:r>
            <a:br>
              <a:rPr lang="en" sz="1100" dirty="0">
                <a:solidFill>
                  <a:srgbClr val="434343"/>
                </a:solidFill>
              </a:rPr>
            </a:br>
            <a:r>
              <a:rPr lang="en" sz="1100" dirty="0">
                <a:solidFill>
                  <a:srgbClr val="434343"/>
                </a:solidFill>
              </a:rPr>
              <a:t>        } else {</a:t>
            </a:r>
            <a:endParaRPr sz="1100" dirty="0">
              <a:solidFill>
                <a:srgbClr val="434343"/>
              </a:solidFill>
            </a:endParaRPr>
          </a:p>
          <a:p>
            <a:pPr marL="0" lvl="0" indent="0"/>
            <a:r>
              <a:rPr lang="en" sz="1100" dirty="0">
                <a:solidFill>
                  <a:srgbClr val="434343"/>
                </a:solidFill>
              </a:rPr>
              <a:t> </a:t>
            </a:r>
            <a:r>
              <a:rPr lang="en" sz="1100" dirty="0" smtClean="0">
                <a:solidFill>
                  <a:srgbClr val="434343"/>
                </a:solidFill>
              </a:rPr>
              <a:t>           continue;</a:t>
            </a:r>
          </a:p>
          <a:p>
            <a:pPr marL="0" lvl="0" indent="0"/>
            <a:r>
              <a:rPr lang="en" sz="1100" dirty="0">
                <a:solidFill>
                  <a:srgbClr val="434343"/>
                </a:solidFill>
              </a:rPr>
              <a:t> </a:t>
            </a:r>
            <a:r>
              <a:rPr lang="en" sz="1100" dirty="0" smtClean="0">
                <a:solidFill>
                  <a:srgbClr val="434343"/>
                </a:solidFill>
              </a:rPr>
              <a:t>      }</a:t>
            </a:r>
            <a:r>
              <a:rPr lang="en" sz="1100" dirty="0">
                <a:solidFill>
                  <a:srgbClr val="434343"/>
                </a:solidFill>
              </a:rPr>
              <a:t/>
            </a:r>
            <a:br>
              <a:rPr lang="en" sz="1100" dirty="0">
                <a:solidFill>
                  <a:srgbClr val="434343"/>
                </a:solidFill>
              </a:rPr>
            </a:br>
            <a:r>
              <a:rPr lang="en" sz="1100" dirty="0">
                <a:solidFill>
                  <a:srgbClr val="434343"/>
                </a:solidFill>
              </a:rPr>
              <a:t>      }</a:t>
            </a:r>
            <a:br>
              <a:rPr lang="en" sz="1100" dirty="0">
                <a:solidFill>
                  <a:srgbClr val="434343"/>
                </a:solidFill>
              </a:rPr>
            </a:br>
            <a:r>
              <a:rPr lang="en" sz="1100" dirty="0">
                <a:solidFill>
                  <a:srgbClr val="434343"/>
                </a:solidFill>
              </a:rPr>
              <a:t/>
            </a:r>
            <a:br>
              <a:rPr lang="en" sz="1100" dirty="0">
                <a:solidFill>
                  <a:srgbClr val="434343"/>
                </a:solidFill>
              </a:rPr>
            </a:br>
            <a:r>
              <a:rPr lang="en" sz="1100" dirty="0">
                <a:solidFill>
                  <a:srgbClr val="434343"/>
                </a:solidFill>
              </a:rPr>
              <a:t>    return array_sum($area);</a:t>
            </a:r>
            <a:br>
              <a:rPr lang="en" sz="1100" dirty="0">
                <a:solidFill>
                  <a:srgbClr val="434343"/>
                </a:solidFill>
              </a:rPr>
            </a:br>
            <a:r>
              <a:rPr lang="en" sz="1100" dirty="0">
                <a:solidFill>
                  <a:srgbClr val="434343"/>
                </a:solidFill>
              </a:rPr>
              <a:t>}   </a:t>
            </a:r>
            <a:endParaRPr sz="1100" dirty="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rgbClr val="783F04"/>
              </a:solidFill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48208"/>
            </a:gs>
            <a:gs pos="100000">
              <a:srgbClr val="703E08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7"/>
          <p:cNvSpPr txBox="1">
            <a:spLocks noGrp="1"/>
          </p:cNvSpPr>
          <p:nvPr>
            <p:ph type="title"/>
          </p:nvPr>
        </p:nvSpPr>
        <p:spPr>
          <a:xfrm>
            <a:off x="224720" y="1931842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Font typeface="Arial"/>
              <a:buNone/>
            </a:pPr>
            <a:r>
              <a:rPr lang="en" sz="3600" b="1">
                <a:solidFill>
                  <a:schemeClr val="lt1"/>
                </a:solidFill>
              </a:rPr>
              <a:t>L - Liskov substitution principle</a:t>
            </a:r>
            <a:endParaRPr sz="3600" b="1">
              <a:solidFill>
                <a:schemeClr val="lt1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endParaRPr sz="4000" b="1">
              <a:solidFill>
                <a:srgbClr val="FFC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8"/>
          <p:cNvSpPr txBox="1"/>
          <p:nvPr/>
        </p:nvSpPr>
        <p:spPr>
          <a:xfrm>
            <a:off x="0" y="-41317"/>
            <a:ext cx="9144000" cy="703800"/>
          </a:xfrm>
          <a:prstGeom prst="rect">
            <a:avLst/>
          </a:prstGeom>
          <a:gradFill>
            <a:gsLst>
              <a:gs pos="0">
                <a:srgbClr val="F48208"/>
              </a:gs>
              <a:gs pos="100000">
                <a:srgbClr val="703E08"/>
              </a:gs>
            </a:gsLst>
            <a:path path="circle">
              <a:fillToRect l="50000" t="50000" r="50000" b="50000"/>
            </a:path>
            <a:tileRect/>
          </a:gra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Font typeface="Arial"/>
              <a:buNone/>
            </a:pPr>
            <a:r>
              <a:rPr lang="en" sz="3600" b="1">
                <a:solidFill>
                  <a:schemeClr val="lt1"/>
                </a:solidFill>
              </a:rPr>
              <a:t>L - Liskov substitution principle</a:t>
            </a:r>
            <a:endParaRPr sz="3600" b="1">
              <a:solidFill>
                <a:schemeClr val="lt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endParaRPr sz="4000" b="1">
              <a:solidFill>
                <a:srgbClr val="FFC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Font typeface="Arial"/>
              <a:buNone/>
            </a:pPr>
            <a:endParaRPr sz="3600" b="1">
              <a:solidFill>
                <a:schemeClr val="lt1"/>
              </a:solidFill>
            </a:endParaRPr>
          </a:p>
        </p:txBody>
      </p:sp>
      <p:sp>
        <p:nvSpPr>
          <p:cNvPr id="163" name="Google Shape;163;p28"/>
          <p:cNvSpPr txBox="1">
            <a:spLocks noGrp="1"/>
          </p:cNvSpPr>
          <p:nvPr>
            <p:ph type="body" idx="1"/>
          </p:nvPr>
        </p:nvSpPr>
        <p:spPr>
          <a:xfrm>
            <a:off x="338225" y="1462500"/>
            <a:ext cx="4001700" cy="36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909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434343"/>
                </a:solidFill>
              </a:rPr>
              <a:t>LSP - обектите от клас наследник трябва да заменят обекти на родителския клас, без това да води до грешки в програмата и без да променят поведението на родителския клас.</a:t>
            </a:r>
            <a:endParaRPr sz="1100" dirty="0">
              <a:solidFill>
                <a:srgbClr val="434343"/>
              </a:solidFill>
            </a:endParaRPr>
          </a:p>
          <a:p>
            <a:pPr marL="0" lvl="0" indent="0" algn="l" rtl="0">
              <a:lnSpc>
                <a:spcPct val="10909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434343"/>
                </a:solidFill>
              </a:rPr>
              <a:t>Или ако S е наследник на T, обект от T може да бъде заменен с обект от S без това да се отрази на програмата или да доведе до грешки в системата.</a:t>
            </a:r>
            <a:endParaRPr sz="1100" dirty="0">
              <a:solidFill>
                <a:srgbClr val="434343"/>
              </a:solidFill>
            </a:endParaRPr>
          </a:p>
          <a:p>
            <a:pPr marL="0" lvl="0" indent="0" algn="l" rtl="0">
              <a:lnSpc>
                <a:spcPct val="10909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i="1" dirty="0">
                <a:solidFill>
                  <a:srgbClr val="434343"/>
                </a:solidFill>
              </a:rPr>
              <a:t>Нека дефинираме клас Rectangle/правоъгълник/ и друг клас Square/квадрат/. </a:t>
            </a:r>
            <a:endParaRPr sz="1100" i="1" dirty="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 dirty="0">
              <a:solidFill>
                <a:srgbClr val="434343"/>
              </a:solidFill>
            </a:endParaRPr>
          </a:p>
        </p:txBody>
      </p:sp>
      <p:sp>
        <p:nvSpPr>
          <p:cNvPr id="164" name="Google Shape;164;p28"/>
          <p:cNvSpPr txBox="1">
            <a:spLocks noGrp="1"/>
          </p:cNvSpPr>
          <p:nvPr>
            <p:ph type="body" idx="1"/>
          </p:nvPr>
        </p:nvSpPr>
        <p:spPr>
          <a:xfrm>
            <a:off x="285175" y="655200"/>
            <a:ext cx="8460900" cy="80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>
              <a:spcBef>
                <a:spcPts val="1600"/>
              </a:spcBef>
            </a:pPr>
            <a:r>
              <a:rPr lang="en-US" sz="1200" dirty="0"/>
              <a:t>any class that is the child of a parent class should be usable in place of its parent without any unexpected </a:t>
            </a:r>
            <a:r>
              <a:rPr lang="en-US" sz="1200" dirty="0" err="1" smtClean="0"/>
              <a:t>behaviour</a:t>
            </a:r>
            <a:endParaRPr sz="1800" dirty="0"/>
          </a:p>
        </p:txBody>
      </p:sp>
      <p:sp>
        <p:nvSpPr>
          <p:cNvPr id="165" name="Google Shape;165;p28"/>
          <p:cNvSpPr txBox="1">
            <a:spLocks noGrp="1"/>
          </p:cNvSpPr>
          <p:nvPr>
            <p:ph type="body" idx="1"/>
          </p:nvPr>
        </p:nvSpPr>
        <p:spPr>
          <a:xfrm>
            <a:off x="4892950" y="1462500"/>
            <a:ext cx="4001700" cy="36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b="1">
              <a:solidFill>
                <a:srgbClr val="7F6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b="1">
              <a:solidFill>
                <a:srgbClr val="7F6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i="1">
              <a:solidFill>
                <a:srgbClr val="7F6000"/>
              </a:solidFill>
            </a:endParaRPr>
          </a:p>
        </p:txBody>
      </p:sp>
      <p:sp>
        <p:nvSpPr>
          <p:cNvPr id="166" name="Google Shape;166;p28"/>
          <p:cNvSpPr txBox="1">
            <a:spLocks noGrp="1"/>
          </p:cNvSpPr>
          <p:nvPr>
            <p:ph type="body" idx="1"/>
          </p:nvPr>
        </p:nvSpPr>
        <p:spPr>
          <a:xfrm>
            <a:off x="4892950" y="1588125"/>
            <a:ext cx="4001700" cy="36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1"/>
                </a:solidFill>
              </a:rPr>
              <a:t>Class Rectangle {</a:t>
            </a:r>
            <a:endParaRPr sz="12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1"/>
                </a:solidFill>
              </a:rPr>
              <a:t>	public $width;</a:t>
            </a:r>
            <a:endParaRPr sz="12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1"/>
                </a:solidFill>
              </a:rPr>
              <a:t>	public $height;</a:t>
            </a:r>
            <a:endParaRPr sz="12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1"/>
                </a:solidFill>
              </a:rPr>
              <a:t>	public function __construct($w, $h){</a:t>
            </a:r>
            <a:endParaRPr sz="12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1"/>
                </a:solidFill>
              </a:rPr>
              <a:t>	…..</a:t>
            </a:r>
            <a:endParaRPr sz="1200" dirty="0">
              <a:solidFill>
                <a:schemeClr val="dk1"/>
              </a:solidFill>
            </a:endParaRPr>
          </a:p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1"/>
                </a:solidFill>
              </a:rPr>
              <a:t>}</a:t>
            </a:r>
            <a:endParaRPr sz="1200" dirty="0">
              <a:solidFill>
                <a:schemeClr val="dk1"/>
              </a:solidFill>
            </a:endParaRPr>
          </a:p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1"/>
              </a:solidFill>
            </a:endParaRPr>
          </a:p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1"/>
                </a:solidFill>
              </a:rPr>
              <a:t>public function area_calc(){</a:t>
            </a:r>
            <a:endParaRPr sz="1200" dirty="0">
              <a:solidFill>
                <a:schemeClr val="dk1"/>
              </a:solidFill>
            </a:endParaRPr>
          </a:p>
          <a:p>
            <a:pPr marL="457200" lvl="0" indent="45720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1"/>
                </a:solidFill>
              </a:rPr>
              <a:t>return  $this-&gt;width*$this-&gt;height;</a:t>
            </a:r>
            <a:endParaRPr sz="1200" dirty="0">
              <a:solidFill>
                <a:schemeClr val="dk1"/>
              </a:solidFill>
            </a:endParaRPr>
          </a:p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1"/>
                </a:solidFill>
              </a:rPr>
              <a:t>}</a:t>
            </a:r>
            <a:endParaRPr sz="12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1"/>
                </a:solidFill>
              </a:rPr>
              <a:t>}</a:t>
            </a:r>
            <a:endParaRPr sz="12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700" b="1" dirty="0">
              <a:solidFill>
                <a:schemeClr val="dk1"/>
              </a:solidFill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9"/>
          <p:cNvSpPr txBox="1"/>
          <p:nvPr/>
        </p:nvSpPr>
        <p:spPr>
          <a:xfrm>
            <a:off x="0" y="-41317"/>
            <a:ext cx="9144000" cy="703800"/>
          </a:xfrm>
          <a:prstGeom prst="rect">
            <a:avLst/>
          </a:prstGeom>
          <a:gradFill>
            <a:gsLst>
              <a:gs pos="0">
                <a:srgbClr val="F48208"/>
              </a:gs>
              <a:gs pos="100000">
                <a:srgbClr val="703E08"/>
              </a:gs>
            </a:gsLst>
            <a:path path="circle">
              <a:fillToRect l="50000" t="50000" r="50000" b="50000"/>
            </a:path>
            <a:tileRect/>
          </a:gra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Font typeface="Arial"/>
              <a:buNone/>
            </a:pPr>
            <a:r>
              <a:rPr lang="en" sz="3600" b="1">
                <a:solidFill>
                  <a:schemeClr val="lt1"/>
                </a:solidFill>
              </a:rPr>
              <a:t>L - Liskov substitution principle</a:t>
            </a:r>
            <a:endParaRPr sz="3600" b="1">
              <a:solidFill>
                <a:schemeClr val="lt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endParaRPr sz="4000" b="1">
              <a:solidFill>
                <a:srgbClr val="FFC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Font typeface="Arial"/>
              <a:buNone/>
            </a:pPr>
            <a:endParaRPr sz="3600" b="1">
              <a:solidFill>
                <a:schemeClr val="lt1"/>
              </a:solidFill>
            </a:endParaRPr>
          </a:p>
        </p:txBody>
      </p:sp>
      <p:sp>
        <p:nvSpPr>
          <p:cNvPr id="172" name="Google Shape;172;p29"/>
          <p:cNvSpPr txBox="1">
            <a:spLocks noGrp="1"/>
          </p:cNvSpPr>
          <p:nvPr>
            <p:ph type="body" idx="1"/>
          </p:nvPr>
        </p:nvSpPr>
        <p:spPr>
          <a:xfrm>
            <a:off x="338225" y="1462500"/>
            <a:ext cx="4001700" cy="36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909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rgbClr val="434343"/>
                </a:solidFill>
              </a:rPr>
              <a:t>В геометрията Квадратът е Правоъгълник или с други думи Square наследява Rectangle.</a:t>
            </a:r>
            <a:endParaRPr sz="1100">
              <a:solidFill>
                <a:srgbClr val="434343"/>
              </a:solidFill>
            </a:endParaRPr>
          </a:p>
          <a:p>
            <a:pPr marL="0" lvl="0" indent="0" algn="l" rtl="0">
              <a:lnSpc>
                <a:spcPct val="10909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rgbClr val="434343"/>
                </a:solidFill>
              </a:rPr>
              <a:t>Дали това е коректно от гледна точка на програмирането и на LSP - трябва да заменяме обектите на Rectangle с обектите на Square без това да води до нежелани промени или грешки в системата ….</a:t>
            </a:r>
            <a:endParaRPr sz="1100">
              <a:solidFill>
                <a:srgbClr val="434343"/>
              </a:solidFill>
            </a:endParaRPr>
          </a:p>
          <a:p>
            <a:pPr marL="0" lvl="0" indent="0" algn="l" rtl="0">
              <a:lnSpc>
                <a:spcPct val="10909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>
              <a:solidFill>
                <a:srgbClr val="434343"/>
              </a:solidFill>
            </a:endParaRPr>
          </a:p>
        </p:txBody>
      </p:sp>
      <p:sp>
        <p:nvSpPr>
          <p:cNvPr id="173" name="Google Shape;173;p29"/>
          <p:cNvSpPr txBox="1">
            <a:spLocks noGrp="1"/>
          </p:cNvSpPr>
          <p:nvPr>
            <p:ph type="body" idx="1"/>
          </p:nvPr>
        </p:nvSpPr>
        <p:spPr>
          <a:xfrm>
            <a:off x="285175" y="655200"/>
            <a:ext cx="8460900" cy="80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>
              <a:spcBef>
                <a:spcPts val="1600"/>
              </a:spcBef>
            </a:pPr>
            <a:r>
              <a:rPr lang="en-US" sz="1200" dirty="0"/>
              <a:t>any class that is the child of a parent class should be usable in place of its parent without any unexpected </a:t>
            </a:r>
            <a:r>
              <a:rPr lang="en-US" sz="1200" dirty="0" err="1" smtClean="0"/>
              <a:t>behaviour</a:t>
            </a:r>
            <a:endParaRPr sz="1800" dirty="0"/>
          </a:p>
        </p:txBody>
      </p:sp>
      <p:sp>
        <p:nvSpPr>
          <p:cNvPr id="174" name="Google Shape;174;p29"/>
          <p:cNvSpPr txBox="1">
            <a:spLocks noGrp="1"/>
          </p:cNvSpPr>
          <p:nvPr>
            <p:ph type="body" idx="1"/>
          </p:nvPr>
        </p:nvSpPr>
        <p:spPr>
          <a:xfrm>
            <a:off x="4892950" y="1462500"/>
            <a:ext cx="4001700" cy="36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b="1">
              <a:solidFill>
                <a:srgbClr val="7F6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b="1">
              <a:solidFill>
                <a:srgbClr val="7F6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i="1">
              <a:solidFill>
                <a:srgbClr val="7F6000"/>
              </a:solidFill>
            </a:endParaRPr>
          </a:p>
        </p:txBody>
      </p:sp>
      <p:sp>
        <p:nvSpPr>
          <p:cNvPr id="175" name="Google Shape;175;p29"/>
          <p:cNvSpPr txBox="1">
            <a:spLocks noGrp="1"/>
          </p:cNvSpPr>
          <p:nvPr>
            <p:ph type="body" idx="1"/>
          </p:nvPr>
        </p:nvSpPr>
        <p:spPr>
          <a:xfrm>
            <a:off x="4892950" y="1588125"/>
            <a:ext cx="4001700" cy="3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1"/>
                </a:solidFill>
              </a:rPr>
              <a:t>class Square extends Rectangle {</a:t>
            </a:r>
            <a:endParaRPr sz="12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1"/>
                </a:solidFill>
              </a:rPr>
              <a:t>	public $side;</a:t>
            </a:r>
            <a:endParaRPr sz="12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1"/>
                </a:solidFill>
              </a:rPr>
              <a:t>	</a:t>
            </a:r>
            <a:endParaRPr sz="12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1"/>
                </a:solidFill>
              </a:rPr>
              <a:t>	public function __construct($s){</a:t>
            </a:r>
            <a:endParaRPr sz="12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1"/>
                </a:solidFill>
              </a:rPr>
              <a:t>	…..</a:t>
            </a:r>
            <a:endParaRPr sz="1200" dirty="0">
              <a:solidFill>
                <a:schemeClr val="dk1"/>
              </a:solidFill>
            </a:endParaRPr>
          </a:p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1"/>
                </a:solidFill>
              </a:rPr>
              <a:t>}</a:t>
            </a:r>
            <a:endParaRPr sz="1200" dirty="0">
              <a:solidFill>
                <a:schemeClr val="dk1"/>
              </a:solidFill>
            </a:endParaRPr>
          </a:p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1"/>
              </a:solidFill>
            </a:endParaRPr>
          </a:p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1"/>
                </a:solidFill>
              </a:rPr>
              <a:t>public function area_calc(){</a:t>
            </a:r>
            <a:endParaRPr sz="1200" dirty="0">
              <a:solidFill>
                <a:schemeClr val="dk1"/>
              </a:solidFill>
            </a:endParaRPr>
          </a:p>
          <a:p>
            <a:pPr marL="457200" lvl="0" indent="45720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1"/>
                </a:solidFill>
              </a:rPr>
              <a:t>return  pow(2, $this-&gt;side);</a:t>
            </a:r>
            <a:endParaRPr sz="1200" dirty="0">
              <a:solidFill>
                <a:schemeClr val="dk1"/>
              </a:solidFill>
            </a:endParaRPr>
          </a:p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1"/>
                </a:solidFill>
              </a:rPr>
              <a:t>}</a:t>
            </a:r>
            <a:endParaRPr sz="12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1"/>
                </a:solidFill>
              </a:rPr>
              <a:t>}</a:t>
            </a:r>
            <a:endParaRPr sz="12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700" b="1" dirty="0">
              <a:solidFill>
                <a:schemeClr val="dk1"/>
              </a:solidFill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0"/>
          <p:cNvSpPr txBox="1"/>
          <p:nvPr/>
        </p:nvSpPr>
        <p:spPr>
          <a:xfrm>
            <a:off x="0" y="-41317"/>
            <a:ext cx="9144000" cy="703800"/>
          </a:xfrm>
          <a:prstGeom prst="rect">
            <a:avLst/>
          </a:prstGeom>
          <a:gradFill>
            <a:gsLst>
              <a:gs pos="0">
                <a:srgbClr val="F48208"/>
              </a:gs>
              <a:gs pos="100000">
                <a:srgbClr val="703E08"/>
              </a:gs>
            </a:gsLst>
            <a:path path="circle">
              <a:fillToRect l="50000" t="50000" r="50000" b="50000"/>
            </a:path>
            <a:tileRect/>
          </a:gra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Font typeface="Arial"/>
              <a:buNone/>
            </a:pPr>
            <a:r>
              <a:rPr lang="en" sz="3600" b="1">
                <a:solidFill>
                  <a:schemeClr val="lt1"/>
                </a:solidFill>
              </a:rPr>
              <a:t>L - Liskov substitution principle</a:t>
            </a:r>
            <a:endParaRPr sz="3600" b="1">
              <a:solidFill>
                <a:schemeClr val="lt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endParaRPr sz="4000" b="1">
              <a:solidFill>
                <a:srgbClr val="FFC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Font typeface="Arial"/>
              <a:buNone/>
            </a:pPr>
            <a:endParaRPr sz="3600" b="1">
              <a:solidFill>
                <a:schemeClr val="lt1"/>
              </a:solidFill>
            </a:endParaRPr>
          </a:p>
        </p:txBody>
      </p:sp>
      <p:sp>
        <p:nvSpPr>
          <p:cNvPr id="181" name="Google Shape;181;p30"/>
          <p:cNvSpPr txBox="1">
            <a:spLocks noGrp="1"/>
          </p:cNvSpPr>
          <p:nvPr>
            <p:ph type="body" idx="1"/>
          </p:nvPr>
        </p:nvSpPr>
        <p:spPr>
          <a:xfrm>
            <a:off x="338225" y="1462500"/>
            <a:ext cx="4001700" cy="36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dirty="0">
                <a:solidFill>
                  <a:schemeClr val="dk1"/>
                </a:solidFill>
              </a:rPr>
              <a:t>class Square {</a:t>
            </a:r>
            <a:endParaRPr sz="12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dirty="0">
                <a:solidFill>
                  <a:schemeClr val="dk1"/>
                </a:solidFill>
              </a:rPr>
              <a:t>	public $a_side;</a:t>
            </a:r>
            <a:endParaRPr sz="12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dirty="0">
                <a:solidFill>
                  <a:schemeClr val="dk1"/>
                </a:solidFill>
              </a:rPr>
              <a:t>	</a:t>
            </a:r>
            <a:endParaRPr sz="12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dirty="0">
                <a:solidFill>
                  <a:schemeClr val="dk1"/>
                </a:solidFill>
              </a:rPr>
              <a:t>	public function __construct($s){</a:t>
            </a:r>
            <a:endParaRPr sz="12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dirty="0">
                <a:solidFill>
                  <a:schemeClr val="dk1"/>
                </a:solidFill>
              </a:rPr>
              <a:t>	…..</a:t>
            </a:r>
            <a:endParaRPr sz="1200" dirty="0">
              <a:solidFill>
                <a:schemeClr val="dk1"/>
              </a:solidFill>
            </a:endParaRPr>
          </a:p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dirty="0">
                <a:solidFill>
                  <a:schemeClr val="dk1"/>
                </a:solidFill>
              </a:rPr>
              <a:t>}</a:t>
            </a:r>
            <a:endParaRPr sz="1200" dirty="0">
              <a:solidFill>
                <a:schemeClr val="dk1"/>
              </a:solidFill>
            </a:endParaRPr>
          </a:p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dirty="0">
              <a:solidFill>
                <a:schemeClr val="dk1"/>
              </a:solidFill>
            </a:endParaRPr>
          </a:p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dirty="0">
                <a:solidFill>
                  <a:schemeClr val="dk1"/>
                </a:solidFill>
              </a:rPr>
              <a:t>public function area_calc(){</a:t>
            </a:r>
            <a:endParaRPr sz="1200" dirty="0">
              <a:solidFill>
                <a:schemeClr val="dk1"/>
              </a:solidFill>
            </a:endParaRPr>
          </a:p>
          <a:p>
            <a:pPr marL="45720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dirty="0">
                <a:solidFill>
                  <a:schemeClr val="dk1"/>
                </a:solidFill>
              </a:rPr>
              <a:t>return  pow(2, $this-&gt;side);</a:t>
            </a:r>
            <a:endParaRPr sz="1200" dirty="0">
              <a:solidFill>
                <a:schemeClr val="dk1"/>
              </a:solidFill>
            </a:endParaRPr>
          </a:p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dirty="0">
                <a:solidFill>
                  <a:schemeClr val="dk1"/>
                </a:solidFill>
              </a:rPr>
              <a:t>}</a:t>
            </a:r>
            <a:endParaRPr sz="12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dirty="0">
                <a:solidFill>
                  <a:schemeClr val="dk1"/>
                </a:solidFill>
              </a:rPr>
              <a:t>}</a:t>
            </a:r>
            <a:endParaRPr sz="12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700" b="1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09090"/>
              </a:lnSpc>
              <a:spcBef>
                <a:spcPts val="0"/>
              </a:spcBef>
              <a:spcAft>
                <a:spcPts val="8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 dirty="0">
              <a:solidFill>
                <a:srgbClr val="434343"/>
              </a:solidFill>
            </a:endParaRPr>
          </a:p>
        </p:txBody>
      </p:sp>
      <p:sp>
        <p:nvSpPr>
          <p:cNvPr id="182" name="Google Shape;182;p30"/>
          <p:cNvSpPr txBox="1">
            <a:spLocks noGrp="1"/>
          </p:cNvSpPr>
          <p:nvPr>
            <p:ph type="body" idx="1"/>
          </p:nvPr>
        </p:nvSpPr>
        <p:spPr>
          <a:xfrm>
            <a:off x="285175" y="655200"/>
            <a:ext cx="8460900" cy="80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lang="en" sz="1200" i="1">
                <a:solidFill>
                  <a:srgbClr val="434343"/>
                </a:solidFill>
              </a:rPr>
              <a:t>В сила е обратното - Правоъгълникът наследява Квадрата ...</a:t>
            </a:r>
            <a:endParaRPr sz="1200" i="1">
              <a:solidFill>
                <a:srgbClr val="434343"/>
              </a:solidFill>
            </a:endParaRPr>
          </a:p>
          <a:p>
            <a:pPr marL="0" lvl="0" indent="0" algn="ctr" rtl="0"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sz="1800"/>
          </a:p>
        </p:txBody>
      </p:sp>
      <p:sp>
        <p:nvSpPr>
          <p:cNvPr id="183" name="Google Shape;183;p30"/>
          <p:cNvSpPr txBox="1">
            <a:spLocks noGrp="1"/>
          </p:cNvSpPr>
          <p:nvPr>
            <p:ph type="body" idx="1"/>
          </p:nvPr>
        </p:nvSpPr>
        <p:spPr>
          <a:xfrm>
            <a:off x="4892950" y="1462500"/>
            <a:ext cx="4001700" cy="36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b="1">
              <a:solidFill>
                <a:srgbClr val="7F6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b="1">
              <a:solidFill>
                <a:srgbClr val="7F6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i="1">
              <a:solidFill>
                <a:srgbClr val="7F6000"/>
              </a:solidFill>
            </a:endParaRPr>
          </a:p>
        </p:txBody>
      </p:sp>
      <p:sp>
        <p:nvSpPr>
          <p:cNvPr id="184" name="Google Shape;184;p30"/>
          <p:cNvSpPr txBox="1">
            <a:spLocks noGrp="1"/>
          </p:cNvSpPr>
          <p:nvPr>
            <p:ph type="body" idx="1"/>
          </p:nvPr>
        </p:nvSpPr>
        <p:spPr>
          <a:xfrm>
            <a:off x="4892950" y="1588125"/>
            <a:ext cx="4001700" cy="3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1"/>
                </a:solidFill>
              </a:rPr>
              <a:t>class Rectangle extends Square {</a:t>
            </a:r>
            <a:endParaRPr sz="12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1"/>
                </a:solidFill>
              </a:rPr>
              <a:t>	public $b_side;</a:t>
            </a:r>
            <a:endParaRPr sz="12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1"/>
                </a:solidFill>
              </a:rPr>
              <a:t>	</a:t>
            </a:r>
            <a:endParaRPr sz="12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1"/>
                </a:solidFill>
              </a:rPr>
              <a:t>	public function __construct($a, $b){</a:t>
            </a:r>
            <a:endParaRPr sz="12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1"/>
                </a:solidFill>
              </a:rPr>
              <a:t>	…..</a:t>
            </a:r>
            <a:endParaRPr sz="1200" dirty="0">
              <a:solidFill>
                <a:schemeClr val="dk1"/>
              </a:solidFill>
            </a:endParaRPr>
          </a:p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1"/>
                </a:solidFill>
              </a:rPr>
              <a:t>}</a:t>
            </a:r>
            <a:endParaRPr sz="1200" dirty="0">
              <a:solidFill>
                <a:schemeClr val="dk1"/>
              </a:solidFill>
            </a:endParaRPr>
          </a:p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1"/>
              </a:solidFill>
            </a:endParaRPr>
          </a:p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1"/>
                </a:solidFill>
              </a:rPr>
              <a:t>public function area_calc(){</a:t>
            </a:r>
            <a:endParaRPr sz="1200" dirty="0">
              <a:solidFill>
                <a:schemeClr val="dk1"/>
              </a:solidFill>
            </a:endParaRPr>
          </a:p>
          <a:p>
            <a:pPr marL="457200" lvl="0" indent="45720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1"/>
                </a:solidFill>
              </a:rPr>
              <a:t>return  $this-&gt;a_side*$this-&gt;b_side;</a:t>
            </a:r>
            <a:endParaRPr sz="1200" dirty="0">
              <a:solidFill>
                <a:schemeClr val="dk1"/>
              </a:solidFill>
            </a:endParaRPr>
          </a:p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1"/>
                </a:solidFill>
              </a:rPr>
              <a:t>}</a:t>
            </a:r>
            <a:endParaRPr sz="12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1"/>
                </a:solidFill>
              </a:rPr>
              <a:t>}</a:t>
            </a:r>
            <a:endParaRPr sz="12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700" b="1" dirty="0">
              <a:solidFill>
                <a:schemeClr val="dk1"/>
              </a:solidFill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0"/>
          <p:cNvSpPr txBox="1"/>
          <p:nvPr/>
        </p:nvSpPr>
        <p:spPr>
          <a:xfrm>
            <a:off x="0" y="-41317"/>
            <a:ext cx="9144000" cy="703800"/>
          </a:xfrm>
          <a:prstGeom prst="rect">
            <a:avLst/>
          </a:prstGeom>
          <a:gradFill>
            <a:gsLst>
              <a:gs pos="0">
                <a:srgbClr val="F48208"/>
              </a:gs>
              <a:gs pos="100000">
                <a:srgbClr val="703E08"/>
              </a:gs>
            </a:gsLst>
            <a:path path="circle">
              <a:fillToRect l="50000" t="50000" r="50000" b="50000"/>
            </a:path>
            <a:tileRect/>
          </a:gra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Font typeface="Arial"/>
              <a:buNone/>
            </a:pPr>
            <a:r>
              <a:rPr lang="en" sz="3600" b="1" dirty="0">
                <a:solidFill>
                  <a:schemeClr val="lt1"/>
                </a:solidFill>
              </a:rPr>
              <a:t>L - Liskov substitution principle</a:t>
            </a:r>
            <a:endParaRPr sz="3600" b="1" dirty="0">
              <a:solidFill>
                <a:schemeClr val="lt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endParaRPr sz="4000" b="1" dirty="0">
              <a:solidFill>
                <a:srgbClr val="FFC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Font typeface="Arial"/>
              <a:buNone/>
            </a:pPr>
            <a:endParaRPr sz="3600" b="1" dirty="0">
              <a:solidFill>
                <a:schemeClr val="lt1"/>
              </a:solidFill>
            </a:endParaRPr>
          </a:p>
        </p:txBody>
      </p:sp>
      <p:sp>
        <p:nvSpPr>
          <p:cNvPr id="181" name="Google Shape;181;p30"/>
          <p:cNvSpPr txBox="1">
            <a:spLocks noGrp="1"/>
          </p:cNvSpPr>
          <p:nvPr>
            <p:ph type="body" idx="1"/>
          </p:nvPr>
        </p:nvSpPr>
        <p:spPr>
          <a:xfrm>
            <a:off x="338225" y="1462500"/>
            <a:ext cx="2557375" cy="36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Clr>
                <a:schemeClr val="dk1"/>
              </a:buClr>
              <a:buSzPts val="1100"/>
            </a:pPr>
            <a:r>
              <a:rPr lang="en-US" sz="1000" dirty="0">
                <a:solidFill>
                  <a:schemeClr val="dk1"/>
                </a:solidFill>
              </a:rPr>
              <a:t>class Vehicle {</a:t>
            </a:r>
          </a:p>
          <a:p>
            <a:pPr marL="0" lvl="0" indent="0">
              <a:buClr>
                <a:schemeClr val="dk1"/>
              </a:buClr>
              <a:buSzPts val="1100"/>
            </a:pPr>
            <a:r>
              <a:rPr lang="en-US" sz="1000" dirty="0">
                <a:solidFill>
                  <a:schemeClr val="dk1"/>
                </a:solidFill>
              </a:rPr>
              <a:t> </a:t>
            </a:r>
          </a:p>
          <a:p>
            <a:pPr marL="0" lvl="0" indent="0">
              <a:buClr>
                <a:schemeClr val="dk1"/>
              </a:buClr>
              <a:buSzPts val="1100"/>
            </a:pPr>
            <a:r>
              <a:rPr lang="en-US" sz="1000" dirty="0">
                <a:solidFill>
                  <a:schemeClr val="dk1"/>
                </a:solidFill>
              </a:rPr>
              <a:t>    function </a:t>
            </a:r>
            <a:r>
              <a:rPr lang="en-US" sz="1000" dirty="0" err="1">
                <a:solidFill>
                  <a:schemeClr val="dk1"/>
                </a:solidFill>
              </a:rPr>
              <a:t>startEngine</a:t>
            </a:r>
            <a:r>
              <a:rPr lang="en-US" sz="1000" dirty="0">
                <a:solidFill>
                  <a:schemeClr val="dk1"/>
                </a:solidFill>
              </a:rPr>
              <a:t>() {</a:t>
            </a:r>
          </a:p>
          <a:p>
            <a:pPr marL="0" lvl="0" indent="0">
              <a:buClr>
                <a:schemeClr val="dk1"/>
              </a:buClr>
              <a:buSzPts val="1100"/>
            </a:pPr>
            <a:r>
              <a:rPr lang="en-US" sz="1000" dirty="0">
                <a:solidFill>
                  <a:schemeClr val="dk1"/>
                </a:solidFill>
              </a:rPr>
              <a:t>        // Default engine start functionality</a:t>
            </a:r>
          </a:p>
          <a:p>
            <a:pPr marL="0" lvl="0" indent="0">
              <a:buClr>
                <a:schemeClr val="dk1"/>
              </a:buClr>
              <a:buSzPts val="1100"/>
            </a:pPr>
            <a:r>
              <a:rPr lang="en-US" sz="1000" dirty="0">
                <a:solidFill>
                  <a:schemeClr val="dk1"/>
                </a:solidFill>
              </a:rPr>
              <a:t>    }</a:t>
            </a:r>
          </a:p>
          <a:p>
            <a:pPr marL="0" lvl="0" indent="0">
              <a:buClr>
                <a:schemeClr val="dk1"/>
              </a:buClr>
              <a:buSzPts val="1100"/>
            </a:pPr>
            <a:r>
              <a:rPr lang="en-US" sz="1000" dirty="0">
                <a:solidFill>
                  <a:schemeClr val="dk1"/>
                </a:solidFill>
              </a:rPr>
              <a:t> </a:t>
            </a:r>
          </a:p>
          <a:p>
            <a:pPr marL="0" lvl="0" indent="0">
              <a:buClr>
                <a:schemeClr val="dk1"/>
              </a:buClr>
              <a:buSzPts val="1100"/>
            </a:pPr>
            <a:r>
              <a:rPr lang="en-US" sz="1000" dirty="0">
                <a:solidFill>
                  <a:schemeClr val="dk1"/>
                </a:solidFill>
              </a:rPr>
              <a:t>    function accelerate() {</a:t>
            </a:r>
          </a:p>
          <a:p>
            <a:pPr marL="0" lvl="0" indent="0">
              <a:buClr>
                <a:schemeClr val="dk1"/>
              </a:buClr>
              <a:buSzPts val="1100"/>
            </a:pPr>
            <a:r>
              <a:rPr lang="en-US" sz="1000" dirty="0">
                <a:solidFill>
                  <a:schemeClr val="dk1"/>
                </a:solidFill>
              </a:rPr>
              <a:t>        // Default acceleration functionality</a:t>
            </a:r>
          </a:p>
          <a:p>
            <a:pPr marL="0" lvl="0" indent="0">
              <a:buClr>
                <a:schemeClr val="dk1"/>
              </a:buClr>
              <a:buSzPts val="1100"/>
            </a:pPr>
            <a:r>
              <a:rPr lang="en-US" sz="1000" dirty="0">
                <a:solidFill>
                  <a:schemeClr val="dk1"/>
                </a:solidFill>
              </a:rPr>
              <a:t>    }</a:t>
            </a:r>
          </a:p>
          <a:p>
            <a:pPr marL="0" lvl="0" indent="0">
              <a:buClr>
                <a:schemeClr val="dk1"/>
              </a:buClr>
              <a:buSzPts val="1100"/>
            </a:pPr>
            <a:r>
              <a:rPr lang="en-US" sz="1000" dirty="0">
                <a:solidFill>
                  <a:schemeClr val="dk1"/>
                </a:solidFill>
              </a:rPr>
              <a:t>}</a:t>
            </a:r>
            <a:endParaRPr sz="1000" dirty="0">
              <a:solidFill>
                <a:srgbClr val="434343"/>
              </a:solidFill>
            </a:endParaRPr>
          </a:p>
        </p:txBody>
      </p:sp>
      <p:sp>
        <p:nvSpPr>
          <p:cNvPr id="182" name="Google Shape;182;p30"/>
          <p:cNvSpPr txBox="1">
            <a:spLocks noGrp="1"/>
          </p:cNvSpPr>
          <p:nvPr>
            <p:ph type="body" idx="1"/>
          </p:nvPr>
        </p:nvSpPr>
        <p:spPr>
          <a:xfrm>
            <a:off x="285175" y="655200"/>
            <a:ext cx="8460900" cy="80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>
              <a:spcBef>
                <a:spcPts val="1600"/>
              </a:spcBef>
            </a:pPr>
            <a:r>
              <a:rPr lang="en-US" sz="1200" dirty="0"/>
              <a:t>any class that is the child of a parent class should be usable in place of its parent without any unexpected </a:t>
            </a:r>
            <a:r>
              <a:rPr lang="en-US" sz="1200" dirty="0" err="1"/>
              <a:t>behaviour</a:t>
            </a:r>
            <a:endParaRPr lang="en-US" sz="1800" dirty="0"/>
          </a:p>
        </p:txBody>
      </p:sp>
      <p:sp>
        <p:nvSpPr>
          <p:cNvPr id="183" name="Google Shape;183;p30"/>
          <p:cNvSpPr txBox="1">
            <a:spLocks noGrp="1"/>
          </p:cNvSpPr>
          <p:nvPr>
            <p:ph type="body" idx="1"/>
          </p:nvPr>
        </p:nvSpPr>
        <p:spPr>
          <a:xfrm>
            <a:off x="4892950" y="1462500"/>
            <a:ext cx="4001700" cy="36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b="1">
              <a:solidFill>
                <a:srgbClr val="7F6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b="1">
              <a:solidFill>
                <a:srgbClr val="7F6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i="1">
              <a:solidFill>
                <a:srgbClr val="7F6000"/>
              </a:solidFill>
            </a:endParaRPr>
          </a:p>
        </p:txBody>
      </p:sp>
      <p:sp>
        <p:nvSpPr>
          <p:cNvPr id="184" name="Google Shape;184;p30"/>
          <p:cNvSpPr txBox="1">
            <a:spLocks noGrp="1"/>
          </p:cNvSpPr>
          <p:nvPr>
            <p:ph type="body" idx="1"/>
          </p:nvPr>
        </p:nvSpPr>
        <p:spPr>
          <a:xfrm>
            <a:off x="5715000" y="1588125"/>
            <a:ext cx="3179650" cy="3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1000" dirty="0"/>
              <a:t>class </a:t>
            </a:r>
            <a:r>
              <a:rPr lang="en-US" sz="1000" dirty="0" err="1"/>
              <a:t>ElectricBus</a:t>
            </a:r>
            <a:r>
              <a:rPr lang="en-US" sz="1000" dirty="0"/>
              <a:t> extends Vehicle {</a:t>
            </a:r>
          </a:p>
          <a:p>
            <a:r>
              <a:rPr lang="en-US" sz="1000" dirty="0"/>
              <a:t> </a:t>
            </a:r>
          </a:p>
          <a:p>
            <a:r>
              <a:rPr lang="en-US" sz="1000" dirty="0"/>
              <a:t>    function accelerate() {</a:t>
            </a:r>
          </a:p>
          <a:p>
            <a:r>
              <a:rPr lang="en-US" sz="1000" dirty="0"/>
              <a:t>        $this-&gt;</a:t>
            </a:r>
            <a:r>
              <a:rPr lang="en-US" sz="1000" dirty="0" err="1"/>
              <a:t>increaseVoltage</a:t>
            </a:r>
            <a:r>
              <a:rPr lang="en-US" sz="1000" dirty="0"/>
              <a:t>();</a:t>
            </a:r>
          </a:p>
          <a:p>
            <a:r>
              <a:rPr lang="en-US" sz="1000" dirty="0"/>
              <a:t>        $this-&gt;</a:t>
            </a:r>
            <a:r>
              <a:rPr lang="en-US" sz="1000" dirty="0" err="1"/>
              <a:t>connectIndividualEngines</a:t>
            </a:r>
            <a:r>
              <a:rPr lang="en-US" sz="1000" dirty="0"/>
              <a:t>();</a:t>
            </a:r>
          </a:p>
          <a:p>
            <a:r>
              <a:rPr lang="en-US" sz="1000" dirty="0"/>
              <a:t>    }</a:t>
            </a:r>
          </a:p>
          <a:p>
            <a:r>
              <a:rPr lang="en-US" sz="1000" dirty="0"/>
              <a:t> </a:t>
            </a:r>
          </a:p>
          <a:p>
            <a:r>
              <a:rPr lang="en-US" sz="1000" dirty="0"/>
              <a:t>    private function </a:t>
            </a:r>
            <a:r>
              <a:rPr lang="en-US" sz="1000" dirty="0" err="1"/>
              <a:t>increaseVoltage</a:t>
            </a:r>
            <a:r>
              <a:rPr lang="en-US" sz="1000" dirty="0"/>
              <a:t>() {</a:t>
            </a:r>
          </a:p>
          <a:p>
            <a:r>
              <a:rPr lang="en-US" sz="1000" dirty="0"/>
              <a:t>        // Electric logic</a:t>
            </a:r>
          </a:p>
          <a:p>
            <a:r>
              <a:rPr lang="en-US" sz="1000" dirty="0"/>
              <a:t>    }</a:t>
            </a:r>
          </a:p>
          <a:p>
            <a:r>
              <a:rPr lang="en-US" sz="1000" dirty="0"/>
              <a:t> </a:t>
            </a:r>
          </a:p>
          <a:p>
            <a:r>
              <a:rPr lang="en-US" sz="1000" dirty="0"/>
              <a:t>    private function </a:t>
            </a:r>
            <a:r>
              <a:rPr lang="en-US" sz="1000" dirty="0" err="1"/>
              <a:t>connectIndividualEngines</a:t>
            </a:r>
            <a:r>
              <a:rPr lang="en-US" sz="1000" dirty="0"/>
              <a:t>() {</a:t>
            </a:r>
          </a:p>
          <a:p>
            <a:r>
              <a:rPr lang="en-US" sz="1000" dirty="0"/>
              <a:t>        // Connection logic</a:t>
            </a:r>
          </a:p>
          <a:p>
            <a:r>
              <a:rPr lang="en-US" sz="1000" dirty="0"/>
              <a:t>    }</a:t>
            </a:r>
          </a:p>
          <a:p>
            <a:r>
              <a:rPr lang="en-US" sz="1000" dirty="0"/>
              <a:t> </a:t>
            </a:r>
          </a:p>
          <a:p>
            <a:r>
              <a:rPr lang="en-US" sz="1000" dirty="0"/>
              <a:t>}</a:t>
            </a:r>
          </a:p>
        </p:txBody>
      </p:sp>
      <p:sp>
        <p:nvSpPr>
          <p:cNvPr id="7" name="Google Shape;181;p30"/>
          <p:cNvSpPr txBox="1">
            <a:spLocks noGrp="1"/>
          </p:cNvSpPr>
          <p:nvPr>
            <p:ph type="body" idx="1"/>
          </p:nvPr>
        </p:nvSpPr>
        <p:spPr>
          <a:xfrm>
            <a:off x="2743200" y="1504950"/>
            <a:ext cx="2862175" cy="3562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Clr>
                <a:schemeClr val="dk1"/>
              </a:buClr>
              <a:buSzPts val="1100"/>
            </a:pPr>
            <a:r>
              <a:rPr lang="en-US" sz="1000" dirty="0">
                <a:solidFill>
                  <a:schemeClr val="accent4">
                    <a:lumMod val="50000"/>
                  </a:schemeClr>
                </a:solidFill>
              </a:rPr>
              <a:t>class Car extends Vehicle {</a:t>
            </a:r>
          </a:p>
          <a:p>
            <a:pPr marL="0" lvl="0" indent="0">
              <a:buClr>
                <a:schemeClr val="dk1"/>
              </a:buClr>
              <a:buSzPts val="1100"/>
            </a:pPr>
            <a:r>
              <a:rPr lang="en-US" sz="1000" dirty="0">
                <a:solidFill>
                  <a:schemeClr val="accent4">
                    <a:lumMod val="50000"/>
                  </a:schemeClr>
                </a:solidFill>
              </a:rPr>
              <a:t> </a:t>
            </a:r>
          </a:p>
          <a:p>
            <a:pPr marL="0" lvl="0" indent="0">
              <a:buClr>
                <a:schemeClr val="dk1"/>
              </a:buClr>
              <a:buSzPts val="1100"/>
            </a:pPr>
            <a:r>
              <a:rPr lang="en-US" sz="1000" dirty="0">
                <a:solidFill>
                  <a:schemeClr val="accent4">
                    <a:lumMod val="50000"/>
                  </a:schemeClr>
                </a:solidFill>
              </a:rPr>
              <a:t>    function </a:t>
            </a:r>
            <a:r>
              <a:rPr lang="en-US" sz="1000" dirty="0" err="1">
                <a:solidFill>
                  <a:schemeClr val="accent4">
                    <a:lumMod val="50000"/>
                  </a:schemeClr>
                </a:solidFill>
              </a:rPr>
              <a:t>startEngine</a:t>
            </a:r>
            <a:r>
              <a:rPr lang="en-US" sz="1000" dirty="0">
                <a:solidFill>
                  <a:schemeClr val="accent4">
                    <a:lumMod val="50000"/>
                  </a:schemeClr>
                </a:solidFill>
              </a:rPr>
              <a:t>() {</a:t>
            </a:r>
          </a:p>
          <a:p>
            <a:pPr marL="0" lvl="0" indent="0">
              <a:buClr>
                <a:schemeClr val="dk1"/>
              </a:buClr>
              <a:buSzPts val="1100"/>
            </a:pPr>
            <a:r>
              <a:rPr lang="en-US" sz="1000" dirty="0">
                <a:solidFill>
                  <a:schemeClr val="accent4">
                    <a:lumMod val="50000"/>
                  </a:schemeClr>
                </a:solidFill>
              </a:rPr>
              <a:t>        $this-&gt;</a:t>
            </a:r>
            <a:r>
              <a:rPr lang="en-US" sz="1000" dirty="0" err="1">
                <a:solidFill>
                  <a:schemeClr val="accent4">
                    <a:lumMod val="50000"/>
                  </a:schemeClr>
                </a:solidFill>
              </a:rPr>
              <a:t>engageIgnition</a:t>
            </a:r>
            <a:r>
              <a:rPr lang="en-US" sz="1000" dirty="0">
                <a:solidFill>
                  <a:schemeClr val="accent4">
                    <a:lumMod val="50000"/>
                  </a:schemeClr>
                </a:solidFill>
              </a:rPr>
              <a:t>();</a:t>
            </a:r>
          </a:p>
          <a:p>
            <a:pPr marL="0" lvl="0" indent="0">
              <a:buClr>
                <a:schemeClr val="dk1"/>
              </a:buClr>
              <a:buSzPts val="1100"/>
            </a:pPr>
            <a:r>
              <a:rPr lang="en-US" sz="1000" dirty="0">
                <a:solidFill>
                  <a:schemeClr val="accent4">
                    <a:lumMod val="50000"/>
                  </a:schemeClr>
                </a:solidFill>
              </a:rPr>
              <a:t>        parent::</a:t>
            </a:r>
            <a:r>
              <a:rPr lang="en-US" sz="1000" dirty="0" err="1">
                <a:solidFill>
                  <a:schemeClr val="accent4">
                    <a:lumMod val="50000"/>
                  </a:schemeClr>
                </a:solidFill>
              </a:rPr>
              <a:t>startEngine</a:t>
            </a:r>
            <a:r>
              <a:rPr lang="en-US" sz="1000" dirty="0">
                <a:solidFill>
                  <a:schemeClr val="accent4">
                    <a:lumMod val="50000"/>
                  </a:schemeClr>
                </a:solidFill>
              </a:rPr>
              <a:t>();</a:t>
            </a:r>
          </a:p>
          <a:p>
            <a:pPr marL="0" lvl="0" indent="0">
              <a:buClr>
                <a:schemeClr val="dk1"/>
              </a:buClr>
              <a:buSzPts val="1100"/>
            </a:pPr>
            <a:r>
              <a:rPr lang="en-US" sz="1000" dirty="0">
                <a:solidFill>
                  <a:schemeClr val="accent4">
                    <a:lumMod val="50000"/>
                  </a:schemeClr>
                </a:solidFill>
              </a:rPr>
              <a:t>    }</a:t>
            </a:r>
          </a:p>
          <a:p>
            <a:pPr marL="0" lvl="0" indent="0">
              <a:buClr>
                <a:schemeClr val="dk1"/>
              </a:buClr>
              <a:buSzPts val="1100"/>
            </a:pPr>
            <a:r>
              <a:rPr lang="en-US" sz="1000" dirty="0">
                <a:solidFill>
                  <a:schemeClr val="accent4">
                    <a:lumMod val="50000"/>
                  </a:schemeClr>
                </a:solidFill>
              </a:rPr>
              <a:t> </a:t>
            </a:r>
          </a:p>
          <a:p>
            <a:pPr marL="0" lvl="0" indent="0">
              <a:buClr>
                <a:schemeClr val="dk1"/>
              </a:buClr>
              <a:buSzPts val="1100"/>
            </a:pPr>
            <a:r>
              <a:rPr lang="en-US" sz="1000" dirty="0">
                <a:solidFill>
                  <a:schemeClr val="accent4">
                    <a:lumMod val="50000"/>
                  </a:schemeClr>
                </a:solidFill>
              </a:rPr>
              <a:t>    private function </a:t>
            </a:r>
            <a:r>
              <a:rPr lang="en-US" sz="1000" dirty="0" err="1">
                <a:solidFill>
                  <a:schemeClr val="accent4">
                    <a:lumMod val="50000"/>
                  </a:schemeClr>
                </a:solidFill>
              </a:rPr>
              <a:t>engageIgnition</a:t>
            </a:r>
            <a:r>
              <a:rPr lang="en-US" sz="1000" dirty="0">
                <a:solidFill>
                  <a:schemeClr val="accent4">
                    <a:lumMod val="50000"/>
                  </a:schemeClr>
                </a:solidFill>
              </a:rPr>
              <a:t>() {</a:t>
            </a:r>
          </a:p>
          <a:p>
            <a:pPr marL="0" lvl="0" indent="0">
              <a:buClr>
                <a:schemeClr val="dk1"/>
              </a:buClr>
              <a:buSzPts val="1100"/>
            </a:pPr>
            <a:r>
              <a:rPr lang="en-US" sz="1000" dirty="0">
                <a:solidFill>
                  <a:schemeClr val="accent4">
                    <a:lumMod val="50000"/>
                  </a:schemeClr>
                </a:solidFill>
              </a:rPr>
              <a:t>        // Ignition procedure</a:t>
            </a:r>
          </a:p>
          <a:p>
            <a:pPr marL="0" lvl="0" indent="0">
              <a:buClr>
                <a:schemeClr val="dk1"/>
              </a:buClr>
              <a:buSzPts val="1100"/>
            </a:pPr>
            <a:r>
              <a:rPr lang="en-US" sz="1000" dirty="0">
                <a:solidFill>
                  <a:schemeClr val="accent4">
                    <a:lumMod val="50000"/>
                  </a:schemeClr>
                </a:solidFill>
              </a:rPr>
              <a:t>    }</a:t>
            </a:r>
          </a:p>
          <a:p>
            <a:pPr marL="0" lvl="0" indent="0">
              <a:buClr>
                <a:schemeClr val="dk1"/>
              </a:buClr>
              <a:buSzPts val="1100"/>
            </a:pPr>
            <a:r>
              <a:rPr lang="en-US" sz="1000" dirty="0">
                <a:solidFill>
                  <a:schemeClr val="accent4">
                    <a:lumMod val="50000"/>
                  </a:schemeClr>
                </a:solidFill>
              </a:rPr>
              <a:t> </a:t>
            </a:r>
          </a:p>
          <a:p>
            <a:pPr marL="0" lvl="0" indent="0">
              <a:buClr>
                <a:schemeClr val="dk1"/>
              </a:buClr>
              <a:buSzPts val="1100"/>
            </a:pPr>
            <a:r>
              <a:rPr lang="en-US" sz="1000" dirty="0">
                <a:solidFill>
                  <a:schemeClr val="accent4">
                    <a:lumMod val="50000"/>
                  </a:schemeClr>
                </a:solidFill>
              </a:rPr>
              <a:t>}</a:t>
            </a:r>
            <a:endParaRPr sz="1000" dirty="0">
              <a:solidFill>
                <a:schemeClr val="accent4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46042119"/>
      </p:ext>
    </p:extLst>
  </p:cSld>
  <p:clrMapOvr>
    <a:masterClrMapping/>
  </p:clrMapOvr>
  <p:transition spd="slow">
    <p:fade thruBlk="1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0"/>
          <p:cNvSpPr txBox="1"/>
          <p:nvPr/>
        </p:nvSpPr>
        <p:spPr>
          <a:xfrm>
            <a:off x="0" y="-41317"/>
            <a:ext cx="9144000" cy="703800"/>
          </a:xfrm>
          <a:prstGeom prst="rect">
            <a:avLst/>
          </a:prstGeom>
          <a:gradFill>
            <a:gsLst>
              <a:gs pos="0">
                <a:srgbClr val="F48208"/>
              </a:gs>
              <a:gs pos="100000">
                <a:srgbClr val="703E08"/>
              </a:gs>
            </a:gsLst>
            <a:path path="circle">
              <a:fillToRect l="50000" t="50000" r="50000" b="50000"/>
            </a:path>
            <a:tileRect/>
          </a:gra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Font typeface="Arial"/>
              <a:buNone/>
            </a:pPr>
            <a:r>
              <a:rPr lang="en" sz="3600" b="1" dirty="0">
                <a:solidFill>
                  <a:schemeClr val="lt1"/>
                </a:solidFill>
              </a:rPr>
              <a:t>L - Liskov substitution principle</a:t>
            </a:r>
            <a:endParaRPr sz="3600" b="1" dirty="0">
              <a:solidFill>
                <a:schemeClr val="lt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endParaRPr sz="4000" b="1" dirty="0">
              <a:solidFill>
                <a:srgbClr val="FFC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Font typeface="Arial"/>
              <a:buNone/>
            </a:pPr>
            <a:endParaRPr sz="3600" b="1" dirty="0">
              <a:solidFill>
                <a:schemeClr val="lt1"/>
              </a:solidFill>
            </a:endParaRPr>
          </a:p>
        </p:txBody>
      </p:sp>
      <p:sp>
        <p:nvSpPr>
          <p:cNvPr id="182" name="Google Shape;182;p30"/>
          <p:cNvSpPr txBox="1">
            <a:spLocks noGrp="1"/>
          </p:cNvSpPr>
          <p:nvPr>
            <p:ph type="body" idx="1"/>
          </p:nvPr>
        </p:nvSpPr>
        <p:spPr>
          <a:xfrm>
            <a:off x="285175" y="655200"/>
            <a:ext cx="8460900" cy="80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>
              <a:spcBef>
                <a:spcPts val="1600"/>
              </a:spcBef>
            </a:pPr>
            <a:r>
              <a:rPr lang="en-US" sz="1200" dirty="0"/>
              <a:t>A client class should be able to use either of them, if it can use Vehicle.</a:t>
            </a:r>
            <a:endParaRPr sz="1800" dirty="0"/>
          </a:p>
        </p:txBody>
      </p:sp>
      <p:sp>
        <p:nvSpPr>
          <p:cNvPr id="183" name="Google Shape;183;p30"/>
          <p:cNvSpPr txBox="1">
            <a:spLocks noGrp="1"/>
          </p:cNvSpPr>
          <p:nvPr>
            <p:ph type="body" idx="1"/>
          </p:nvPr>
        </p:nvSpPr>
        <p:spPr>
          <a:xfrm>
            <a:off x="4892950" y="1462500"/>
            <a:ext cx="4001700" cy="36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b="1">
              <a:solidFill>
                <a:srgbClr val="7F6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b="1">
              <a:solidFill>
                <a:srgbClr val="7F6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i="1">
              <a:solidFill>
                <a:srgbClr val="7F6000"/>
              </a:solidFill>
            </a:endParaRPr>
          </a:p>
        </p:txBody>
      </p:sp>
      <p:sp>
        <p:nvSpPr>
          <p:cNvPr id="2" name="Текстов контейнер 1"/>
          <p:cNvSpPr>
            <a:spLocks noGrp="1"/>
          </p:cNvSpPr>
          <p:nvPr>
            <p:ph type="body" idx="1"/>
          </p:nvPr>
        </p:nvSpPr>
        <p:spPr>
          <a:xfrm>
            <a:off x="2629501" y="1428750"/>
            <a:ext cx="3999899" cy="3416400"/>
          </a:xfrm>
        </p:spPr>
        <p:txBody>
          <a:bodyPr/>
          <a:lstStyle/>
          <a:p>
            <a:r>
              <a:rPr lang="en-US" dirty="0"/>
              <a:t>class Driver {</a:t>
            </a:r>
          </a:p>
          <a:p>
            <a:r>
              <a:rPr lang="en-US" dirty="0"/>
              <a:t>    function go(Vehicle $v) {</a:t>
            </a:r>
          </a:p>
          <a:p>
            <a:r>
              <a:rPr lang="en-US" dirty="0"/>
              <a:t>        $v-&gt;</a:t>
            </a:r>
            <a:r>
              <a:rPr lang="en-US" dirty="0" err="1"/>
              <a:t>startEngine</a:t>
            </a:r>
            <a:r>
              <a:rPr lang="en-US" dirty="0"/>
              <a:t>();</a:t>
            </a:r>
          </a:p>
          <a:p>
            <a:r>
              <a:rPr lang="en-US" dirty="0"/>
              <a:t>        $v-&gt;accelerate();</a:t>
            </a:r>
          </a:p>
          <a:p>
            <a:r>
              <a:rPr lang="en-US" dirty="0"/>
              <a:t>    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114190"/>
      </p:ext>
    </p:extLst>
  </p:cSld>
  <p:clrMapOvr>
    <a:masterClrMapping/>
  </p:clrMapOvr>
  <p:transition spd="slow">
    <p:fade thruBlk="1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DB0000"/>
            </a:gs>
            <a:gs pos="100000">
              <a:srgbClr val="540303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31"/>
          <p:cNvSpPr txBox="1">
            <a:spLocks noGrp="1"/>
          </p:cNvSpPr>
          <p:nvPr>
            <p:ph type="title"/>
          </p:nvPr>
        </p:nvSpPr>
        <p:spPr>
          <a:xfrm>
            <a:off x="224720" y="1931842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Font typeface="Arial"/>
              <a:buNone/>
            </a:pPr>
            <a:r>
              <a:rPr lang="en" sz="3600" b="1">
                <a:solidFill>
                  <a:schemeClr val="lt1"/>
                </a:solidFill>
              </a:rPr>
              <a:t>I - Interface segregation principle</a:t>
            </a:r>
            <a:endParaRPr sz="3600" b="1">
              <a:solidFill>
                <a:schemeClr val="lt1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endParaRPr sz="4000" b="1">
              <a:solidFill>
                <a:srgbClr val="FFC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32"/>
          <p:cNvSpPr txBox="1"/>
          <p:nvPr/>
        </p:nvSpPr>
        <p:spPr>
          <a:xfrm>
            <a:off x="0" y="-41317"/>
            <a:ext cx="9144000" cy="703800"/>
          </a:xfrm>
          <a:prstGeom prst="rect">
            <a:avLst/>
          </a:prstGeom>
          <a:gradFill>
            <a:gsLst>
              <a:gs pos="0">
                <a:srgbClr val="DB0000"/>
              </a:gs>
              <a:gs pos="100000">
                <a:srgbClr val="540303"/>
              </a:gs>
            </a:gsLst>
            <a:path path="circle">
              <a:fillToRect l="50000" t="50000" r="50000" b="50000"/>
            </a:path>
            <a:tileRect/>
          </a:gra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Font typeface="Arial"/>
              <a:buNone/>
            </a:pPr>
            <a:r>
              <a:rPr lang="en" sz="3600" b="1" dirty="0">
                <a:solidFill>
                  <a:schemeClr val="lt1"/>
                </a:solidFill>
              </a:rPr>
              <a:t>I - Interface segregation principle</a:t>
            </a:r>
            <a:endParaRPr sz="3600" b="1" dirty="0">
              <a:solidFill>
                <a:schemeClr val="lt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endParaRPr sz="4000" b="1" dirty="0">
              <a:solidFill>
                <a:srgbClr val="FFC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Font typeface="Arial"/>
              <a:buNone/>
            </a:pPr>
            <a:endParaRPr sz="3600" b="1" dirty="0">
              <a:solidFill>
                <a:schemeClr val="lt1"/>
              </a:solidFill>
            </a:endParaRPr>
          </a:p>
        </p:txBody>
      </p:sp>
      <p:sp>
        <p:nvSpPr>
          <p:cNvPr id="195" name="Google Shape;195;p32"/>
          <p:cNvSpPr txBox="1">
            <a:spLocks noGrp="1"/>
          </p:cNvSpPr>
          <p:nvPr>
            <p:ph type="body" idx="1"/>
          </p:nvPr>
        </p:nvSpPr>
        <p:spPr>
          <a:xfrm>
            <a:off x="338225" y="1462500"/>
            <a:ext cx="4001700" cy="36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 sz="1100" dirty="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100" i="1" dirty="0">
                <a:solidFill>
                  <a:srgbClr val="434343"/>
                </a:solidFill>
              </a:rPr>
              <a:t>Да продължим с примера за геометричните фигури. </a:t>
            </a:r>
            <a:endParaRPr sz="1100" i="1" dirty="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sz="1100" dirty="0">
                <a:solidFill>
                  <a:srgbClr val="434343"/>
                </a:solidFill>
              </a:rPr>
              <a:t>Тъй като искаме да изчисляваме и обема на нашите геометрични фигури, може да добавим и друга декларация в ShapeInterface:</a:t>
            </a:r>
            <a:endParaRPr dirty="0">
              <a:solidFill>
                <a:srgbClr val="434343"/>
              </a:solidFill>
            </a:endParaRPr>
          </a:p>
        </p:txBody>
      </p:sp>
      <p:sp>
        <p:nvSpPr>
          <p:cNvPr id="196" name="Google Shape;196;p32"/>
          <p:cNvSpPr txBox="1">
            <a:spLocks noGrp="1"/>
          </p:cNvSpPr>
          <p:nvPr>
            <p:ph type="body" idx="1"/>
          </p:nvPr>
        </p:nvSpPr>
        <p:spPr>
          <a:xfrm>
            <a:off x="285175" y="655200"/>
            <a:ext cx="8460900" cy="80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A client should never be forced to implement an interface that it doesn't use or clients shouldn't be forced to depend on methods they do not use.</a:t>
            </a:r>
            <a:endParaRPr sz="1100" i="1">
              <a:solidFill>
                <a:srgbClr val="434343"/>
              </a:solidFill>
            </a:endParaRPr>
          </a:p>
          <a:p>
            <a:pPr marL="0" lvl="0" indent="0" algn="ctr" rtl="0"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sz="1800"/>
          </a:p>
        </p:txBody>
      </p:sp>
      <p:sp>
        <p:nvSpPr>
          <p:cNvPr id="197" name="Google Shape;197;p32"/>
          <p:cNvSpPr txBox="1">
            <a:spLocks noGrp="1"/>
          </p:cNvSpPr>
          <p:nvPr>
            <p:ph type="body" idx="1"/>
          </p:nvPr>
        </p:nvSpPr>
        <p:spPr>
          <a:xfrm>
            <a:off x="4892950" y="1462500"/>
            <a:ext cx="4001700" cy="36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b="1">
              <a:solidFill>
                <a:srgbClr val="7F6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b="1">
              <a:solidFill>
                <a:srgbClr val="7F6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i="1">
              <a:solidFill>
                <a:srgbClr val="7F6000"/>
              </a:solidFill>
            </a:endParaRPr>
          </a:p>
        </p:txBody>
      </p:sp>
      <p:sp>
        <p:nvSpPr>
          <p:cNvPr id="198" name="Google Shape;198;p32"/>
          <p:cNvSpPr txBox="1">
            <a:spLocks noGrp="1"/>
          </p:cNvSpPr>
          <p:nvPr>
            <p:ph type="body" idx="1"/>
          </p:nvPr>
        </p:nvSpPr>
        <p:spPr>
          <a:xfrm>
            <a:off x="4892950" y="1588125"/>
            <a:ext cx="4001700" cy="36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434343"/>
                </a:solidFill>
              </a:rPr>
              <a:t>interface ShapeInterface {</a:t>
            </a:r>
            <a:br>
              <a:rPr lang="en" sz="1100" dirty="0">
                <a:solidFill>
                  <a:srgbClr val="434343"/>
                </a:solidFill>
              </a:rPr>
            </a:br>
            <a:r>
              <a:rPr lang="en" sz="1100" dirty="0">
                <a:solidFill>
                  <a:srgbClr val="434343"/>
                </a:solidFill>
              </a:rPr>
              <a:t>    public function </a:t>
            </a:r>
            <a:r>
              <a:rPr lang="en" sz="1100" dirty="0" smtClean="0">
                <a:solidFill>
                  <a:srgbClr val="434343"/>
                </a:solidFill>
              </a:rPr>
              <a:t>calc_area</a:t>
            </a:r>
            <a:r>
              <a:rPr lang="en" sz="1100" dirty="0">
                <a:solidFill>
                  <a:srgbClr val="434343"/>
                </a:solidFill>
              </a:rPr>
              <a:t>();</a:t>
            </a:r>
            <a:br>
              <a:rPr lang="en" sz="1100" dirty="0">
                <a:solidFill>
                  <a:srgbClr val="434343"/>
                </a:solidFill>
              </a:rPr>
            </a:br>
            <a:r>
              <a:rPr lang="en" sz="1100" dirty="0">
                <a:solidFill>
                  <a:srgbClr val="434343"/>
                </a:solidFill>
              </a:rPr>
              <a:t>  </a:t>
            </a:r>
            <a:r>
              <a:rPr lang="en" sz="1100" dirty="0">
                <a:solidFill>
                  <a:srgbClr val="990000"/>
                </a:solidFill>
              </a:rPr>
              <a:t>  public function </a:t>
            </a:r>
            <a:r>
              <a:rPr lang="en" sz="1100" dirty="0" smtClean="0">
                <a:solidFill>
                  <a:srgbClr val="990000"/>
                </a:solidFill>
              </a:rPr>
              <a:t>calc_volume</a:t>
            </a:r>
            <a:r>
              <a:rPr lang="en" sz="1100" dirty="0">
                <a:solidFill>
                  <a:srgbClr val="990000"/>
                </a:solidFill>
              </a:rPr>
              <a:t>();</a:t>
            </a:r>
            <a:br>
              <a:rPr lang="en" sz="1100" dirty="0">
                <a:solidFill>
                  <a:srgbClr val="990000"/>
                </a:solidFill>
              </a:rPr>
            </a:br>
            <a:r>
              <a:rPr lang="en" sz="1100" dirty="0">
                <a:solidFill>
                  <a:srgbClr val="434343"/>
                </a:solidFill>
              </a:rPr>
              <a:t>}  </a:t>
            </a:r>
            <a:endParaRPr sz="1100" dirty="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rgbClr val="434343"/>
              </a:solidFill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33"/>
          <p:cNvSpPr txBox="1"/>
          <p:nvPr/>
        </p:nvSpPr>
        <p:spPr>
          <a:xfrm>
            <a:off x="0" y="-41317"/>
            <a:ext cx="9144000" cy="703800"/>
          </a:xfrm>
          <a:prstGeom prst="rect">
            <a:avLst/>
          </a:prstGeom>
          <a:gradFill>
            <a:gsLst>
              <a:gs pos="0">
                <a:srgbClr val="DB0000"/>
              </a:gs>
              <a:gs pos="100000">
                <a:srgbClr val="540303"/>
              </a:gs>
            </a:gsLst>
            <a:path path="circle">
              <a:fillToRect l="50000" t="50000" r="50000" b="50000"/>
            </a:path>
            <a:tileRect/>
          </a:gra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Font typeface="Arial"/>
              <a:buNone/>
            </a:pPr>
            <a:r>
              <a:rPr lang="en" sz="3600" b="1">
                <a:solidFill>
                  <a:schemeClr val="lt1"/>
                </a:solidFill>
              </a:rPr>
              <a:t>I - Interface segregation principle</a:t>
            </a:r>
            <a:endParaRPr sz="3600" b="1">
              <a:solidFill>
                <a:schemeClr val="lt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endParaRPr sz="4000" b="1">
              <a:solidFill>
                <a:srgbClr val="FFC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Font typeface="Arial"/>
              <a:buNone/>
            </a:pPr>
            <a:endParaRPr sz="3600" b="1">
              <a:solidFill>
                <a:schemeClr val="lt1"/>
              </a:solidFill>
            </a:endParaRPr>
          </a:p>
        </p:txBody>
      </p:sp>
      <p:sp>
        <p:nvSpPr>
          <p:cNvPr id="204" name="Google Shape;204;p33"/>
          <p:cNvSpPr txBox="1">
            <a:spLocks noGrp="1"/>
          </p:cNvSpPr>
          <p:nvPr>
            <p:ph type="body" idx="1"/>
          </p:nvPr>
        </p:nvSpPr>
        <p:spPr>
          <a:xfrm>
            <a:off x="338225" y="1462500"/>
            <a:ext cx="8707500" cy="36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434343"/>
                </a:solidFill>
              </a:rPr>
              <a:t>Всяка форма, която създаваме е задължена да имплементира и методът volume.</a:t>
            </a:r>
            <a:endParaRPr sz="1100" dirty="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100" i="1" dirty="0">
                <a:solidFill>
                  <a:srgbClr val="434343"/>
                </a:solidFill>
              </a:rPr>
              <a:t>Но не всяка форма има обем - квадрат, кръг …</a:t>
            </a:r>
            <a:endParaRPr sz="1100" i="1" dirty="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434343"/>
                </a:solidFill>
              </a:rPr>
              <a:t>Ако оставим геометричните класове, които дефенерахме да имплементират ShapeInterface в този му вид,  задължаваме формите/техните класове/ да имплементират методи, от които нямат полза и/или са неадекватни за тях.</a:t>
            </a:r>
            <a:endParaRPr sz="1100" dirty="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434343"/>
                </a:solidFill>
              </a:rPr>
              <a:t>Това е в противоречие с Interface Segregation Principle.</a:t>
            </a:r>
            <a:endParaRPr sz="1100" dirty="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434343"/>
                </a:solidFill>
              </a:rPr>
              <a:t>Създаваме SolidShapeInterface, който има декларация за volumе. Триизмерните фигури, като куб, цилиндър и т.н. ще имплементират този интерфейс.</a:t>
            </a:r>
            <a:endParaRPr sz="1100" dirty="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sz="1100" dirty="0">
              <a:solidFill>
                <a:srgbClr val="434343"/>
              </a:solidFill>
            </a:endParaRPr>
          </a:p>
        </p:txBody>
      </p:sp>
      <p:sp>
        <p:nvSpPr>
          <p:cNvPr id="205" name="Google Shape;205;p33"/>
          <p:cNvSpPr txBox="1">
            <a:spLocks noGrp="1"/>
          </p:cNvSpPr>
          <p:nvPr>
            <p:ph type="body" idx="1"/>
          </p:nvPr>
        </p:nvSpPr>
        <p:spPr>
          <a:xfrm>
            <a:off x="285175" y="655200"/>
            <a:ext cx="8460900" cy="80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/>
              <a:t>A client should never be forced to implement an interface that it doesn't use or clients shouldn't be forced to depend on methods they do not use.</a:t>
            </a:r>
            <a:endParaRPr sz="1100" i="1">
              <a:solidFill>
                <a:srgbClr val="434343"/>
              </a:solidFill>
            </a:endParaRPr>
          </a:p>
          <a:p>
            <a:pPr marL="0" lvl="0" indent="0" algn="ctr" rtl="0"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sz="1800"/>
          </a:p>
        </p:txBody>
      </p:sp>
      <p:sp>
        <p:nvSpPr>
          <p:cNvPr id="206" name="Google Shape;206;p33"/>
          <p:cNvSpPr txBox="1">
            <a:spLocks noGrp="1"/>
          </p:cNvSpPr>
          <p:nvPr>
            <p:ph type="body" idx="1"/>
          </p:nvPr>
        </p:nvSpPr>
        <p:spPr>
          <a:xfrm>
            <a:off x="4892950" y="1462500"/>
            <a:ext cx="4001700" cy="36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b="1">
              <a:solidFill>
                <a:srgbClr val="7F6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b="1">
              <a:solidFill>
                <a:srgbClr val="7F6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i="1">
              <a:solidFill>
                <a:srgbClr val="7F6000"/>
              </a:solidFill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4"/>
          <p:cNvSpPr txBox="1"/>
          <p:nvPr/>
        </p:nvSpPr>
        <p:spPr>
          <a:xfrm>
            <a:off x="0" y="-41317"/>
            <a:ext cx="9144000" cy="703800"/>
          </a:xfrm>
          <a:prstGeom prst="rect">
            <a:avLst/>
          </a:prstGeom>
          <a:gradFill>
            <a:gsLst>
              <a:gs pos="0">
                <a:srgbClr val="DB0000"/>
              </a:gs>
              <a:gs pos="100000">
                <a:srgbClr val="540303"/>
              </a:gs>
            </a:gsLst>
            <a:path path="circle">
              <a:fillToRect l="50000" t="50000" r="50000" b="50000"/>
            </a:path>
            <a:tileRect/>
          </a:gra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Font typeface="Arial"/>
              <a:buNone/>
            </a:pPr>
            <a:r>
              <a:rPr lang="en" sz="3600" b="1">
                <a:solidFill>
                  <a:schemeClr val="lt1"/>
                </a:solidFill>
              </a:rPr>
              <a:t>I - Interface segregation principle</a:t>
            </a:r>
            <a:endParaRPr sz="3600" b="1">
              <a:solidFill>
                <a:schemeClr val="lt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endParaRPr sz="4000" b="1">
              <a:solidFill>
                <a:srgbClr val="FFC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Font typeface="Arial"/>
              <a:buNone/>
            </a:pPr>
            <a:endParaRPr sz="3600" b="1">
              <a:solidFill>
                <a:schemeClr val="lt1"/>
              </a:solidFill>
            </a:endParaRPr>
          </a:p>
        </p:txBody>
      </p:sp>
      <p:sp>
        <p:nvSpPr>
          <p:cNvPr id="213" name="Google Shape;213;p34"/>
          <p:cNvSpPr txBox="1">
            <a:spLocks noGrp="1"/>
          </p:cNvSpPr>
          <p:nvPr>
            <p:ph type="body" idx="1"/>
          </p:nvPr>
        </p:nvSpPr>
        <p:spPr>
          <a:xfrm>
            <a:off x="285175" y="655200"/>
            <a:ext cx="8460900" cy="80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 dirty="0"/>
              <a:t>A client should never be forced to implement an interface that it doesn't use or clients shouldn't be forced to depend on methods they do not use.</a:t>
            </a:r>
            <a:endParaRPr sz="1100" i="1" dirty="0">
              <a:solidFill>
                <a:srgbClr val="434343"/>
              </a:solidFill>
            </a:endParaRPr>
          </a:p>
          <a:p>
            <a:pPr marL="0" lvl="0" indent="0" algn="ctr" rtl="0"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sz="1800" dirty="0"/>
          </a:p>
        </p:txBody>
      </p:sp>
      <p:sp>
        <p:nvSpPr>
          <p:cNvPr id="214" name="Google Shape;214;p34"/>
          <p:cNvSpPr txBox="1">
            <a:spLocks noGrp="1"/>
          </p:cNvSpPr>
          <p:nvPr>
            <p:ph type="body" idx="1"/>
          </p:nvPr>
        </p:nvSpPr>
        <p:spPr>
          <a:xfrm>
            <a:off x="4892950" y="1462500"/>
            <a:ext cx="4001700" cy="36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b="1">
              <a:solidFill>
                <a:srgbClr val="7F6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b="1">
              <a:solidFill>
                <a:srgbClr val="7F6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i="1">
              <a:solidFill>
                <a:srgbClr val="7F6000"/>
              </a:solidFill>
            </a:endParaRPr>
          </a:p>
        </p:txBody>
      </p:sp>
      <p:sp>
        <p:nvSpPr>
          <p:cNvPr id="2" name="Текстов контейнер 1"/>
          <p:cNvSpPr>
            <a:spLocks noGrp="1"/>
          </p:cNvSpPr>
          <p:nvPr>
            <p:ph type="body" idx="1"/>
          </p:nvPr>
        </p:nvSpPr>
        <p:spPr>
          <a:xfrm>
            <a:off x="311701" y="1809749"/>
            <a:ext cx="3803100" cy="2759125"/>
          </a:xfrm>
        </p:spPr>
        <p:txBody>
          <a:bodyPr/>
          <a:lstStyle/>
          <a:p>
            <a:r>
              <a:rPr lang="en" sz="1200" dirty="0">
                <a:solidFill>
                  <a:srgbClr val="434343"/>
                </a:solidFill>
              </a:rPr>
              <a:t>interface ShapeInterface {</a:t>
            </a:r>
            <a:br>
              <a:rPr lang="en" sz="1200" dirty="0">
                <a:solidFill>
                  <a:srgbClr val="434343"/>
                </a:solidFill>
              </a:rPr>
            </a:br>
            <a:r>
              <a:rPr lang="en" sz="1200" dirty="0">
                <a:solidFill>
                  <a:srgbClr val="434343"/>
                </a:solidFill>
              </a:rPr>
              <a:t>    public </a:t>
            </a:r>
            <a:r>
              <a:rPr lang="en" sz="1200" dirty="0" smtClean="0">
                <a:solidFill>
                  <a:srgbClr val="434343"/>
                </a:solidFill>
              </a:rPr>
              <a:t>function</a:t>
            </a:r>
            <a:r>
              <a:rPr lang="en-US" sz="1200" dirty="0" smtClean="0">
                <a:solidFill>
                  <a:srgbClr val="434343"/>
                </a:solidFill>
              </a:rPr>
              <a:t> </a:t>
            </a:r>
            <a:r>
              <a:rPr lang="en-US" sz="1200" dirty="0" err="1" smtClean="0">
                <a:solidFill>
                  <a:srgbClr val="434343"/>
                </a:solidFill>
              </a:rPr>
              <a:t>calc_area</a:t>
            </a:r>
            <a:r>
              <a:rPr lang="en-US" sz="1200" dirty="0" smtClean="0">
                <a:solidFill>
                  <a:srgbClr val="434343"/>
                </a:solidFill>
              </a:rPr>
              <a:t>()</a:t>
            </a:r>
            <a:r>
              <a:rPr lang="en" sz="1200" dirty="0" smtClean="0">
                <a:solidFill>
                  <a:srgbClr val="434343"/>
                </a:solidFill>
              </a:rPr>
              <a:t>;</a:t>
            </a:r>
            <a:r>
              <a:rPr lang="en" sz="1200" dirty="0">
                <a:solidFill>
                  <a:srgbClr val="434343"/>
                </a:solidFill>
              </a:rPr>
              <a:t/>
            </a:r>
            <a:br>
              <a:rPr lang="en" sz="1200" dirty="0">
                <a:solidFill>
                  <a:srgbClr val="434343"/>
                </a:solidFill>
              </a:rPr>
            </a:br>
            <a:r>
              <a:rPr lang="en" sz="1200" dirty="0">
                <a:solidFill>
                  <a:srgbClr val="434343"/>
                </a:solidFill>
              </a:rPr>
              <a:t>}</a:t>
            </a:r>
            <a:br>
              <a:rPr lang="en" sz="1200" dirty="0">
                <a:solidFill>
                  <a:srgbClr val="434343"/>
                </a:solidFill>
              </a:rPr>
            </a:br>
            <a:r>
              <a:rPr lang="en" sz="1200" dirty="0">
                <a:solidFill>
                  <a:srgbClr val="434343"/>
                </a:solidFill>
              </a:rPr>
              <a:t/>
            </a:r>
            <a:br>
              <a:rPr lang="en" sz="1200" dirty="0">
                <a:solidFill>
                  <a:srgbClr val="434343"/>
                </a:solidFill>
              </a:rPr>
            </a:br>
            <a:r>
              <a:rPr lang="en" sz="1200" dirty="0">
                <a:solidFill>
                  <a:srgbClr val="434343"/>
                </a:solidFill>
              </a:rPr>
              <a:t>interface SolidShapeInterface {</a:t>
            </a:r>
            <a:br>
              <a:rPr lang="en" sz="1200" dirty="0">
                <a:solidFill>
                  <a:srgbClr val="434343"/>
                </a:solidFill>
              </a:rPr>
            </a:br>
            <a:r>
              <a:rPr lang="en" sz="1200" dirty="0">
                <a:solidFill>
                  <a:srgbClr val="434343"/>
                </a:solidFill>
              </a:rPr>
              <a:t>    public </a:t>
            </a:r>
            <a:r>
              <a:rPr lang="en" sz="1200" dirty="0" smtClean="0">
                <a:solidFill>
                  <a:srgbClr val="434343"/>
                </a:solidFill>
              </a:rPr>
              <a:t>function</a:t>
            </a:r>
            <a:r>
              <a:rPr lang="en-US" sz="1200" dirty="0" smtClean="0">
                <a:solidFill>
                  <a:srgbClr val="434343"/>
                </a:solidFill>
              </a:rPr>
              <a:t> </a:t>
            </a:r>
            <a:r>
              <a:rPr lang="en-US" sz="1200" dirty="0" err="1" smtClean="0">
                <a:solidFill>
                  <a:srgbClr val="434343"/>
                </a:solidFill>
              </a:rPr>
              <a:t>calc_volume</a:t>
            </a:r>
            <a:r>
              <a:rPr lang="en-US" sz="1200" dirty="0" smtClean="0">
                <a:solidFill>
                  <a:srgbClr val="434343"/>
                </a:solidFill>
              </a:rPr>
              <a:t>()</a:t>
            </a:r>
            <a:r>
              <a:rPr lang="en" sz="1200" dirty="0" smtClean="0">
                <a:solidFill>
                  <a:srgbClr val="434343"/>
                </a:solidFill>
              </a:rPr>
              <a:t>;</a:t>
            </a:r>
            <a:r>
              <a:rPr lang="en" sz="1200" dirty="0">
                <a:solidFill>
                  <a:srgbClr val="434343"/>
                </a:solidFill>
              </a:rPr>
              <a:t/>
            </a:r>
            <a:br>
              <a:rPr lang="en" sz="1200" dirty="0">
                <a:solidFill>
                  <a:srgbClr val="434343"/>
                </a:solidFill>
              </a:rPr>
            </a:br>
            <a:r>
              <a:rPr lang="en" sz="1200" dirty="0">
                <a:solidFill>
                  <a:srgbClr val="434343"/>
                </a:solidFill>
              </a:rPr>
              <a:t>}</a:t>
            </a:r>
            <a:br>
              <a:rPr lang="en" sz="1200" dirty="0">
                <a:solidFill>
                  <a:srgbClr val="434343"/>
                </a:solidFill>
              </a:rPr>
            </a:br>
            <a:endParaRPr lang="en-US" sz="1200" dirty="0"/>
          </a:p>
        </p:txBody>
      </p:sp>
      <p:sp>
        <p:nvSpPr>
          <p:cNvPr id="12" name="Текстов контейнер 1"/>
          <p:cNvSpPr>
            <a:spLocks noGrp="1"/>
          </p:cNvSpPr>
          <p:nvPr>
            <p:ph type="body" idx="1"/>
          </p:nvPr>
        </p:nvSpPr>
        <p:spPr>
          <a:xfrm>
            <a:off x="4655100" y="1733550"/>
            <a:ext cx="3803100" cy="2911525"/>
          </a:xfrm>
        </p:spPr>
        <p:txBody>
          <a:bodyPr/>
          <a:lstStyle/>
          <a:p>
            <a:r>
              <a:rPr lang="en" sz="1200" dirty="0">
                <a:solidFill>
                  <a:srgbClr val="434343"/>
                </a:solidFill>
              </a:rPr>
              <a:t>class Cuboid implements ShapeInterface, SolidShapeInterface {</a:t>
            </a:r>
            <a:br>
              <a:rPr lang="en" sz="1200" dirty="0">
                <a:solidFill>
                  <a:srgbClr val="434343"/>
                </a:solidFill>
              </a:rPr>
            </a:br>
            <a:r>
              <a:rPr lang="en" sz="1200" dirty="0">
                <a:solidFill>
                  <a:srgbClr val="434343"/>
                </a:solidFill>
              </a:rPr>
              <a:t>    public </a:t>
            </a:r>
            <a:r>
              <a:rPr lang="en" sz="1200" dirty="0" smtClean="0">
                <a:solidFill>
                  <a:srgbClr val="434343"/>
                </a:solidFill>
              </a:rPr>
              <a:t>function</a:t>
            </a:r>
            <a:r>
              <a:rPr lang="en-US" sz="1200" dirty="0" smtClean="0">
                <a:solidFill>
                  <a:srgbClr val="434343"/>
                </a:solidFill>
              </a:rPr>
              <a:t> </a:t>
            </a:r>
            <a:r>
              <a:rPr lang="en-US" sz="1200" dirty="0" err="1" smtClean="0">
                <a:solidFill>
                  <a:srgbClr val="434343"/>
                </a:solidFill>
              </a:rPr>
              <a:t>calc_area</a:t>
            </a:r>
            <a:r>
              <a:rPr lang="en-US" sz="1200" dirty="0" smtClean="0">
                <a:solidFill>
                  <a:srgbClr val="434343"/>
                </a:solidFill>
              </a:rPr>
              <a:t>()</a:t>
            </a:r>
            <a:r>
              <a:rPr lang="en" sz="1200" dirty="0" smtClean="0">
                <a:solidFill>
                  <a:srgbClr val="434343"/>
                </a:solidFill>
              </a:rPr>
              <a:t> </a:t>
            </a:r>
            <a:r>
              <a:rPr lang="en" sz="1200" dirty="0">
                <a:solidFill>
                  <a:srgbClr val="434343"/>
                </a:solidFill>
              </a:rPr>
              <a:t>{</a:t>
            </a:r>
            <a:br>
              <a:rPr lang="en" sz="1200" dirty="0">
                <a:solidFill>
                  <a:srgbClr val="434343"/>
                </a:solidFill>
              </a:rPr>
            </a:br>
            <a:r>
              <a:rPr lang="en" sz="1200" dirty="0">
                <a:solidFill>
                  <a:srgbClr val="434343"/>
                </a:solidFill>
              </a:rPr>
              <a:t>        // calculate the surface area of the cuboid</a:t>
            </a:r>
            <a:br>
              <a:rPr lang="en" sz="1200" dirty="0">
                <a:solidFill>
                  <a:srgbClr val="434343"/>
                </a:solidFill>
              </a:rPr>
            </a:br>
            <a:r>
              <a:rPr lang="en" sz="1200" dirty="0">
                <a:solidFill>
                  <a:srgbClr val="434343"/>
                </a:solidFill>
              </a:rPr>
              <a:t>    }</a:t>
            </a:r>
            <a:br>
              <a:rPr lang="en" sz="1200" dirty="0">
                <a:solidFill>
                  <a:srgbClr val="434343"/>
                </a:solidFill>
              </a:rPr>
            </a:br>
            <a:r>
              <a:rPr lang="en" sz="1200" dirty="0">
                <a:solidFill>
                  <a:srgbClr val="434343"/>
                </a:solidFill>
              </a:rPr>
              <a:t/>
            </a:r>
            <a:br>
              <a:rPr lang="en" sz="1200" dirty="0">
                <a:solidFill>
                  <a:srgbClr val="434343"/>
                </a:solidFill>
              </a:rPr>
            </a:br>
            <a:r>
              <a:rPr lang="en" sz="1200" dirty="0">
                <a:solidFill>
                  <a:srgbClr val="434343"/>
                </a:solidFill>
              </a:rPr>
              <a:t>    public </a:t>
            </a:r>
            <a:r>
              <a:rPr lang="en" sz="1200" dirty="0" smtClean="0">
                <a:solidFill>
                  <a:srgbClr val="434343"/>
                </a:solidFill>
              </a:rPr>
              <a:t>function</a:t>
            </a:r>
            <a:r>
              <a:rPr lang="en-US" sz="1200" dirty="0" smtClean="0">
                <a:solidFill>
                  <a:srgbClr val="434343"/>
                </a:solidFill>
              </a:rPr>
              <a:t> </a:t>
            </a:r>
            <a:r>
              <a:rPr lang="en-US" sz="1200" dirty="0" err="1" smtClean="0">
                <a:solidFill>
                  <a:srgbClr val="434343"/>
                </a:solidFill>
              </a:rPr>
              <a:t>calc_volume</a:t>
            </a:r>
            <a:r>
              <a:rPr lang="en-US" sz="1200" dirty="0" smtClean="0">
                <a:solidFill>
                  <a:srgbClr val="434343"/>
                </a:solidFill>
              </a:rPr>
              <a:t>()</a:t>
            </a:r>
            <a:r>
              <a:rPr lang="en" sz="1200" dirty="0" smtClean="0">
                <a:solidFill>
                  <a:srgbClr val="434343"/>
                </a:solidFill>
              </a:rPr>
              <a:t> </a:t>
            </a:r>
            <a:r>
              <a:rPr lang="en" sz="1200" dirty="0">
                <a:solidFill>
                  <a:srgbClr val="434343"/>
                </a:solidFill>
              </a:rPr>
              <a:t>{</a:t>
            </a:r>
            <a:br>
              <a:rPr lang="en" sz="1200" dirty="0">
                <a:solidFill>
                  <a:srgbClr val="434343"/>
                </a:solidFill>
              </a:rPr>
            </a:br>
            <a:r>
              <a:rPr lang="en" sz="1200" dirty="0">
                <a:solidFill>
                  <a:srgbClr val="434343"/>
                </a:solidFill>
              </a:rPr>
              <a:t>        // calculate the volume of the cuboid</a:t>
            </a:r>
            <a:br>
              <a:rPr lang="en" sz="1200" dirty="0">
                <a:solidFill>
                  <a:srgbClr val="434343"/>
                </a:solidFill>
              </a:rPr>
            </a:br>
            <a:r>
              <a:rPr lang="en" sz="1200" dirty="0">
                <a:solidFill>
                  <a:srgbClr val="434343"/>
                </a:solidFill>
              </a:rPr>
              <a:t>    }</a:t>
            </a:r>
            <a:br>
              <a:rPr lang="en" sz="1200" dirty="0">
                <a:solidFill>
                  <a:srgbClr val="434343"/>
                </a:solidFill>
              </a:rPr>
            </a:br>
            <a:r>
              <a:rPr lang="en" sz="1200" dirty="0">
                <a:solidFill>
                  <a:srgbClr val="434343"/>
                </a:solidFill>
              </a:rPr>
              <a:t>}</a:t>
            </a:r>
            <a:endParaRPr lang="en-US" sz="1200" dirty="0"/>
          </a:p>
        </p:txBody>
      </p:sp>
    </p:spTree>
  </p:cSld>
  <p:clrMapOvr>
    <a:masterClrMapping/>
  </p:clrMapOvr>
  <p:transition spd="slow">
    <p:fade thruBlk="1"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0D2E9"/>
            </a:gs>
            <a:gs pos="100000">
              <a:srgbClr val="045962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35"/>
          <p:cNvSpPr txBox="1">
            <a:spLocks noGrp="1"/>
          </p:cNvSpPr>
          <p:nvPr>
            <p:ph type="title"/>
          </p:nvPr>
        </p:nvSpPr>
        <p:spPr>
          <a:xfrm>
            <a:off x="224720" y="1931842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Font typeface="Arial"/>
              <a:buNone/>
            </a:pPr>
            <a:r>
              <a:rPr lang="en" sz="3600" b="1">
                <a:solidFill>
                  <a:schemeClr val="lt1"/>
                </a:solidFill>
              </a:rPr>
              <a:t>D - Dependency Inversion Principle</a:t>
            </a:r>
            <a:endParaRPr sz="3600" b="1">
              <a:solidFill>
                <a:schemeClr val="lt1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endParaRPr sz="4000" b="1">
              <a:solidFill>
                <a:srgbClr val="FFC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6"/>
          <p:cNvSpPr txBox="1"/>
          <p:nvPr/>
        </p:nvSpPr>
        <p:spPr>
          <a:xfrm>
            <a:off x="0" y="-41317"/>
            <a:ext cx="9144000" cy="703800"/>
          </a:xfrm>
          <a:prstGeom prst="rect">
            <a:avLst/>
          </a:prstGeom>
          <a:gradFill>
            <a:gsLst>
              <a:gs pos="0">
                <a:srgbClr val="00D2E9"/>
              </a:gs>
              <a:gs pos="100000">
                <a:srgbClr val="045962"/>
              </a:gs>
            </a:gsLst>
            <a:path path="circle">
              <a:fillToRect l="50000" t="50000" r="50000" b="50000"/>
            </a:path>
            <a:tileRect/>
          </a:gra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Font typeface="Arial"/>
              <a:buNone/>
            </a:pPr>
            <a:r>
              <a:rPr lang="en" sz="3600" b="1">
                <a:solidFill>
                  <a:schemeClr val="lt1"/>
                </a:solidFill>
              </a:rPr>
              <a:t>D - Dependency Inversion Principle</a:t>
            </a:r>
            <a:endParaRPr sz="3600" b="1">
              <a:solidFill>
                <a:schemeClr val="lt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endParaRPr sz="4000" b="1">
              <a:solidFill>
                <a:srgbClr val="FFC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Font typeface="Arial"/>
              <a:buNone/>
            </a:pPr>
            <a:endParaRPr sz="3600" b="1">
              <a:solidFill>
                <a:schemeClr val="lt1"/>
              </a:solidFill>
            </a:endParaRPr>
          </a:p>
        </p:txBody>
      </p:sp>
      <p:sp>
        <p:nvSpPr>
          <p:cNvPr id="226" name="Google Shape;226;p36"/>
          <p:cNvSpPr txBox="1">
            <a:spLocks noGrp="1"/>
          </p:cNvSpPr>
          <p:nvPr>
            <p:ph type="body" idx="1"/>
          </p:nvPr>
        </p:nvSpPr>
        <p:spPr>
          <a:xfrm>
            <a:off x="338225" y="1856625"/>
            <a:ext cx="4001700" cy="328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rgbClr val="434343"/>
                </a:solidFill>
              </a:rPr>
              <a:t>class </a:t>
            </a:r>
            <a:r>
              <a:rPr lang="en" sz="1100" b="1">
                <a:solidFill>
                  <a:srgbClr val="3C78D8"/>
                </a:solidFill>
              </a:rPr>
              <a:t>Mailer</a:t>
            </a:r>
            <a:endParaRPr sz="1100" b="1">
              <a:solidFill>
                <a:srgbClr val="3C78D8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rgbClr val="434343"/>
                </a:solidFill>
              </a:rPr>
              <a:t>{</a:t>
            </a:r>
            <a:endParaRPr sz="110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rgbClr val="434343"/>
                </a:solidFill>
              </a:rPr>
              <a:t>   // Methods for a Mailer class</a:t>
            </a:r>
            <a:endParaRPr sz="110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434343"/>
                </a:solidFill>
              </a:rPr>
              <a:t>}</a:t>
            </a:r>
            <a:endParaRPr sz="110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 sz="110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sz="1100">
                <a:solidFill>
                  <a:srgbClr val="434343"/>
                </a:solidFill>
              </a:rPr>
              <a:t/>
            </a:r>
            <a:br>
              <a:rPr lang="en" sz="1100">
                <a:solidFill>
                  <a:srgbClr val="434343"/>
                </a:solidFill>
              </a:rPr>
            </a:br>
            <a:endParaRPr sz="1100">
              <a:solidFill>
                <a:srgbClr val="434343"/>
              </a:solidFill>
            </a:endParaRPr>
          </a:p>
        </p:txBody>
      </p:sp>
      <p:sp>
        <p:nvSpPr>
          <p:cNvPr id="227" name="Google Shape;227;p36"/>
          <p:cNvSpPr txBox="1">
            <a:spLocks noGrp="1"/>
          </p:cNvSpPr>
          <p:nvPr>
            <p:ph type="body" idx="1"/>
          </p:nvPr>
        </p:nvSpPr>
        <p:spPr>
          <a:xfrm>
            <a:off x="277750" y="855900"/>
            <a:ext cx="8460900" cy="80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i="1"/>
              <a:t>A. High-level modules should not depend on low-level modules. Both should depend on abstractions.</a:t>
            </a:r>
            <a:endParaRPr sz="1200" i="1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i="1"/>
              <a:t>B. Abstractions should not depend upon details. Details should depend upon abstractions.</a:t>
            </a:r>
            <a:endParaRPr sz="1200" i="1"/>
          </a:p>
          <a:p>
            <a:pPr marL="0" lvl="0" indent="0" algn="ctr" rtl="0"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sz="1800"/>
          </a:p>
        </p:txBody>
      </p:sp>
      <p:sp>
        <p:nvSpPr>
          <p:cNvPr id="228" name="Google Shape;228;p36"/>
          <p:cNvSpPr txBox="1">
            <a:spLocks noGrp="1"/>
          </p:cNvSpPr>
          <p:nvPr>
            <p:ph type="body" idx="1"/>
          </p:nvPr>
        </p:nvSpPr>
        <p:spPr>
          <a:xfrm>
            <a:off x="4892950" y="1462500"/>
            <a:ext cx="4001700" cy="36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b="1">
              <a:solidFill>
                <a:srgbClr val="7F6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b="1">
              <a:solidFill>
                <a:srgbClr val="7F6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i="1">
              <a:solidFill>
                <a:srgbClr val="7F6000"/>
              </a:solidFill>
            </a:endParaRPr>
          </a:p>
        </p:txBody>
      </p:sp>
      <p:sp>
        <p:nvSpPr>
          <p:cNvPr id="229" name="Google Shape;229;p36"/>
          <p:cNvSpPr txBox="1">
            <a:spLocks noGrp="1"/>
          </p:cNvSpPr>
          <p:nvPr>
            <p:ph type="body" idx="1"/>
          </p:nvPr>
        </p:nvSpPr>
        <p:spPr>
          <a:xfrm>
            <a:off x="4892950" y="1663200"/>
            <a:ext cx="4001700" cy="334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rgbClr val="434343"/>
                </a:solidFill>
              </a:rPr>
              <a:t>class SendWelcomeMessage</a:t>
            </a:r>
            <a:endParaRPr sz="110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rgbClr val="434343"/>
                </a:solidFill>
              </a:rPr>
              <a:t>{</a:t>
            </a:r>
            <a:endParaRPr sz="110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rgbClr val="434343"/>
                </a:solidFill>
              </a:rPr>
              <a:t>   private $mailer;</a:t>
            </a:r>
            <a:endParaRPr sz="110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rgbClr val="434343"/>
                </a:solidFill>
              </a:rPr>
              <a:t>   public function __construct(</a:t>
            </a:r>
            <a:r>
              <a:rPr lang="en" sz="1100" b="1">
                <a:solidFill>
                  <a:srgbClr val="1155CC"/>
                </a:solidFill>
              </a:rPr>
              <a:t>Mailer $mailer</a:t>
            </a:r>
            <a:r>
              <a:rPr lang="en" sz="1100">
                <a:solidFill>
                  <a:srgbClr val="434343"/>
                </a:solidFill>
              </a:rPr>
              <a:t>)</a:t>
            </a:r>
            <a:endParaRPr sz="110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rgbClr val="434343"/>
                </a:solidFill>
              </a:rPr>
              <a:t>   {</a:t>
            </a:r>
            <a:endParaRPr sz="110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rgbClr val="434343"/>
                </a:solidFill>
              </a:rPr>
              <a:t>       $this-&gt;mailer = $mailer;</a:t>
            </a:r>
            <a:endParaRPr sz="110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rgbClr val="434343"/>
                </a:solidFill>
              </a:rPr>
              <a:t>   }</a:t>
            </a:r>
            <a:endParaRPr sz="110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rgbClr val="434343"/>
                </a:solidFill>
              </a:rPr>
              <a:t>}</a:t>
            </a:r>
            <a:endParaRPr sz="110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 sz="110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rgbClr val="434343"/>
              </a:solidFill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7"/>
          <p:cNvSpPr txBox="1"/>
          <p:nvPr/>
        </p:nvSpPr>
        <p:spPr>
          <a:xfrm>
            <a:off x="0" y="-41317"/>
            <a:ext cx="9144000" cy="703800"/>
          </a:xfrm>
          <a:prstGeom prst="rect">
            <a:avLst/>
          </a:prstGeom>
          <a:gradFill>
            <a:gsLst>
              <a:gs pos="0">
                <a:srgbClr val="00D2E9"/>
              </a:gs>
              <a:gs pos="100000">
                <a:srgbClr val="045962"/>
              </a:gs>
            </a:gsLst>
            <a:path path="circle">
              <a:fillToRect l="50000" t="50000" r="50000" b="50000"/>
            </a:path>
            <a:tileRect/>
          </a:gra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Font typeface="Arial"/>
              <a:buNone/>
            </a:pPr>
            <a:r>
              <a:rPr lang="en" sz="3600" b="1">
                <a:solidFill>
                  <a:schemeClr val="lt1"/>
                </a:solidFill>
              </a:rPr>
              <a:t>D - Dependency Inversion Principle</a:t>
            </a:r>
            <a:endParaRPr sz="3600" b="1">
              <a:solidFill>
                <a:schemeClr val="lt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endParaRPr sz="4000" b="1">
              <a:solidFill>
                <a:srgbClr val="FFC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Font typeface="Arial"/>
              <a:buNone/>
            </a:pPr>
            <a:endParaRPr sz="3600" b="1">
              <a:solidFill>
                <a:schemeClr val="lt1"/>
              </a:solidFill>
            </a:endParaRPr>
          </a:p>
        </p:txBody>
      </p:sp>
      <p:sp>
        <p:nvSpPr>
          <p:cNvPr id="235" name="Google Shape;235;p37"/>
          <p:cNvSpPr txBox="1">
            <a:spLocks noGrp="1"/>
          </p:cNvSpPr>
          <p:nvPr>
            <p:ph type="body" idx="1"/>
          </p:nvPr>
        </p:nvSpPr>
        <p:spPr>
          <a:xfrm>
            <a:off x="308500" y="1752575"/>
            <a:ext cx="4001700" cy="328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rgbClr val="434343"/>
                </a:solidFill>
              </a:rPr>
              <a:t>class SendWelcomeMessage</a:t>
            </a:r>
            <a:endParaRPr sz="110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rgbClr val="434343"/>
                </a:solidFill>
              </a:rPr>
              <a:t>{</a:t>
            </a:r>
            <a:endParaRPr sz="110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rgbClr val="434343"/>
                </a:solidFill>
              </a:rPr>
              <a:t>   private $mailer;</a:t>
            </a:r>
            <a:endParaRPr sz="110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rgbClr val="434343"/>
                </a:solidFill>
              </a:rPr>
              <a:t>   public function __construct(</a:t>
            </a:r>
            <a:r>
              <a:rPr lang="en" sz="1100" b="1">
                <a:solidFill>
                  <a:srgbClr val="38761D"/>
                </a:solidFill>
              </a:rPr>
              <a:t>MailerInterface $mailer</a:t>
            </a:r>
            <a:r>
              <a:rPr lang="en" sz="1100">
                <a:solidFill>
                  <a:srgbClr val="434343"/>
                </a:solidFill>
              </a:rPr>
              <a:t>)</a:t>
            </a:r>
            <a:endParaRPr sz="110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rgbClr val="434343"/>
                </a:solidFill>
              </a:rPr>
              <a:t>   {</a:t>
            </a:r>
            <a:endParaRPr sz="110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rgbClr val="434343"/>
                </a:solidFill>
              </a:rPr>
              <a:t>       $this-&gt;mailer = $mailer;</a:t>
            </a:r>
            <a:endParaRPr sz="110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434343"/>
                </a:solidFill>
              </a:rPr>
              <a:t>   }</a:t>
            </a:r>
            <a:endParaRPr sz="110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rgbClr val="434343"/>
                </a:solidFill>
              </a:rPr>
              <a:t>}</a:t>
            </a:r>
            <a:endParaRPr sz="110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sz="1100">
              <a:solidFill>
                <a:srgbClr val="434343"/>
              </a:solidFill>
            </a:endParaRPr>
          </a:p>
        </p:txBody>
      </p:sp>
      <p:sp>
        <p:nvSpPr>
          <p:cNvPr id="236" name="Google Shape;236;p37"/>
          <p:cNvSpPr txBox="1">
            <a:spLocks noGrp="1"/>
          </p:cNvSpPr>
          <p:nvPr>
            <p:ph type="body" idx="1"/>
          </p:nvPr>
        </p:nvSpPr>
        <p:spPr>
          <a:xfrm>
            <a:off x="277750" y="855900"/>
            <a:ext cx="8460900" cy="80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i="1"/>
              <a:t>A. High-level modules should not depend on low-level modules. Both should depend on abstractions.</a:t>
            </a:r>
            <a:endParaRPr sz="1200" i="1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i="1"/>
              <a:t>B. Abstractions should not depend upon details. Details should depend upon abstractions.</a:t>
            </a:r>
            <a:endParaRPr sz="1200" i="1"/>
          </a:p>
          <a:p>
            <a:pPr marL="0" lvl="0" indent="0" algn="ctr" rtl="0"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sz="1800"/>
          </a:p>
        </p:txBody>
      </p:sp>
      <p:sp>
        <p:nvSpPr>
          <p:cNvPr id="237" name="Google Shape;237;p37"/>
          <p:cNvSpPr txBox="1">
            <a:spLocks noGrp="1"/>
          </p:cNvSpPr>
          <p:nvPr>
            <p:ph type="body" idx="1"/>
          </p:nvPr>
        </p:nvSpPr>
        <p:spPr>
          <a:xfrm>
            <a:off x="4892950" y="1462500"/>
            <a:ext cx="4001700" cy="36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b="1">
              <a:solidFill>
                <a:srgbClr val="7F6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 i="1" u="sng">
                <a:solidFill>
                  <a:schemeClr val="hlink"/>
                </a:solidFill>
                <a:hlinkClick r:id="rId3"/>
              </a:rPr>
              <a:t>Dependency Injection</a:t>
            </a:r>
            <a:endParaRPr sz="1100" b="1" i="1">
              <a:solidFill>
                <a:srgbClr val="7F6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i="1">
              <a:solidFill>
                <a:srgbClr val="7F6000"/>
              </a:solidFill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38"/>
          <p:cNvSpPr txBox="1"/>
          <p:nvPr/>
        </p:nvSpPr>
        <p:spPr>
          <a:xfrm>
            <a:off x="0" y="-41317"/>
            <a:ext cx="9144000" cy="703800"/>
          </a:xfrm>
          <a:prstGeom prst="rect">
            <a:avLst/>
          </a:prstGeom>
          <a:gradFill>
            <a:gsLst>
              <a:gs pos="0">
                <a:srgbClr val="00D2E9"/>
              </a:gs>
              <a:gs pos="100000">
                <a:srgbClr val="045962"/>
              </a:gs>
            </a:gsLst>
            <a:path path="circle">
              <a:fillToRect l="50000" t="50000" r="50000" b="50000"/>
            </a:path>
            <a:tileRect/>
          </a:gra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Font typeface="Arial"/>
              <a:buNone/>
            </a:pPr>
            <a:r>
              <a:rPr lang="en" sz="3600" b="1">
                <a:solidFill>
                  <a:schemeClr val="lt1"/>
                </a:solidFill>
              </a:rPr>
              <a:t>D - Dependency Inversion Principle</a:t>
            </a:r>
            <a:endParaRPr sz="3600" b="1">
              <a:solidFill>
                <a:schemeClr val="lt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endParaRPr sz="4000" b="1">
              <a:solidFill>
                <a:srgbClr val="FFC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Font typeface="Arial"/>
              <a:buNone/>
            </a:pPr>
            <a:endParaRPr sz="3600" b="1">
              <a:solidFill>
                <a:schemeClr val="lt1"/>
              </a:solidFill>
            </a:endParaRPr>
          </a:p>
        </p:txBody>
      </p:sp>
      <p:sp>
        <p:nvSpPr>
          <p:cNvPr id="243" name="Google Shape;243;p38"/>
          <p:cNvSpPr txBox="1">
            <a:spLocks noGrp="1"/>
          </p:cNvSpPr>
          <p:nvPr>
            <p:ph type="body" idx="1"/>
          </p:nvPr>
        </p:nvSpPr>
        <p:spPr>
          <a:xfrm>
            <a:off x="338225" y="1856625"/>
            <a:ext cx="4001700" cy="328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38761D"/>
                </a:solidFill>
              </a:rPr>
              <a:t>interface MailerInterface</a:t>
            </a:r>
            <a:endParaRPr sz="1100">
              <a:solidFill>
                <a:srgbClr val="38761D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38761D"/>
                </a:solidFill>
              </a:rPr>
              <a:t>{</a:t>
            </a:r>
            <a:endParaRPr sz="1100">
              <a:solidFill>
                <a:srgbClr val="38761D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38761D"/>
                </a:solidFill>
              </a:rPr>
              <a:t>   public function send();</a:t>
            </a:r>
            <a:endParaRPr sz="1100">
              <a:solidFill>
                <a:srgbClr val="38761D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38761D"/>
                </a:solidFill>
              </a:rPr>
              <a:t>}</a:t>
            </a:r>
            <a:endParaRPr sz="1100">
              <a:solidFill>
                <a:srgbClr val="38761D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100">
                <a:solidFill>
                  <a:srgbClr val="434343"/>
                </a:solidFill>
              </a:rPr>
              <a:t/>
            </a:r>
            <a:br>
              <a:rPr lang="en" sz="1100">
                <a:solidFill>
                  <a:srgbClr val="434343"/>
                </a:solidFill>
              </a:rPr>
            </a:br>
            <a:endParaRPr sz="1100">
              <a:solidFill>
                <a:srgbClr val="434343"/>
              </a:solidFill>
            </a:endParaRPr>
          </a:p>
        </p:txBody>
      </p:sp>
      <p:sp>
        <p:nvSpPr>
          <p:cNvPr id="244" name="Google Shape;244;p38"/>
          <p:cNvSpPr txBox="1">
            <a:spLocks noGrp="1"/>
          </p:cNvSpPr>
          <p:nvPr>
            <p:ph type="body" idx="1"/>
          </p:nvPr>
        </p:nvSpPr>
        <p:spPr>
          <a:xfrm>
            <a:off x="277750" y="855900"/>
            <a:ext cx="8460900" cy="80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i="1"/>
              <a:t>A. High-level modules should not depend on low-level modules. Both should depend on abstractions.</a:t>
            </a:r>
            <a:endParaRPr sz="1200" i="1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i="1"/>
              <a:t>B. Abstractions should not depend upon details. Details should depend upon abstractions.</a:t>
            </a:r>
            <a:endParaRPr sz="1200" i="1"/>
          </a:p>
          <a:p>
            <a:pPr marL="0" lvl="0" indent="0" algn="ctr" rtl="0"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sz="1800"/>
          </a:p>
        </p:txBody>
      </p:sp>
      <p:sp>
        <p:nvSpPr>
          <p:cNvPr id="245" name="Google Shape;245;p38"/>
          <p:cNvSpPr txBox="1">
            <a:spLocks noGrp="1"/>
          </p:cNvSpPr>
          <p:nvPr>
            <p:ph type="body" idx="1"/>
          </p:nvPr>
        </p:nvSpPr>
        <p:spPr>
          <a:xfrm>
            <a:off x="4892950" y="1462500"/>
            <a:ext cx="4001700" cy="36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b="1">
              <a:solidFill>
                <a:srgbClr val="7F6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b="1">
              <a:solidFill>
                <a:srgbClr val="7F6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i="1">
              <a:solidFill>
                <a:srgbClr val="7F6000"/>
              </a:solidFill>
            </a:endParaRPr>
          </a:p>
        </p:txBody>
      </p:sp>
      <p:sp>
        <p:nvSpPr>
          <p:cNvPr id="246" name="Google Shape;246;p38"/>
          <p:cNvSpPr txBox="1">
            <a:spLocks noGrp="1"/>
          </p:cNvSpPr>
          <p:nvPr>
            <p:ph type="body" idx="1"/>
          </p:nvPr>
        </p:nvSpPr>
        <p:spPr>
          <a:xfrm>
            <a:off x="4892950" y="1663200"/>
            <a:ext cx="4001700" cy="334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351C75"/>
                </a:solidFill>
              </a:rPr>
              <a:t>class SmtpMailer implements </a:t>
            </a:r>
            <a:r>
              <a:rPr lang="en" sz="1100">
                <a:solidFill>
                  <a:srgbClr val="38761D"/>
                </a:solidFill>
              </a:rPr>
              <a:t>MailerInterface</a:t>
            </a:r>
            <a:endParaRPr sz="1100">
              <a:solidFill>
                <a:srgbClr val="38761D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351C75"/>
                </a:solidFill>
              </a:rPr>
              <a:t>{</a:t>
            </a:r>
            <a:endParaRPr sz="1100">
              <a:solidFill>
                <a:srgbClr val="351C75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351C75"/>
                </a:solidFill>
              </a:rPr>
              <a:t>   public function send()</a:t>
            </a:r>
            <a:endParaRPr sz="1100">
              <a:solidFill>
                <a:srgbClr val="351C75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351C75"/>
                </a:solidFill>
              </a:rPr>
              <a:t>   {</a:t>
            </a:r>
            <a:endParaRPr sz="1100">
              <a:solidFill>
                <a:srgbClr val="351C75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351C75"/>
                </a:solidFill>
              </a:rPr>
              <a:t>       // Send an email via SMTP</a:t>
            </a:r>
            <a:endParaRPr sz="1100">
              <a:solidFill>
                <a:srgbClr val="351C75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351C75"/>
                </a:solidFill>
              </a:rPr>
              <a:t>   }</a:t>
            </a:r>
            <a:endParaRPr sz="1100">
              <a:solidFill>
                <a:srgbClr val="351C75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351C75"/>
                </a:solidFill>
              </a:rPr>
              <a:t>}</a:t>
            </a:r>
            <a:endParaRPr sz="1100">
              <a:solidFill>
                <a:srgbClr val="351C75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rgbClr val="434343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rgbClr val="434343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1155CC"/>
                </a:solidFill>
              </a:rPr>
              <a:t>class SendSlackMailer implements </a:t>
            </a:r>
            <a:r>
              <a:rPr lang="en" sz="1100">
                <a:solidFill>
                  <a:srgbClr val="38761D"/>
                </a:solidFill>
              </a:rPr>
              <a:t>MailerInterface</a:t>
            </a:r>
            <a:endParaRPr sz="1100">
              <a:solidFill>
                <a:srgbClr val="38761D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1155CC"/>
                </a:solidFill>
              </a:rPr>
              <a:t>{</a:t>
            </a:r>
            <a:endParaRPr sz="1100">
              <a:solidFill>
                <a:srgbClr val="1155CC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1155CC"/>
                </a:solidFill>
              </a:rPr>
              <a:t>   public function send()</a:t>
            </a:r>
            <a:endParaRPr sz="1100">
              <a:solidFill>
                <a:srgbClr val="1155CC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1155CC"/>
                </a:solidFill>
              </a:rPr>
              <a:t>   {</a:t>
            </a:r>
            <a:endParaRPr sz="1100">
              <a:solidFill>
                <a:srgbClr val="1155CC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1155CC"/>
                </a:solidFill>
              </a:rPr>
              <a:t>       // Send a message via Slack</a:t>
            </a:r>
            <a:endParaRPr sz="1100">
              <a:solidFill>
                <a:srgbClr val="1155CC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1155CC"/>
                </a:solidFill>
              </a:rPr>
              <a:t>   }</a:t>
            </a:r>
            <a:endParaRPr sz="1100">
              <a:solidFill>
                <a:srgbClr val="1155CC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1155CC"/>
                </a:solidFill>
              </a:rPr>
              <a:t>}</a:t>
            </a:r>
            <a:endParaRPr sz="1100">
              <a:solidFill>
                <a:srgbClr val="1155CC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rgbClr val="434343"/>
              </a:solidFill>
            </a:endParaRPr>
          </a:p>
        </p:txBody>
      </p:sp>
    </p:spTree>
  </p:cSld>
  <p:clrMapOvr>
    <a:masterClrMapping/>
  </p:clrMapOvr>
  <p:transition spd="slow">
    <p:fade thruBlk="1"/>
  </p:transition>
</p:sld>
</file>

<file path=ppt/theme/theme1.xml><?xml version="1.0" encoding="utf-8"?>
<a:theme xmlns:a="http://schemas.openxmlformats.org/drawingml/2006/main" name="simple-light-2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273</TotalTime>
  <Words>1430</Words>
  <Application>Microsoft Office PowerPoint</Application>
  <PresentationFormat>Презентация на цял екран (16:9)</PresentationFormat>
  <Paragraphs>367</Paragraphs>
  <Slides>28</Slides>
  <Notes>28</Notes>
  <HiddenSlides>0</HiddenSlides>
  <MMClips>0</MMClips>
  <ScaleCrop>false</ScaleCrop>
  <HeadingPairs>
    <vt:vector size="6" baseType="variant">
      <vt:variant>
        <vt:lpstr>Използвани шрифтове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Заглавия на слайдовете</vt:lpstr>
      </vt:variant>
      <vt:variant>
        <vt:i4>28</vt:i4>
      </vt:variant>
    </vt:vector>
  </HeadingPairs>
  <TitlesOfParts>
    <vt:vector size="32" baseType="lpstr">
      <vt:lpstr>Arial</vt:lpstr>
      <vt:lpstr>Syncopate</vt:lpstr>
      <vt:lpstr>Calibri</vt:lpstr>
      <vt:lpstr>simple-light-2</vt:lpstr>
      <vt:lpstr>web разработка</vt:lpstr>
      <vt:lpstr>Презентация на PowerPoint</vt:lpstr>
      <vt:lpstr>S - single responsibility principle 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O - open-closed principle 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L - Liskov substitution principle 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I - Interface segregation principle </vt:lpstr>
      <vt:lpstr>Презентация на PowerPoint</vt:lpstr>
      <vt:lpstr>Презентация на PowerPoint</vt:lpstr>
      <vt:lpstr>Презентация на PowerPoint</vt:lpstr>
      <vt:lpstr>D - Dependency Inversion Principle </vt:lpstr>
      <vt:lpstr>Презентация на PowerPoint</vt:lpstr>
      <vt:lpstr>Презентация на PowerPoint</vt:lpstr>
      <vt:lpstr>Презентация на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 разработка</dc:title>
  <dc:creator>Milena</dc:creator>
  <cp:lastModifiedBy>Ariel</cp:lastModifiedBy>
  <cp:revision>10</cp:revision>
  <dcterms:modified xsi:type="dcterms:W3CDTF">2019-09-18T18:12:02Z</dcterms:modified>
</cp:coreProperties>
</file>