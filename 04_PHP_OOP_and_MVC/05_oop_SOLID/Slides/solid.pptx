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2" r:id="rId20"/>
    <p:sldId id="28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Syncopate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1389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439d49592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2439d49592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dacc7b5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4dacc7b5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39d4959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2439d4959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439d4959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439d4959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439d4959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2439d4959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4dacc7b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4dacc7b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4dacc7b5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4dacc7b5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4dacc7b5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4dacc7b5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dacc7b5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4dacc7b5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dacc7b5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24dacc7b5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dacc7b5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4dacc7b5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4dacc7b51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24dacc7b51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dacc7b5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24dacc7b5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4dacc7b5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24dacc7b51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4dacc7b5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4dacc7b5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a7cd00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6a7cd00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0197ce2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60197ce2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0197ce2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60197ce2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0197ce2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60197ce2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4dacc7b51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4dacc7b51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dacc7b51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4dacc7b51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4dacc7b5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24dacc7b51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4dacc7b5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4dacc7b51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4dacc7b5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24dacc7b5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0197ce2e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60197ce2e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60197ce2e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60197ce2e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60197ce2e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60197ce2e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.net/is_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ech-tajawal/dependency-injection-di-container-in-php-a7e5d309ccc6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ООП </a:t>
            </a:r>
            <a:endParaRPr sz="36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S.O.L.I.D.</a:t>
            </a:r>
            <a:endParaRPr sz="36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принципи </a:t>
            </a:r>
            <a:endParaRPr sz="36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solidFill>
            <a:srgbClr val="8BC34A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S.O.L.I.D. principles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2761300" y="1869325"/>
            <a:ext cx="3999900" cy="30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S</a:t>
            </a:r>
            <a:r>
              <a:rPr lang="en" sz="1800"/>
              <a:t> - Single-responsiblity principle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 b="1"/>
              <a:t>O</a:t>
            </a:r>
            <a:r>
              <a:rPr lang="en" sz="1800"/>
              <a:t> - Open-closed principle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 b="1"/>
              <a:t>L</a:t>
            </a:r>
            <a:r>
              <a:rPr lang="en" sz="1800"/>
              <a:t> - Liskov substitution principle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 b="1"/>
              <a:t>I</a:t>
            </a:r>
            <a:r>
              <a:rPr lang="en" sz="1800"/>
              <a:t> - Interface segregation principle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 b="1"/>
              <a:t>D</a:t>
            </a:r>
            <a:r>
              <a:rPr lang="en" sz="1800"/>
              <a:t> - Dependency Inversion Principle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285175" y="807600"/>
            <a:ext cx="8460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Първите пет принципа в ОО дизайн.</a:t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24720" y="19318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S - single responsibility principle</a:t>
            </a:r>
            <a:endParaRPr sz="3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 - single responsibility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285175" y="1586325"/>
            <a:ext cx="8133600" cy="2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 b="1"/>
              <a:t>Задача </a:t>
            </a:r>
            <a:r>
              <a:rPr lang="en" sz="1800"/>
              <a:t>Създайте приложение с РНР ООП, което сумира площта на две различни геометрични фигури.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 - single responsibility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21500" cy="29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class Circle {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	public $radius;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	public function_construct($radius) {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    	$this-&gt;radius = $radius;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	}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800" b="1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A class should have one job.</a:t>
            </a:r>
            <a:endParaRPr sz="1800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4775400" y="1561850"/>
            <a:ext cx="3893100" cy="29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class Square {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public $length;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public function __construct($length) {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	$this-&gt;length = $length;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}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b="1"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 - single responsibility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8460900" cy="3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class AreaCalculator {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protected $shapes;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public function __construct($shapes = array()) {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 		$this-&gt;shapes = $shapes;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}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public function sum() {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 		// logic to calculate and sum the areas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}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public function output() {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   		return "Sum of the areas of provided shapes: ". $this-&gt;sum();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	}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}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8761D"/>
              </a:solidFill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A class should have one job.</a:t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 - single responsibility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8460900" cy="3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Създаваме обект от клас  AreaCalculator;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Подаваме му масив от геометрични фигури;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Отпечатваме сумата от площите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$shapes = array(</a:t>
            </a:r>
            <a:br>
              <a:rPr lang="en" sz="1000"/>
            </a:br>
            <a:r>
              <a:rPr lang="en" sz="1000"/>
              <a:t>    new Circle(2),</a:t>
            </a:r>
            <a:br>
              <a:rPr lang="en" sz="1000"/>
            </a:br>
            <a:r>
              <a:rPr lang="en" sz="1000"/>
              <a:t>    new Square(5),</a:t>
            </a:r>
            <a:br>
              <a:rPr lang="en" sz="1000"/>
            </a:br>
            <a:r>
              <a:rPr lang="en" sz="1000"/>
              <a:t>    new Square(6)</a:t>
            </a:r>
            <a:br>
              <a:rPr lang="en" sz="1000"/>
            </a:br>
            <a:r>
              <a:rPr lang="en" sz="1000"/>
              <a:t>);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$areas = new AreaCalculator($shapes);</a:t>
            </a:r>
            <a:br>
              <a:rPr lang="en" sz="1000"/>
            </a:br>
            <a:r>
              <a:rPr lang="en" sz="1000"/>
              <a:t/>
            </a:r>
            <a:br>
              <a:rPr lang="en" sz="1000"/>
            </a:br>
            <a:r>
              <a:rPr lang="en" sz="1000"/>
              <a:t>echo $areas-&gt;output();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8761D"/>
              </a:solidFill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A class should have one job.</a:t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S - single responsibility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8460900" cy="3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 dirty="0"/>
              <a:t>Ако искаме да доразвием задачата и да отпечатваме резултатът в различни формати. Редно е да създадем нов клас SumCalculatorOutputter, който ще има задачата да реализира извеждането на резултата във формата, който ни трябва.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000" i="1" dirty="0" smtClean="0">
                <a:solidFill>
                  <a:srgbClr val="00B050"/>
                </a:solidFill>
              </a:rPr>
              <a:t>Кой вариант бихте избрали?</a:t>
            </a:r>
            <a:endParaRPr sz="1000" i="1" dirty="0">
              <a:solidFill>
                <a:srgbClr val="00B05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g-BG" sz="1000" dirty="0" smtClean="0"/>
          </a:p>
          <a:p>
            <a:pPr marL="0" lvl="0" indent="0"/>
            <a:r>
              <a:rPr lang="bg-BG" sz="1000" dirty="0" smtClean="0"/>
              <a:t>Вариант 1 - </a:t>
            </a:r>
            <a:r>
              <a:rPr lang="en" sz="1000" dirty="0" smtClean="0"/>
              <a:t>$output </a:t>
            </a:r>
            <a:r>
              <a:rPr lang="en" sz="1000" dirty="0"/>
              <a:t>= new </a:t>
            </a:r>
            <a:r>
              <a:rPr lang="en" sz="1000" dirty="0"/>
              <a:t>SumCalculatorOutputter</a:t>
            </a:r>
            <a:r>
              <a:rPr lang="en" sz="1000" dirty="0" smtClean="0"/>
              <a:t>($areas);</a:t>
            </a:r>
            <a:r>
              <a:rPr lang="en" sz="1000" dirty="0"/>
              <a:t/>
            </a:r>
            <a:br>
              <a:rPr lang="en" sz="1000" dirty="0"/>
            </a:br>
            <a:endParaRPr lang="bg-BG" sz="1000" dirty="0" smtClean="0"/>
          </a:p>
          <a:p>
            <a:pPr marL="0" lvl="0" indent="0"/>
            <a:r>
              <a:rPr lang="bg-BG" sz="1000" dirty="0"/>
              <a:t>Вариант </a:t>
            </a:r>
            <a:r>
              <a:rPr lang="bg-BG" sz="1000" dirty="0" smtClean="0"/>
              <a:t>2 </a:t>
            </a:r>
            <a:r>
              <a:rPr lang="bg-BG" sz="1000" dirty="0"/>
              <a:t>- </a:t>
            </a:r>
            <a:r>
              <a:rPr lang="en" sz="1000" dirty="0"/>
              <a:t>$output = new </a:t>
            </a:r>
            <a:r>
              <a:rPr lang="en" sz="1000" dirty="0" smtClean="0"/>
              <a:t>SumOutputter($sum);</a:t>
            </a:r>
            <a:r>
              <a:rPr lang="en" sz="1000" dirty="0"/>
              <a:t/>
            </a:r>
            <a:br>
              <a:rPr lang="en" sz="1000" dirty="0"/>
            </a:br>
            <a:r>
              <a:rPr lang="en" sz="1000" dirty="0"/>
              <a:t/>
            </a:r>
            <a:br>
              <a:rPr lang="en" sz="1000" dirty="0"/>
            </a:br>
            <a:r>
              <a:rPr lang="en" sz="1000" dirty="0"/>
              <a:t>echo $output-&gt;JSON();</a:t>
            </a:r>
            <a:br>
              <a:rPr lang="en" sz="1000" dirty="0"/>
            </a:br>
            <a:r>
              <a:rPr lang="en" sz="1000" dirty="0"/>
              <a:t>echo $output-&gt;HTML();</a:t>
            </a:r>
            <a:br>
              <a:rPr lang="en" sz="1000" dirty="0"/>
            </a:b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rgbClr val="38761D"/>
              </a:solidFill>
            </a:endParaRPr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A class should have one job.</a:t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2"/>
            </a:gs>
            <a:gs pos="100000">
              <a:srgbClr val="795B0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224720" y="19318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O - open-closed principle</a:t>
            </a:r>
            <a:endParaRPr sz="3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FC002"/>
              </a:gs>
              <a:gs pos="100000">
                <a:srgbClr val="795B04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O - open-closed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8460900" cy="3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Да разгледаме </a:t>
            </a:r>
            <a:r>
              <a:rPr lang="en" sz="1100" b="1" dirty="0">
                <a:solidFill>
                  <a:srgbClr val="434343"/>
                </a:solidFill>
              </a:rPr>
              <a:t>AreaCalculator</a:t>
            </a:r>
            <a:r>
              <a:rPr lang="en" sz="1100" dirty="0">
                <a:solidFill>
                  <a:srgbClr val="434343"/>
                </a:solidFill>
              </a:rPr>
              <a:t> и неговия </a:t>
            </a:r>
            <a:r>
              <a:rPr lang="en" sz="1100" b="1" dirty="0">
                <a:solidFill>
                  <a:srgbClr val="434343"/>
                </a:solidFill>
              </a:rPr>
              <a:t>sum</a:t>
            </a:r>
            <a:r>
              <a:rPr lang="en" sz="1100" dirty="0">
                <a:solidFill>
                  <a:srgbClr val="434343"/>
                </a:solidFill>
              </a:rPr>
              <a:t> метод в този му вид.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public function sum()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foreach($this-&gt;shapes as $shape)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if(</a:t>
            </a:r>
            <a:r>
              <a:rPr lang="en" sz="1100" u="sng" dirty="0">
                <a:solidFill>
                  <a:schemeClr val="hlink"/>
                </a:solidFill>
                <a:hlinkClick r:id="rId3"/>
              </a:rPr>
              <a:t>is_a</a:t>
            </a:r>
            <a:r>
              <a:rPr lang="en" sz="1100" dirty="0">
                <a:solidFill>
                  <a:srgbClr val="434343"/>
                </a:solidFill>
              </a:rPr>
              <a:t>($shape, 'Square'))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    $area[] = pow($shape-&gt;length, 2);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} else if(</a:t>
            </a:r>
            <a:r>
              <a:rPr lang="en" sz="1100" u="sng" dirty="0">
                <a:solidFill>
                  <a:schemeClr val="hlink"/>
                </a:solidFill>
                <a:hlinkClick r:id="rId3"/>
              </a:rPr>
              <a:t>is_a</a:t>
            </a:r>
            <a:r>
              <a:rPr lang="en" sz="1100" dirty="0">
                <a:solidFill>
                  <a:srgbClr val="434343"/>
                </a:solidFill>
              </a:rPr>
              <a:t>($shape, 'Circle'))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    $area[] = pi() * pow($shape-&gt;radius, 2);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return array_sum($area);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}  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Ограничени сме с два вида геометрични фигури. 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 dirty="0">
                <a:solidFill>
                  <a:srgbClr val="7F6000"/>
                </a:solidFill>
              </a:rPr>
              <a:t>Ако приложението се развие и искаме да изчисляваме площта на неограничен брой геометрични фигури?</a:t>
            </a:r>
            <a:endParaRPr sz="1100" b="1" i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Objects or entities should be open for extension, but closed for modification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rgbClr val="434343"/>
                </a:solidFill>
              </a:rPr>
              <a:t>Трябва да е възможно разширяването на класа, без да се налага да го променяме.</a:t>
            </a:r>
            <a:endParaRPr sz="1100" i="1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FC002"/>
              </a:gs>
              <a:gs pos="100000">
                <a:srgbClr val="795B04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O - open-closed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i="1" dirty="0">
                <a:solidFill>
                  <a:srgbClr val="7F6000"/>
                </a:solidFill>
              </a:rPr>
              <a:t>Ако приложението се развие и искаме да изчисляваме площта на неограничен брой геометрични фигури?</a:t>
            </a:r>
            <a:endParaRPr sz="1100" b="1" i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</a:rPr>
              <a:t>Вариант 1</a:t>
            </a:r>
            <a:r>
              <a:rPr lang="en" sz="1100" dirty="0">
                <a:solidFill>
                  <a:srgbClr val="434343"/>
                </a:solidFill>
              </a:rPr>
              <a:t> - добавяме още if/else блокове за всяка фигура - противоречи с оpen-closed принципа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</a:rPr>
              <a:t>Вариант 2</a:t>
            </a:r>
            <a:r>
              <a:rPr lang="en" sz="1100" dirty="0">
                <a:solidFill>
                  <a:srgbClr val="434343"/>
                </a:solidFill>
              </a:rPr>
              <a:t> - махаме логиката за изчисляване на площта от sum метода и я поверяваме на логиката на класа на всяка фигура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Objects or entities should be open for extension, but closed for modification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rgbClr val="434343"/>
                </a:solidFill>
              </a:rPr>
              <a:t>Трябва да е възможно разширяването на класа, без да се налага да го променяме.</a:t>
            </a:r>
            <a:endParaRPr sz="1100" i="1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7F6000"/>
                </a:solidFill>
              </a:rPr>
              <a:t>class Square {</a:t>
            </a:r>
            <a:r>
              <a:rPr lang="en" sz="1100" b="1" dirty="0">
                <a:solidFill>
                  <a:srgbClr val="7F6000"/>
                </a:solidFill>
              </a:rPr>
              <a:t/>
            </a:r>
            <a:br>
              <a:rPr lang="en" sz="1100" b="1" dirty="0">
                <a:solidFill>
                  <a:srgbClr val="7F6000"/>
                </a:solidFill>
              </a:rPr>
            </a:br>
            <a:r>
              <a:rPr lang="en" sz="1100" b="1" dirty="0">
                <a:solidFill>
                  <a:srgbClr val="7F6000"/>
                </a:solidFill>
              </a:rPr>
              <a:t>    </a:t>
            </a:r>
            <a:r>
              <a:rPr lang="en" sz="1100" dirty="0">
                <a:solidFill>
                  <a:srgbClr val="434343"/>
                </a:solidFill>
              </a:rPr>
              <a:t>public $length;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public function __construct($length)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$this-&gt;length = $length;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b="1" dirty="0">
                <a:solidFill>
                  <a:srgbClr val="7F6000"/>
                </a:solidFill>
              </a:rPr>
              <a:t>  </a:t>
            </a:r>
            <a:r>
              <a:rPr lang="en" sz="1100" dirty="0">
                <a:solidFill>
                  <a:srgbClr val="7F6000"/>
                </a:solidFill>
              </a:rPr>
              <a:t>  public function calc_area() {</a:t>
            </a:r>
            <a:br>
              <a:rPr lang="en" sz="1100" dirty="0">
                <a:solidFill>
                  <a:srgbClr val="7F6000"/>
                </a:solidFill>
              </a:rPr>
            </a:br>
            <a:r>
              <a:rPr lang="en" sz="1100" dirty="0">
                <a:solidFill>
                  <a:srgbClr val="7F6000"/>
                </a:solidFill>
              </a:rPr>
              <a:t>        return pow($this-&gt;length, 2);</a:t>
            </a:r>
            <a:br>
              <a:rPr lang="en" sz="1100" dirty="0">
                <a:solidFill>
                  <a:srgbClr val="7F6000"/>
                </a:solidFill>
              </a:rPr>
            </a:br>
            <a:r>
              <a:rPr lang="en" sz="1100" dirty="0">
                <a:solidFill>
                  <a:srgbClr val="7F6000"/>
                </a:solidFill>
              </a:rPr>
              <a:t>    }</a:t>
            </a:r>
            <a:br>
              <a:rPr lang="en" sz="1100" dirty="0">
                <a:solidFill>
                  <a:srgbClr val="7F6000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}  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7F6000"/>
                </a:solidFill>
              </a:rPr>
              <a:t>Същото ще направим и </a:t>
            </a:r>
            <a:r>
              <a:rPr lang="en" sz="1100" i="1" dirty="0" smtClean="0">
                <a:solidFill>
                  <a:srgbClr val="7F6000"/>
                </a:solidFill>
              </a:rPr>
              <a:t>в </a:t>
            </a:r>
            <a:r>
              <a:rPr lang="en" sz="1100" i="1" dirty="0">
                <a:solidFill>
                  <a:srgbClr val="7F6000"/>
                </a:solidFill>
              </a:rPr>
              <a:t>класовете за всяка друга фигура.</a:t>
            </a:r>
            <a:endParaRPr sz="1100" i="1" dirty="0">
              <a:solidFill>
                <a:srgbClr val="7F600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FC002"/>
              </a:gs>
              <a:gs pos="100000">
                <a:srgbClr val="795B04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O - open-closed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</a:rPr>
              <a:t>Изчисляването на сумата от площите на геометричните фигури няма да е свързано с броя или вида им - </a:t>
            </a:r>
            <a:endParaRPr sz="1100" i="1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7F6000"/>
                </a:solidFill>
              </a:rPr>
              <a:t/>
            </a:r>
            <a:br>
              <a:rPr lang="en" sz="1100" b="1" dirty="0">
                <a:solidFill>
                  <a:srgbClr val="7F6000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public function sum()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foreach($this-&gt;shapes as $shape)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$area[] = $shape-&gt;calc_area();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return array_sum($area);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}</a:t>
            </a:r>
            <a:br>
              <a:rPr lang="en" sz="1100" dirty="0">
                <a:solidFill>
                  <a:srgbClr val="434343"/>
                </a:solidFill>
              </a:rPr>
            </a:b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Objects or entities should be open for extension, but closed for modification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rgbClr val="434343"/>
                </a:solidFill>
              </a:rPr>
              <a:t>Трябва да е възможно разширяването на класа, без да се налага да го променяме.</a:t>
            </a:r>
            <a:endParaRPr sz="1100" i="1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4892950" y="1588125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Сега можем да създадем друг клас за друга геометрична фигура и да подаваме негови обекти </a:t>
            </a:r>
            <a:r>
              <a:rPr lang="en" sz="1100" dirty="0" smtClean="0">
                <a:solidFill>
                  <a:srgbClr val="434343"/>
                </a:solidFill>
              </a:rPr>
              <a:t>при </a:t>
            </a:r>
            <a:r>
              <a:rPr lang="en" sz="1100" dirty="0">
                <a:solidFill>
                  <a:srgbClr val="434343"/>
                </a:solidFill>
              </a:rPr>
              <a:t>изчисляване на общата сума.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434343"/>
                </a:solidFill>
              </a:rPr>
              <a:t>Възниква въпросът - </a:t>
            </a:r>
            <a:r>
              <a:rPr lang="en" sz="1100" i="1" dirty="0">
                <a:solidFill>
                  <a:srgbClr val="783F04"/>
                </a:solidFill>
              </a:rPr>
              <a:t>Как да сме сигурни, че обектът подаван към AreaCalculator е геометрична фигура или дали този обект има метод, наречен area?</a:t>
            </a:r>
            <a:endParaRPr sz="1100" i="1" dirty="0">
              <a:solidFill>
                <a:srgbClr val="783F0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83F04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FC002"/>
              </a:gs>
              <a:gs pos="100000">
                <a:srgbClr val="795B04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O - open-closed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83F0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rgbClr val="783F04"/>
                </a:solidFill>
              </a:rPr>
              <a:t>Как да сме сигурни, че обектът подаван към AreaCalculator е геометрична фигура или дали този обект има метод, наречен area?</a:t>
            </a:r>
            <a:endParaRPr sz="1100" i="1">
              <a:solidFill>
                <a:srgbClr val="783F0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83F0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83F0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За да решим този проблем използваме интерфейс, което е неразделна част от S.O.L.I.D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Този интерфейс ще се имплементира от всеки клас, отговарящ за геометрична фигура.</a:t>
            </a:r>
            <a:endParaRPr sz="1100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 dirty="0"/>
              <a:t>Objects or entities should be open for extension, but closed for modification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 dirty="0">
                <a:solidFill>
                  <a:srgbClr val="434343"/>
                </a:solidFill>
              </a:rPr>
              <a:t>Трябва да е възможно разширяването на класа, без да се налага да го променяме.</a:t>
            </a:r>
            <a:endParaRPr sz="1100" i="1" dirty="0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dirty="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4892950" y="1588125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45F06"/>
                </a:solidFill>
              </a:rPr>
              <a:t>interface ShapeInterface {</a:t>
            </a:r>
            <a:br>
              <a:rPr lang="en" sz="1100" dirty="0">
                <a:solidFill>
                  <a:srgbClr val="B45F06"/>
                </a:solidFill>
              </a:rPr>
            </a:br>
            <a:r>
              <a:rPr lang="en" sz="1100" dirty="0">
                <a:solidFill>
                  <a:srgbClr val="B45F06"/>
                </a:solidFill>
              </a:rPr>
              <a:t>    public function calc_area();</a:t>
            </a:r>
            <a:br>
              <a:rPr lang="en" sz="1100" dirty="0">
                <a:solidFill>
                  <a:srgbClr val="B45F06"/>
                </a:solidFill>
              </a:rPr>
            </a:br>
            <a:r>
              <a:rPr lang="en" sz="1100" dirty="0">
                <a:solidFill>
                  <a:srgbClr val="B45F06"/>
                </a:solidFill>
              </a:rPr>
              <a:t>}</a:t>
            </a:r>
            <a:br>
              <a:rPr lang="en" sz="1100" dirty="0">
                <a:solidFill>
                  <a:srgbClr val="B45F06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class Circle implements ShapeInterface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public $radius;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public function __construct($radius)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$this-&gt;radius = $radius;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public function area()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return pi() * pow($this-&gt;radius, 2);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} 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83F04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FC002"/>
              </a:gs>
              <a:gs pos="100000">
                <a:srgbClr val="795B04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O - open-closed principle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83F0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В sum методът на </a:t>
            </a:r>
            <a:r>
              <a:rPr lang="en" sz="1100" b="1">
                <a:solidFill>
                  <a:srgbClr val="434343"/>
                </a:solidFill>
              </a:rPr>
              <a:t>AreaCalculator</a:t>
            </a:r>
            <a:r>
              <a:rPr lang="en" sz="1100">
                <a:solidFill>
                  <a:srgbClr val="434343"/>
                </a:solidFill>
              </a:rPr>
              <a:t> проверяваме дали подаваната геометрична фигура в действителност е истанция на клас, който имплементира </a:t>
            </a:r>
            <a:r>
              <a:rPr lang="en" sz="1100" b="1">
                <a:solidFill>
                  <a:srgbClr val="434343"/>
                </a:solidFill>
              </a:rPr>
              <a:t>ShapeInterface</a:t>
            </a:r>
            <a:r>
              <a:rPr lang="en" sz="1100">
                <a:solidFill>
                  <a:srgbClr val="434343"/>
                </a:solidFill>
              </a:rPr>
              <a:t>.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В случай, че не е - връщаме подходящо съобщение, грешка и т.н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/>
              <a:t>Objects or entities should be open for extension, but closed for modification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>
                <a:solidFill>
                  <a:srgbClr val="434343"/>
                </a:solidFill>
              </a:rPr>
              <a:t>Трябва да е възможно разширяването на класа, без да се налага да го променяме.</a:t>
            </a:r>
            <a:endParaRPr sz="1100" i="1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xfrm>
            <a:off x="4892950" y="1588125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B45F0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B45F0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public function sum()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foreach($this-&gt;shapes as $shape)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if(is_a($shape, 'ShapeInterface'))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    $area[] = $shape-&gt;area</a:t>
            </a:r>
            <a:r>
              <a:rPr lang="en" sz="1100" dirty="0" smtClean="0">
                <a:solidFill>
                  <a:srgbClr val="434343"/>
                </a:solidFill>
              </a:rPr>
              <a:t>();            </a:t>
            </a: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} else {</a:t>
            </a:r>
            <a:endParaRPr sz="1100" dirty="0">
              <a:solidFill>
                <a:srgbClr val="434343"/>
              </a:solidFill>
            </a:endParaRPr>
          </a:p>
          <a:p>
            <a:pPr marL="0" lvl="0" indent="0"/>
            <a:r>
              <a:rPr lang="en" sz="1100" dirty="0">
                <a:solidFill>
                  <a:srgbClr val="434343"/>
                </a:solidFill>
              </a:rPr>
              <a:t> </a:t>
            </a:r>
            <a:r>
              <a:rPr lang="en" sz="1100" dirty="0" smtClean="0">
                <a:solidFill>
                  <a:srgbClr val="434343"/>
                </a:solidFill>
              </a:rPr>
              <a:t>           continue;</a:t>
            </a:r>
          </a:p>
          <a:p>
            <a:pPr marL="0" lvl="0" indent="0"/>
            <a:r>
              <a:rPr lang="en" sz="1100" dirty="0">
                <a:solidFill>
                  <a:srgbClr val="434343"/>
                </a:solidFill>
              </a:rPr>
              <a:t> </a:t>
            </a:r>
            <a:r>
              <a:rPr lang="en" sz="1100" dirty="0" smtClean="0">
                <a:solidFill>
                  <a:srgbClr val="434343"/>
                </a:solidFill>
              </a:rPr>
              <a:t>      }</a:t>
            </a: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/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return array_sum($area);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}   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83F04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8208"/>
            </a:gs>
            <a:gs pos="100000">
              <a:srgbClr val="703E0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224720" y="19318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L - Liskov substitution principle</a:t>
            </a:r>
            <a:endParaRPr sz="3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48208"/>
              </a:gs>
              <a:gs pos="100000">
                <a:srgbClr val="703E08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L - Liskov substitution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163" name="Google Shape;163;p28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434343"/>
                </a:solidFill>
              </a:rPr>
              <a:t>LSP - обектите от клас наследник трябва да заменят обекти на родителския клас, без това да води до грешки в програмата и без да променят поведението на родителския клас.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909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434343"/>
                </a:solidFill>
              </a:rPr>
              <a:t>Или ако S е наследник на T, обект от T може да бъде заменен с обект от S без това да се отрази на програмата или да доведе до грешки в системата.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909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 dirty="0">
                <a:solidFill>
                  <a:srgbClr val="434343"/>
                </a:solidFill>
              </a:rPr>
              <a:t>Нека дефинираме клас Rectangle/правоъгълник/ и друг клас Square/квадрат/. </a:t>
            </a:r>
            <a:endParaRPr sz="1100" i="1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434343"/>
              </a:solidFill>
            </a:endParaRPr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1600"/>
              </a:spcBef>
            </a:pPr>
            <a:r>
              <a:rPr lang="en-US" sz="1200" dirty="0"/>
              <a:t>any class that is the child of a parent class should be usable in place of its parent without any unexpected </a:t>
            </a:r>
            <a:r>
              <a:rPr lang="en-US" sz="1200" dirty="0" err="1" smtClean="0"/>
              <a:t>behaviour</a:t>
            </a:r>
            <a:endParaRPr sz="1800" dirty="0"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1"/>
          </p:nvPr>
        </p:nvSpPr>
        <p:spPr>
          <a:xfrm>
            <a:off x="4892950" y="1588125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Class Rectangle 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public $width;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public $height;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public function __construct($w, $h){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…..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public function area_calc(){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return  $this-&gt;width*$this-&gt;height;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48208"/>
              </a:gs>
              <a:gs pos="100000">
                <a:srgbClr val="703E08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L - Liskov substitution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172" name="Google Shape;172;p29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В геометрията Квадратът е Правоъгълник или с други думи Square наследява Rectangle.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909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Дали това е коректно от гледна точка на програмирането и на LSP - трябва да заменяме обектите на Rectangle с обектите на Square без това да води до нежелани промени или грешки в системата ….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909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</p:txBody>
      </p:sp>
      <p:sp>
        <p:nvSpPr>
          <p:cNvPr id="173" name="Google Shape;173;p29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1600"/>
              </a:spcBef>
            </a:pPr>
            <a:r>
              <a:rPr lang="en-US" sz="1200" dirty="0"/>
              <a:t>any class that is the child of a parent class should be usable in place of its parent without any unexpected </a:t>
            </a:r>
            <a:r>
              <a:rPr lang="en-US" sz="1200" dirty="0" err="1" smtClean="0"/>
              <a:t>behaviour</a:t>
            </a:r>
            <a:endParaRPr sz="1800" dirty="0"/>
          </a:p>
        </p:txBody>
      </p:sp>
      <p:sp>
        <p:nvSpPr>
          <p:cNvPr id="174" name="Google Shape;174;p29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75" name="Google Shape;175;p29"/>
          <p:cNvSpPr txBox="1">
            <a:spLocks noGrp="1"/>
          </p:cNvSpPr>
          <p:nvPr>
            <p:ph type="body" idx="1"/>
          </p:nvPr>
        </p:nvSpPr>
        <p:spPr>
          <a:xfrm>
            <a:off x="4892950" y="1588125"/>
            <a:ext cx="4001700" cy="3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class Square extends Rectangle 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public $side;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public function __construct($s){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…..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public function area_calc(){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return  pow(2, $this-&gt;side);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48208"/>
              </a:gs>
              <a:gs pos="100000">
                <a:srgbClr val="703E08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L - Liskov substitution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class Square 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	public $a_side;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	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	public function __construct($s){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	…..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public function area_calc(){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return  pow(2, $this-&gt;side);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909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434343"/>
              </a:solidFill>
            </a:endParaRPr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200" i="1">
                <a:solidFill>
                  <a:srgbClr val="434343"/>
                </a:solidFill>
              </a:rPr>
              <a:t>В сила е обратното - Правоъгълникът наследява Квадрата ...</a:t>
            </a:r>
            <a:endParaRPr sz="1200" i="1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1"/>
          </p:nvPr>
        </p:nvSpPr>
        <p:spPr>
          <a:xfrm>
            <a:off x="4892950" y="1588125"/>
            <a:ext cx="4001700" cy="3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class Rectangle extends Square 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public $b_side;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public function __construct($a, $b){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	…..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public function area_calc(){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return  $this-&gt;a_side*$this-&gt;b_side;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48208"/>
              </a:gs>
              <a:gs pos="100000">
                <a:srgbClr val="703E08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 dirty="0">
                <a:solidFill>
                  <a:schemeClr val="lt1"/>
                </a:solidFill>
              </a:rPr>
              <a:t>L - Liskov substitution principle</a:t>
            </a:r>
            <a:endParaRPr sz="36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 dirty="0">
              <a:solidFill>
                <a:schemeClr val="lt1"/>
              </a:solidFill>
            </a:endParaRPr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2557375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class Vehicle {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   function </a:t>
            </a:r>
            <a:r>
              <a:rPr lang="en-US" sz="1000" dirty="0" err="1">
                <a:solidFill>
                  <a:schemeClr val="dk1"/>
                </a:solidFill>
              </a:rPr>
              <a:t>startEngine</a:t>
            </a:r>
            <a:r>
              <a:rPr lang="en-US" sz="1000" dirty="0">
                <a:solidFill>
                  <a:schemeClr val="dk1"/>
                </a:solidFill>
              </a:rPr>
              <a:t>() {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       // Default engine start functionality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   }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   function accelerate() {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       // Default acceleration functionality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   }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}</a:t>
            </a:r>
            <a:endParaRPr sz="1000" dirty="0">
              <a:solidFill>
                <a:srgbClr val="434343"/>
              </a:solidFill>
            </a:endParaRPr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1600"/>
              </a:spcBef>
            </a:pPr>
            <a:r>
              <a:rPr lang="en-US" sz="1200" dirty="0"/>
              <a:t>any class that is the child of a parent class should be usable in place of its parent without any unexpected </a:t>
            </a:r>
            <a:r>
              <a:rPr lang="en-US" sz="1200" dirty="0" err="1"/>
              <a:t>behaviour</a:t>
            </a:r>
            <a:endParaRPr lang="en-US" sz="1800" dirty="0"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1"/>
          </p:nvPr>
        </p:nvSpPr>
        <p:spPr>
          <a:xfrm>
            <a:off x="5715000" y="1588125"/>
            <a:ext cx="3179650" cy="3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dirty="0"/>
              <a:t>class </a:t>
            </a:r>
            <a:r>
              <a:rPr lang="en-US" sz="1000" dirty="0" err="1"/>
              <a:t>ElectricBus</a:t>
            </a:r>
            <a:r>
              <a:rPr lang="en-US" sz="1000" dirty="0"/>
              <a:t> extends Vehicle {</a:t>
            </a:r>
          </a:p>
          <a:p>
            <a:r>
              <a:rPr lang="en-US" sz="1000" dirty="0"/>
              <a:t> </a:t>
            </a:r>
          </a:p>
          <a:p>
            <a:r>
              <a:rPr lang="en-US" sz="1000" dirty="0"/>
              <a:t>    function accelerate() {</a:t>
            </a:r>
          </a:p>
          <a:p>
            <a:r>
              <a:rPr lang="en-US" sz="1000" dirty="0"/>
              <a:t>        $this-&gt;</a:t>
            </a:r>
            <a:r>
              <a:rPr lang="en-US" sz="1000" dirty="0" err="1"/>
              <a:t>increaseVoltage</a:t>
            </a:r>
            <a:r>
              <a:rPr lang="en-US" sz="1000" dirty="0"/>
              <a:t>();</a:t>
            </a:r>
          </a:p>
          <a:p>
            <a:r>
              <a:rPr lang="en-US" sz="1000" dirty="0"/>
              <a:t>        $this-&gt;</a:t>
            </a:r>
            <a:r>
              <a:rPr lang="en-US" sz="1000" dirty="0" err="1"/>
              <a:t>connectIndividualEngines</a:t>
            </a:r>
            <a:r>
              <a:rPr lang="en-US" sz="1000" dirty="0"/>
              <a:t>();</a:t>
            </a:r>
          </a:p>
          <a:p>
            <a:r>
              <a:rPr lang="en-US" sz="1000" dirty="0"/>
              <a:t>    }</a:t>
            </a:r>
          </a:p>
          <a:p>
            <a:r>
              <a:rPr lang="en-US" sz="1000" dirty="0"/>
              <a:t> </a:t>
            </a:r>
          </a:p>
          <a:p>
            <a:r>
              <a:rPr lang="en-US" sz="1000" dirty="0"/>
              <a:t>    private function </a:t>
            </a:r>
            <a:r>
              <a:rPr lang="en-US" sz="1000" dirty="0" err="1"/>
              <a:t>increaseVoltage</a:t>
            </a:r>
            <a:r>
              <a:rPr lang="en-US" sz="1000" dirty="0"/>
              <a:t>() {</a:t>
            </a:r>
          </a:p>
          <a:p>
            <a:r>
              <a:rPr lang="en-US" sz="1000" dirty="0"/>
              <a:t>        // Electric logic</a:t>
            </a:r>
          </a:p>
          <a:p>
            <a:r>
              <a:rPr lang="en-US" sz="1000" dirty="0"/>
              <a:t>    }</a:t>
            </a:r>
          </a:p>
          <a:p>
            <a:r>
              <a:rPr lang="en-US" sz="1000" dirty="0"/>
              <a:t> </a:t>
            </a:r>
          </a:p>
          <a:p>
            <a:r>
              <a:rPr lang="en-US" sz="1000" dirty="0"/>
              <a:t>    private function </a:t>
            </a:r>
            <a:r>
              <a:rPr lang="en-US" sz="1000" dirty="0" err="1"/>
              <a:t>connectIndividualEngines</a:t>
            </a:r>
            <a:r>
              <a:rPr lang="en-US" sz="1000" dirty="0"/>
              <a:t>() {</a:t>
            </a:r>
          </a:p>
          <a:p>
            <a:r>
              <a:rPr lang="en-US" sz="1000" dirty="0"/>
              <a:t>        // Connection logic</a:t>
            </a:r>
          </a:p>
          <a:p>
            <a:r>
              <a:rPr lang="en-US" sz="1000" dirty="0"/>
              <a:t>    }</a:t>
            </a:r>
          </a:p>
          <a:p>
            <a:r>
              <a:rPr lang="en-US" sz="1000" dirty="0"/>
              <a:t> </a:t>
            </a:r>
          </a:p>
          <a:p>
            <a:r>
              <a:rPr lang="en-US" sz="1000" dirty="0"/>
              <a:t>}</a:t>
            </a:r>
          </a:p>
        </p:txBody>
      </p:sp>
      <p:sp>
        <p:nvSpPr>
          <p:cNvPr id="7" name="Google Shape;181;p30"/>
          <p:cNvSpPr txBox="1">
            <a:spLocks noGrp="1"/>
          </p:cNvSpPr>
          <p:nvPr>
            <p:ph type="body" idx="1"/>
          </p:nvPr>
        </p:nvSpPr>
        <p:spPr>
          <a:xfrm>
            <a:off x="2743200" y="1504950"/>
            <a:ext cx="2862175" cy="356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class Car extends Vehicle {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   function </a:t>
            </a:r>
            <a:r>
              <a:rPr lang="en-US" sz="1000" dirty="0" err="1">
                <a:solidFill>
                  <a:schemeClr val="accent4">
                    <a:lumMod val="50000"/>
                  </a:schemeClr>
                </a:solidFill>
              </a:rPr>
              <a:t>startEngine</a:t>
            </a: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() {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       $this-&gt;</a:t>
            </a:r>
            <a:r>
              <a:rPr lang="en-US" sz="1000" dirty="0" err="1">
                <a:solidFill>
                  <a:schemeClr val="accent4">
                    <a:lumMod val="50000"/>
                  </a:schemeClr>
                </a:solidFill>
              </a:rPr>
              <a:t>engageIgnition</a:t>
            </a: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();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       parent::</a:t>
            </a:r>
            <a:r>
              <a:rPr lang="en-US" sz="1000" dirty="0" err="1">
                <a:solidFill>
                  <a:schemeClr val="accent4">
                    <a:lumMod val="50000"/>
                  </a:schemeClr>
                </a:solidFill>
              </a:rPr>
              <a:t>startEngine</a:t>
            </a: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();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   }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   private function </a:t>
            </a:r>
            <a:r>
              <a:rPr lang="en-US" sz="1000" dirty="0" err="1">
                <a:solidFill>
                  <a:schemeClr val="accent4">
                    <a:lumMod val="50000"/>
                  </a:schemeClr>
                </a:solidFill>
              </a:rPr>
              <a:t>engageIgnition</a:t>
            </a: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() {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       // Ignition procedure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   }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 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}</a:t>
            </a:r>
            <a:endParaRPr sz="1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042119"/>
      </p:ext>
    </p:extLst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F48208"/>
              </a:gs>
              <a:gs pos="100000">
                <a:srgbClr val="703E08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 dirty="0">
                <a:solidFill>
                  <a:schemeClr val="lt1"/>
                </a:solidFill>
              </a:rPr>
              <a:t>L - Liskov substitution principle</a:t>
            </a:r>
            <a:endParaRPr sz="36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 dirty="0">
              <a:solidFill>
                <a:schemeClr val="lt1"/>
              </a:solidFill>
            </a:endParaRPr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1600"/>
              </a:spcBef>
            </a:pPr>
            <a:r>
              <a:rPr lang="en-US" sz="1200" dirty="0"/>
              <a:t>A client class should be able to use either of them, if it can use Vehicle.</a:t>
            </a:r>
            <a:endParaRPr sz="1800" dirty="0"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2" name="Текстов контейнер 1"/>
          <p:cNvSpPr>
            <a:spLocks noGrp="1"/>
          </p:cNvSpPr>
          <p:nvPr>
            <p:ph type="body" idx="1"/>
          </p:nvPr>
        </p:nvSpPr>
        <p:spPr>
          <a:xfrm>
            <a:off x="2629501" y="1428750"/>
            <a:ext cx="3999899" cy="3416400"/>
          </a:xfrm>
        </p:spPr>
        <p:txBody>
          <a:bodyPr/>
          <a:lstStyle/>
          <a:p>
            <a:r>
              <a:rPr lang="en-US" dirty="0"/>
              <a:t>class Driver {</a:t>
            </a:r>
          </a:p>
          <a:p>
            <a:r>
              <a:rPr lang="en-US" dirty="0"/>
              <a:t>    function go(Vehicle $v) {</a:t>
            </a:r>
          </a:p>
          <a:p>
            <a:r>
              <a:rPr lang="en-US" dirty="0"/>
              <a:t>        $v-&gt;</a:t>
            </a:r>
            <a:r>
              <a:rPr lang="en-US" dirty="0" err="1"/>
              <a:t>startEngine</a:t>
            </a:r>
            <a:r>
              <a:rPr lang="en-US" dirty="0"/>
              <a:t>();</a:t>
            </a:r>
          </a:p>
          <a:p>
            <a:r>
              <a:rPr lang="en-US" dirty="0"/>
              <a:t>        $v-&gt;accelerate();</a:t>
            </a:r>
          </a:p>
          <a:p>
            <a:r>
              <a:rPr lang="en-US" dirty="0"/>
              <a:t>    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14190"/>
      </p:ext>
    </p:extLst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>
            <a:spLocks noGrp="1"/>
          </p:cNvSpPr>
          <p:nvPr>
            <p:ph type="title"/>
          </p:nvPr>
        </p:nvSpPr>
        <p:spPr>
          <a:xfrm>
            <a:off x="224720" y="19318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I - Interface segregation principle</a:t>
            </a:r>
            <a:endParaRPr sz="3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 dirty="0">
                <a:solidFill>
                  <a:schemeClr val="lt1"/>
                </a:solidFill>
              </a:rPr>
              <a:t>I - Interface segregation principle</a:t>
            </a:r>
            <a:endParaRPr sz="36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 dirty="0">
              <a:solidFill>
                <a:schemeClr val="lt1"/>
              </a:solidFill>
            </a:endParaRPr>
          </a:p>
        </p:txBody>
      </p:sp>
      <p:sp>
        <p:nvSpPr>
          <p:cNvPr id="195" name="Google Shape;195;p32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</a:rPr>
              <a:t>Да продължим с примера за геометричните фигури. </a:t>
            </a:r>
            <a:endParaRPr sz="1100" i="1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Тъй като искаме да изчисляваме и обема на нашите геометрични фигури, може да добавим и друга декларация в ShapeInterface: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196" name="Google Shape;196;p32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 client should never be forced to implement an interface that it doesn't use or clients shouldn't be forced to depend on methods they do not use.</a:t>
            </a:r>
            <a:endParaRPr sz="1100" i="1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197" name="Google Shape;197;p32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198" name="Google Shape;198;p32"/>
          <p:cNvSpPr txBox="1">
            <a:spLocks noGrp="1"/>
          </p:cNvSpPr>
          <p:nvPr>
            <p:ph type="body" idx="1"/>
          </p:nvPr>
        </p:nvSpPr>
        <p:spPr>
          <a:xfrm>
            <a:off x="4892950" y="1588125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interface ShapeInterface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public function </a:t>
            </a:r>
            <a:r>
              <a:rPr lang="en" sz="1100" dirty="0" smtClean="0">
                <a:solidFill>
                  <a:srgbClr val="434343"/>
                </a:solidFill>
              </a:rPr>
              <a:t>calc_area</a:t>
            </a:r>
            <a:r>
              <a:rPr lang="en" sz="1100" dirty="0">
                <a:solidFill>
                  <a:srgbClr val="434343"/>
                </a:solidFill>
              </a:rPr>
              <a:t>();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</a:t>
            </a:r>
            <a:r>
              <a:rPr lang="en" sz="1100" dirty="0">
                <a:solidFill>
                  <a:srgbClr val="990000"/>
                </a:solidFill>
              </a:rPr>
              <a:t>  public function </a:t>
            </a:r>
            <a:r>
              <a:rPr lang="en" sz="1100" dirty="0" smtClean="0">
                <a:solidFill>
                  <a:srgbClr val="990000"/>
                </a:solidFill>
              </a:rPr>
              <a:t>calc_volume</a:t>
            </a:r>
            <a:r>
              <a:rPr lang="en" sz="1100" dirty="0">
                <a:solidFill>
                  <a:srgbClr val="990000"/>
                </a:solidFill>
              </a:rPr>
              <a:t>();</a:t>
            </a:r>
            <a:br>
              <a:rPr lang="en" sz="1100" dirty="0">
                <a:solidFill>
                  <a:srgbClr val="990000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}  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I - Interface segregation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338225" y="1462500"/>
            <a:ext cx="87075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Всяка форма, която създаваме е задължена да имплементира и методът volume.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434343"/>
                </a:solidFill>
              </a:rPr>
              <a:t>Но не всяка форма има обем - квадрат, кръг …</a:t>
            </a:r>
            <a:endParaRPr sz="1100" i="1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Ако оставим геометричните класове, които дефенерахме да имплементират ShapeInterface в този му вид,  задължаваме формите/техните класове/ да имплементират методи, от които нямат полза и/или са неадекватни за тях.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434343"/>
                </a:solidFill>
              </a:rPr>
              <a:t>Това е в противоречие с Interface Segregation Principle.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434343"/>
                </a:solidFill>
              </a:rPr>
              <a:t>Създаваме SolidShapeInterface, който има декларация за volumе. Триизмерните фигури, като куб, цилиндър и т.н. ще имплементират този интерфейс.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100" dirty="0">
              <a:solidFill>
                <a:srgbClr val="434343"/>
              </a:solidFill>
            </a:endParaRPr>
          </a:p>
        </p:txBody>
      </p:sp>
      <p:sp>
        <p:nvSpPr>
          <p:cNvPr id="205" name="Google Shape;205;p33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 client should never be forced to implement an interface that it doesn't use or clients shouldn't be forced to depend on methods they do not use.</a:t>
            </a:r>
            <a:endParaRPr sz="1100" i="1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206" name="Google Shape;206;p33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I - Interface segregation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285175" y="6552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A client should never be forced to implement an interface that it doesn't use or clients shouldn't be forced to depend on methods they do not use.</a:t>
            </a:r>
            <a:endParaRPr sz="1100" i="1" dirty="0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dirty="0"/>
          </a:p>
        </p:txBody>
      </p:sp>
      <p:sp>
        <p:nvSpPr>
          <p:cNvPr id="214" name="Google Shape;214;p34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2" name="Текстов контейнер 1"/>
          <p:cNvSpPr>
            <a:spLocks noGrp="1"/>
          </p:cNvSpPr>
          <p:nvPr>
            <p:ph type="body" idx="1"/>
          </p:nvPr>
        </p:nvSpPr>
        <p:spPr>
          <a:xfrm>
            <a:off x="311701" y="1809749"/>
            <a:ext cx="3803100" cy="2759125"/>
          </a:xfrm>
        </p:spPr>
        <p:txBody>
          <a:bodyPr/>
          <a:lstStyle/>
          <a:p>
            <a:r>
              <a:rPr lang="en" sz="1200" dirty="0">
                <a:solidFill>
                  <a:srgbClr val="434343"/>
                </a:solidFill>
              </a:rPr>
              <a:t>interface ShapeInterface {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public function area();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}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/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interface SolidShapeInterface {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public function volume();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}</a:t>
            </a:r>
            <a:br>
              <a:rPr lang="en" sz="1200" dirty="0">
                <a:solidFill>
                  <a:srgbClr val="434343"/>
                </a:solidFill>
              </a:rPr>
            </a:br>
            <a:endParaRPr lang="en-US" sz="1200" dirty="0"/>
          </a:p>
        </p:txBody>
      </p:sp>
      <p:sp>
        <p:nvSpPr>
          <p:cNvPr id="12" name="Текстов контейнер 1"/>
          <p:cNvSpPr>
            <a:spLocks noGrp="1"/>
          </p:cNvSpPr>
          <p:nvPr>
            <p:ph type="body" idx="1"/>
          </p:nvPr>
        </p:nvSpPr>
        <p:spPr>
          <a:xfrm>
            <a:off x="4655100" y="1733550"/>
            <a:ext cx="3803100" cy="2911525"/>
          </a:xfrm>
        </p:spPr>
        <p:txBody>
          <a:bodyPr/>
          <a:lstStyle/>
          <a:p>
            <a:r>
              <a:rPr lang="en" sz="1200" dirty="0">
                <a:solidFill>
                  <a:srgbClr val="434343"/>
                </a:solidFill>
              </a:rPr>
              <a:t>class Cuboid implements ShapeInterface, SolidShapeInterface {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public function area() {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    // calculate the surface area of the cuboid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}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/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public function volume() {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    // calculate the volume of the cuboid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    }</a:t>
            </a:r>
            <a:br>
              <a:rPr lang="en" sz="1200" dirty="0">
                <a:solidFill>
                  <a:srgbClr val="434343"/>
                </a:solidFill>
              </a:rPr>
            </a:br>
            <a:r>
              <a:rPr lang="en" sz="1200" dirty="0">
                <a:solidFill>
                  <a:srgbClr val="434343"/>
                </a:solidFill>
              </a:rPr>
              <a:t>}</a:t>
            </a:r>
            <a:endParaRPr lang="en-US" sz="1200" dirty="0"/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D2E9"/>
            </a:gs>
            <a:gs pos="100000">
              <a:srgbClr val="04596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>
            <a:spLocks noGrp="1"/>
          </p:cNvSpPr>
          <p:nvPr>
            <p:ph type="title"/>
          </p:nvPr>
        </p:nvSpPr>
        <p:spPr>
          <a:xfrm>
            <a:off x="224720" y="19318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D - Dependency Inversion Principle</a:t>
            </a:r>
            <a:endParaRPr sz="36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00D2E9"/>
              </a:gs>
              <a:gs pos="100000">
                <a:srgbClr val="04596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D - Dependency Inversion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226" name="Google Shape;226;p36"/>
          <p:cNvSpPr txBox="1">
            <a:spLocks noGrp="1"/>
          </p:cNvSpPr>
          <p:nvPr>
            <p:ph type="body" idx="1"/>
          </p:nvPr>
        </p:nvSpPr>
        <p:spPr>
          <a:xfrm>
            <a:off x="338225" y="1856625"/>
            <a:ext cx="4001700" cy="3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class </a:t>
            </a:r>
            <a:r>
              <a:rPr lang="en" sz="1100" b="1">
                <a:solidFill>
                  <a:srgbClr val="3C78D8"/>
                </a:solidFill>
              </a:rPr>
              <a:t>Mailer</a:t>
            </a:r>
            <a:endParaRPr sz="1100" b="1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{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// Methods for a Mailer class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endParaRPr sz="1100">
              <a:solidFill>
                <a:srgbClr val="434343"/>
              </a:solidFill>
            </a:endParaRPr>
          </a:p>
        </p:txBody>
      </p:sp>
      <p:sp>
        <p:nvSpPr>
          <p:cNvPr id="227" name="Google Shape;227;p36"/>
          <p:cNvSpPr txBox="1">
            <a:spLocks noGrp="1"/>
          </p:cNvSpPr>
          <p:nvPr>
            <p:ph type="body" idx="1"/>
          </p:nvPr>
        </p:nvSpPr>
        <p:spPr>
          <a:xfrm>
            <a:off x="277750" y="8559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/>
              <a:t>A. High-level modules should not depend on low-level modules. Both should depend on abstractions.</a:t>
            </a:r>
            <a:endParaRPr sz="1200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/>
              <a:t>B. Abstractions should not depend upon details. Details should depend upon abstractions.</a:t>
            </a:r>
            <a:endParaRPr sz="1200" i="1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228" name="Google Shape;228;p36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1"/>
          </p:nvPr>
        </p:nvSpPr>
        <p:spPr>
          <a:xfrm>
            <a:off x="4892950" y="1663200"/>
            <a:ext cx="4001700" cy="3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class SendWelcomeMessage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{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private $mailer;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public function __construct(</a:t>
            </a:r>
            <a:r>
              <a:rPr lang="en" sz="1100" b="1">
                <a:solidFill>
                  <a:srgbClr val="1155CC"/>
                </a:solidFill>
              </a:rPr>
              <a:t>Mailer $mailer</a:t>
            </a:r>
            <a:r>
              <a:rPr lang="en" sz="1100">
                <a:solidFill>
                  <a:srgbClr val="434343"/>
                </a:solidFill>
              </a:rPr>
              <a:t>)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{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    $this-&gt;mailer = $mailer;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}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00D2E9"/>
              </a:gs>
              <a:gs pos="100000">
                <a:srgbClr val="04596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D - Dependency Inversion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235" name="Google Shape;235;p37"/>
          <p:cNvSpPr txBox="1">
            <a:spLocks noGrp="1"/>
          </p:cNvSpPr>
          <p:nvPr>
            <p:ph type="body" idx="1"/>
          </p:nvPr>
        </p:nvSpPr>
        <p:spPr>
          <a:xfrm>
            <a:off x="308500" y="1752575"/>
            <a:ext cx="4001700" cy="3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class SendWelcomeMessage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{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private $mailer;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public function __construct(</a:t>
            </a:r>
            <a:r>
              <a:rPr lang="en" sz="1100" b="1">
                <a:solidFill>
                  <a:srgbClr val="38761D"/>
                </a:solidFill>
              </a:rPr>
              <a:t>MailerInterface $mailer</a:t>
            </a:r>
            <a:r>
              <a:rPr lang="en" sz="1100">
                <a:solidFill>
                  <a:srgbClr val="434343"/>
                </a:solidFill>
              </a:rPr>
              <a:t>)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{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    $this-&gt;mailer = $mailer;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   }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100">
              <a:solidFill>
                <a:srgbClr val="434343"/>
              </a:solidFill>
            </a:endParaRPr>
          </a:p>
        </p:txBody>
      </p:sp>
      <p:sp>
        <p:nvSpPr>
          <p:cNvPr id="236" name="Google Shape;236;p37"/>
          <p:cNvSpPr txBox="1">
            <a:spLocks noGrp="1"/>
          </p:cNvSpPr>
          <p:nvPr>
            <p:ph type="body" idx="1"/>
          </p:nvPr>
        </p:nvSpPr>
        <p:spPr>
          <a:xfrm>
            <a:off x="277750" y="8559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/>
              <a:t>A. High-level modules should not depend on low-level modules. Both should depend on abstractions.</a:t>
            </a:r>
            <a:endParaRPr sz="1200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/>
              <a:t>B. Abstractions should not depend upon details. Details should depend upon abstractions.</a:t>
            </a:r>
            <a:endParaRPr sz="1200" i="1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237" name="Google Shape;237;p37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 u="sng">
                <a:solidFill>
                  <a:schemeClr val="hlink"/>
                </a:solidFill>
                <a:hlinkClick r:id="rId3"/>
              </a:rPr>
              <a:t>Dependency Injection</a:t>
            </a:r>
            <a:endParaRPr sz="1100" b="1" i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/>
        </p:nvSpPr>
        <p:spPr>
          <a:xfrm>
            <a:off x="0" y="-41317"/>
            <a:ext cx="9144000" cy="703800"/>
          </a:xfrm>
          <a:prstGeom prst="rect">
            <a:avLst/>
          </a:prstGeom>
          <a:gradFill>
            <a:gsLst>
              <a:gs pos="0">
                <a:srgbClr val="00D2E9"/>
              </a:gs>
              <a:gs pos="100000">
                <a:srgbClr val="04596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D - Dependency Inversion Principle</a:t>
            </a:r>
            <a:endParaRPr sz="36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 b="1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3600" b="1">
              <a:solidFill>
                <a:schemeClr val="lt1"/>
              </a:solidFill>
            </a:endParaRPr>
          </a:p>
        </p:txBody>
      </p:sp>
      <p:sp>
        <p:nvSpPr>
          <p:cNvPr id="243" name="Google Shape;243;p38"/>
          <p:cNvSpPr txBox="1">
            <a:spLocks noGrp="1"/>
          </p:cNvSpPr>
          <p:nvPr>
            <p:ph type="body" idx="1"/>
          </p:nvPr>
        </p:nvSpPr>
        <p:spPr>
          <a:xfrm>
            <a:off x="338225" y="1856625"/>
            <a:ext cx="4001700" cy="3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interface MailerInterface</a:t>
            </a:r>
            <a:endParaRPr sz="110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{</a:t>
            </a:r>
            <a:endParaRPr sz="110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   public function send();</a:t>
            </a:r>
            <a:endParaRPr sz="110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}</a:t>
            </a:r>
            <a:endParaRPr sz="110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endParaRPr sz="1100">
              <a:solidFill>
                <a:srgbClr val="434343"/>
              </a:solidFill>
            </a:endParaRPr>
          </a:p>
        </p:txBody>
      </p:sp>
      <p:sp>
        <p:nvSpPr>
          <p:cNvPr id="244" name="Google Shape;244;p38"/>
          <p:cNvSpPr txBox="1">
            <a:spLocks noGrp="1"/>
          </p:cNvSpPr>
          <p:nvPr>
            <p:ph type="body" idx="1"/>
          </p:nvPr>
        </p:nvSpPr>
        <p:spPr>
          <a:xfrm>
            <a:off x="277750" y="855900"/>
            <a:ext cx="84609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/>
              <a:t>A. High-level modules should not depend on low-level modules. Both should depend on abstractions.</a:t>
            </a:r>
            <a:endParaRPr sz="1200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/>
              <a:t>B. Abstractions should not depend upon details. Details should depend upon abstractions.</a:t>
            </a:r>
            <a:endParaRPr sz="1200" i="1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/>
          </a:p>
        </p:txBody>
      </p:sp>
      <p:sp>
        <p:nvSpPr>
          <p:cNvPr id="245" name="Google Shape;245;p38"/>
          <p:cNvSpPr txBox="1">
            <a:spLocks noGrp="1"/>
          </p:cNvSpPr>
          <p:nvPr>
            <p:ph type="body" idx="1"/>
          </p:nvPr>
        </p:nvSpPr>
        <p:spPr>
          <a:xfrm>
            <a:off x="4892950" y="1462500"/>
            <a:ext cx="4001700" cy="3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7F6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7F6000"/>
              </a:solidFill>
            </a:endParaRPr>
          </a:p>
        </p:txBody>
      </p:sp>
      <p:sp>
        <p:nvSpPr>
          <p:cNvPr id="246" name="Google Shape;246;p38"/>
          <p:cNvSpPr txBox="1">
            <a:spLocks noGrp="1"/>
          </p:cNvSpPr>
          <p:nvPr>
            <p:ph type="body" idx="1"/>
          </p:nvPr>
        </p:nvSpPr>
        <p:spPr>
          <a:xfrm>
            <a:off x="4892950" y="1663200"/>
            <a:ext cx="4001700" cy="3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51C75"/>
                </a:solidFill>
              </a:rPr>
              <a:t>class SmtpMailer implements </a:t>
            </a:r>
            <a:r>
              <a:rPr lang="en" sz="1100">
                <a:solidFill>
                  <a:srgbClr val="38761D"/>
                </a:solidFill>
              </a:rPr>
              <a:t>MailerInterface</a:t>
            </a:r>
            <a:endParaRPr sz="1100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51C75"/>
                </a:solidFill>
              </a:rPr>
              <a:t>{</a:t>
            </a:r>
            <a:endParaRPr sz="110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51C75"/>
                </a:solidFill>
              </a:rPr>
              <a:t>   public function send()</a:t>
            </a:r>
            <a:endParaRPr sz="110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51C75"/>
                </a:solidFill>
              </a:rPr>
              <a:t>   {</a:t>
            </a:r>
            <a:endParaRPr sz="110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51C75"/>
                </a:solidFill>
              </a:rPr>
              <a:t>       // Send an email via SMTP</a:t>
            </a:r>
            <a:endParaRPr sz="110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51C75"/>
                </a:solidFill>
              </a:rPr>
              <a:t>   }</a:t>
            </a:r>
            <a:endParaRPr sz="110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51C75"/>
                </a:solidFill>
              </a:rPr>
              <a:t>}</a:t>
            </a:r>
            <a:endParaRPr sz="110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</a:rPr>
              <a:t>class SendSlackMailer implements </a:t>
            </a:r>
            <a:r>
              <a:rPr lang="en" sz="1100">
                <a:solidFill>
                  <a:srgbClr val="38761D"/>
                </a:solidFill>
              </a:rPr>
              <a:t>MailerInterface</a:t>
            </a:r>
            <a:endParaRPr sz="1100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</a:rPr>
              <a:t>{</a:t>
            </a:r>
            <a:endParaRPr sz="1100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</a:rPr>
              <a:t>   public function send()</a:t>
            </a:r>
            <a:endParaRPr sz="1100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</a:rPr>
              <a:t>   {</a:t>
            </a:r>
            <a:endParaRPr sz="1100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</a:rPr>
              <a:t>       // Send a message via Slack</a:t>
            </a:r>
            <a:endParaRPr sz="1100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</a:rPr>
              <a:t>   }</a:t>
            </a:r>
            <a:endParaRPr sz="1100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</a:rPr>
              <a:t>}</a:t>
            </a:r>
            <a:endParaRPr sz="1100">
              <a:solidFill>
                <a:srgbClr val="1155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1430</Words>
  <Application>Microsoft Office PowerPoint</Application>
  <PresentationFormat>Презентация на цял екран (16:9)</PresentationFormat>
  <Paragraphs>367</Paragraphs>
  <Slides>28</Slides>
  <Notes>28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28</vt:i4>
      </vt:variant>
    </vt:vector>
  </HeadingPairs>
  <TitlesOfParts>
    <vt:vector size="32" baseType="lpstr">
      <vt:lpstr>Arial</vt:lpstr>
      <vt:lpstr>Calibri</vt:lpstr>
      <vt:lpstr>Syncopate</vt:lpstr>
      <vt:lpstr>simple-light-2</vt:lpstr>
      <vt:lpstr>web разработка</vt:lpstr>
      <vt:lpstr>Презентация на PowerPoint</vt:lpstr>
      <vt:lpstr>S - single responsibility principle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O - open-closed principle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L - Liskov substitution principle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I - Interface segregation principle </vt:lpstr>
      <vt:lpstr>Презентация на PowerPoint</vt:lpstr>
      <vt:lpstr>Презентация на PowerPoint</vt:lpstr>
      <vt:lpstr>Презентация на PowerPoint</vt:lpstr>
      <vt:lpstr>D - Dependency Inversion Principle 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9</cp:revision>
  <dcterms:modified xsi:type="dcterms:W3CDTF">2019-09-17T19:39:58Z</dcterms:modified>
</cp:coreProperties>
</file>