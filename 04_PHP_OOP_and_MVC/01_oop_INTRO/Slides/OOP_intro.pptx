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8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9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1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2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8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9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22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23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25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26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27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32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5c736e47f8_0_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5c736e47f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5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9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6" name="Google Shape;16;p39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title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 txBox="1"/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41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42"/>
          <p:cNvSpPr txBox="1"/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6" name="Google Shape;26;p42"/>
          <p:cNvSpPr txBox="1"/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7" name="Google Shape;27;p42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3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4"/>
          <p:cNvSpPr txBox="1"/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44"/>
          <p:cNvSpPr txBox="1"/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4" name="Google Shape;34;p44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37;p45"/>
          <p:cNvSpPr txBox="1"/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45"/>
          <p:cNvSpPr txBox="1"/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2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9" name="Google Shape;39;p45"/>
          <p:cNvSpPr txBox="1"/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0" name="Google Shape;40;p45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3" name="Google Shape;43;p46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/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47"/>
          <p:cNvSpPr txBox="1"/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7" name="Google Shape;47;p47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copate"/>
              <a:buNone/>
            </a:pPr>
            <a:r>
              <a:rPr lang="en-GB" sz="36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 lang="en-GB" sz="3600" b="1" i="0" u="none" strike="noStrike" cap="none">
              <a:solidFill>
                <a:srgbClr val="8BC34A"/>
              </a:solidFill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6" name="Google Shape;56;p1"/>
          <p:cNvSpPr txBox="1"/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sz="3600" b="1">
                <a:solidFill>
                  <a:srgbClr val="FFFFFF"/>
                </a:solidFill>
              </a:rPr>
              <a:t>ООП</a:t>
            </a: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въведение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CCCC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Милена Томова - НПО ВРАЦА СОФТУЕР ОБЩЕСТВО - КУРС Уеб Разработка- 11.2016 - ВЕРСИЯ 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</a:pPr>
            <a:r>
              <a:rPr lang="en-GB"/>
              <a:t>Обектно ориентирано програмиране - </a:t>
            </a:r>
            <a:endParaRPr lang="en-GB"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- същност</a:t>
            </a:r>
            <a:endParaRPr lang="en-GB"/>
          </a:p>
          <a:p>
            <a:pPr marL="457200" lvl="1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/>
              <a:t>- OOP vs. процедурно програмиране </a:t>
            </a:r>
            <a:endParaRPr lang="en-GB"/>
          </a:p>
          <a:p>
            <a:pPr marL="914400" lvl="2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/>
              <a:t>- разлики</a:t>
            </a:r>
            <a:endParaRPr lang="en-GB"/>
          </a:p>
          <a:p>
            <a:pPr marL="914400" lvl="2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/>
              <a:t>- преимущества</a:t>
            </a:r>
            <a:endParaRPr lang="en-GB"/>
          </a:p>
          <a:p>
            <a:pPr marL="457200" lvl="0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</a:pPr>
            <a:r>
              <a:rPr lang="en-GB"/>
              <a:t>Класове и обекти - същност, дефиниране</a:t>
            </a:r>
            <a:endParaRPr lang="en-GB"/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</a:pPr>
            <a:r>
              <a:rPr lang="en-GB"/>
              <a:t>Методи и свойства - същност и достъп</a:t>
            </a:r>
            <a:endParaRPr lang="en-GB"/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</a:pPr>
            <a:r>
              <a:rPr lang="en-GB"/>
              <a:t>конструктор</a:t>
            </a:r>
            <a:endParaRPr lang="en-GB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Съдържание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r>
              <a:rPr lang="en-GB" sz="3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Обектно ориентирано програмиране</a:t>
            </a:r>
            <a:endParaRPr sz="30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r>
              <a:rPr lang="en-GB" sz="3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Същност</a:t>
            </a:r>
            <a:endParaRPr sz="30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Уеб приложение, разработено с процедурно програмиране -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Предаване на информация/данни - от една променлива на друга, от една функция на друга…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Кодът е неразбираем и недобре организиран.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Едни и същи парчета код се повтарят многократно.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ООП - същност - 1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body" idx="1"/>
          </p:nvPr>
        </p:nvSpPr>
        <p:spPr>
          <a:xfrm>
            <a:off x="311700" y="1143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Уеб приложение, разработено с ООП -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Уеб-приложението е взаимодействие между различни ОБЕКТИ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</a:t>
            </a:r>
            <a:r>
              <a:rPr lang="en-GB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Потребители - администратор, клиент …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Страници - начална, страница визуализираща продукт, страница визуализиращ списък от продукти ...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Всеки от т.нар. ОБЕКТИ - изпълнява определена задача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</a:t>
            </a:r>
            <a:r>
              <a:rPr lang="en-GB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Сравнете потребители и страници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Сравнете Администратор, Клиент, Друг Тип потребител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Като функции и характеристкики, които притежава по отношение на уеб приложението, което разработваме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ООП - същност - 2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body" idx="1"/>
          </p:nvPr>
        </p:nvSpPr>
        <p:spPr>
          <a:xfrm>
            <a:off x="311700" y="1143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Уеб приложение, разработено с ООП -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Преизползване на кода - описанието на Администратор и Клиент ще има общи и различни функции и характеристики.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Да ги изброим ….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Модулност и разширяемост на кода.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Добавяме нови функционалности без да засягаме наличните.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В уеб приложението може да добавим 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-"/>
            </a:pP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Опция за регистрация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-"/>
            </a:pP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Страници с достъп само след регристрация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-"/>
            </a:pP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Достъп за определен вид потребители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След като е било напълно работещо и без тези нововъведения и без те да попречат на началната функционалност ...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ООП - същност - 3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body" idx="1"/>
          </p:nvPr>
        </p:nvSpPr>
        <p:spPr>
          <a:xfrm>
            <a:off x="311700" y="1143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Да обобщим</a:t>
            </a:r>
            <a:endParaRPr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Процедурно програмиране -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неголеми и несложни проекти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ООП -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Сложни проекти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Разработвани от екипи от програмисти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Всеки може да разработва независимо различна функционалност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	</a:t>
            </a: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Потребители 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	Коментари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	Качване на файлове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	Други ...</a:t>
            </a:r>
            <a:endParaRPr sz="1400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	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ООП - същност - 4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r>
              <a:rPr lang="en-GB" sz="3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Клас</a:t>
            </a:r>
            <a:endParaRPr sz="30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0" indent="457200" algn="l" rtl="0">
              <a:lnSpc>
                <a:spcPct val="115000"/>
              </a:lnSpc>
              <a:spcBef>
                <a:spcPts val="224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Класът е метод за описание на дадена същност.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15000"/>
              </a:lnSpc>
              <a:spcBef>
                <a:spcPts val="224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Същност - автомобил /по принцип какво е абтомобил?/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743200" marR="0" lvl="0" indent="-317500" algn="l" rtl="0">
              <a:lnSpc>
                <a:spcPct val="115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-"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Потребител /в нашето уеб приложение/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743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-"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Страница /от нашето уеб приложение/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Клас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Класът е метод за описание на дадена същност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ЧЕРТЕЖ / ШАБЛОН / ДРУГ СИНОНИМ ...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Нещо, което описва как изглежда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 какво може да прави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Един АВТОМОБИЛ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ПОТРЕБИТЕЛ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СТРАНИЦА 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i="1">
                <a:solidFill>
                  <a:srgbClr val="9933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 принцип /без да се обвързваме с конкретния МОЙ АВТОМОБИЛ,  АДМИНИСТРАТОРЪТ ПЕШО или ПОТРЕБИТЕЛЯТ ИВАН/</a:t>
            </a:r>
            <a:endParaRPr i="1">
              <a:solidFill>
                <a:srgbClr val="9933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i="1">
                <a:solidFill>
                  <a:srgbClr val="9933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		Опишете класовете Автомобил, Потребител, Страница</a:t>
            </a:r>
            <a:endParaRPr i="1">
              <a:solidFill>
                <a:srgbClr val="9933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Клас - 2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r>
              <a:rPr lang="en-GB" sz="3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Обект</a:t>
            </a:r>
            <a:endParaRPr sz="30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/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След като сме изготвили чертежа - 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КЛАС АВТОМОБИЛ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class Automobile {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КЛАС ПОТРЕБИТЕЛ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 User {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Обект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След като сме изготвили чертежа - по него произвеждаме автомобили, създаваме потребители …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Автомобилите - могат да са в различен цвят, да имат различни …..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Потребителите - имат различни потребителски имена, пароли …..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Заради разликата в свойствата не променяме чертежа  - КЛАСЪТ.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Обект - 2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 чертежа/КЛАСЪТ - създаваме обект. Това е конкретния автомобил, който е създаден с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Максимална скорост - … км/ч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	Цвят - син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Брой врати - 4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…..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Обект - 3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Или ПОТРЕБИТЕЛ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Потребителско име  - Пешо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Парола - secret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Права - admin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Обект - 4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 Automobile {				class User {				</a:t>
            </a:r>
            <a:r>
              <a:rPr lang="en-GB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 Page {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						}						</a:t>
            </a:r>
            <a:r>
              <a:rPr lang="en-GB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$car = new </a:t>
            </a:r>
            <a:r>
              <a:rPr lang="en-GB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Automobile</a:t>
            </a: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()		</a:t>
            </a:r>
            <a:r>
              <a:rPr lang="en-GB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$pesho = new User()		$index = new Page()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Обект - 5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Дефиницията на всеки клас се запазва във файл със същото име.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Един клас - един файл.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 Page {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Page.php/page.php </a:t>
            </a: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Обект - 6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r>
              <a:rPr lang="en-GB" sz="32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Свойства/Properties </a:t>
            </a:r>
            <a:endParaRPr sz="30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5" name="Google Shape;175;p19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Свойствата са променливи. 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class  Page {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	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	public $header = ‘HEADER’;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	public $content;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	public $footer;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}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 i="1">
                <a:solidFill>
                  <a:srgbClr val="9900FF"/>
                </a:solidFill>
              </a:rPr>
              <a:t>public - спесификатор за достъп</a:t>
            </a:r>
            <a:endParaRPr i="1">
              <a:solidFill>
                <a:srgbClr val="9900FF"/>
              </a:solidFill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Свойства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Google Shape;182;p2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Достъп до свойствата на обекта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$index = new Page();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echo </a:t>
            </a:r>
            <a:r>
              <a:rPr lang="en-GB">
                <a:solidFill>
                  <a:srgbClr val="9900FF"/>
                </a:solidFill>
              </a:rPr>
              <a:t>$index-&gt;header;</a:t>
            </a:r>
            <a:endParaRPr>
              <a:solidFill>
                <a:srgbClr val="9900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	//HEADER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$index-&gt;header = ‘INDEX PAGE HEADER’;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echo $index-&gt;header; 	//INDEX PAGE HEADER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Класът не е променен. Променяме стойността на свойството header на самия обект.</a:t>
            </a:r>
            <a:endParaRPr lang="en-GB"/>
          </a:p>
        </p:txBody>
      </p:sp>
      <p:sp>
        <p:nvSpPr>
          <p:cNvPr id="183" name="Google Shape;183;p2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Свойства - 2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p2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Да зададем стойност на свойствата</a:t>
            </a:r>
            <a:endParaRPr lang="en-GB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content</a:t>
            </a:r>
            <a:endParaRPr lang="en-GB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footer 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r>
              <a:rPr lang="en-GB"/>
              <a:t>И да ги отпечатаме на екрана ...</a:t>
            </a:r>
            <a:endParaRPr lang="en-GB"/>
          </a:p>
        </p:txBody>
      </p:sp>
      <p:sp>
        <p:nvSpPr>
          <p:cNvPr id="190" name="Google Shape;190;p2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Свойства - 3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7D"/>
        </a:solidFill>
        <a:effectLst/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r>
              <a:rPr lang="en-GB" sz="32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Методи/Methods</a:t>
            </a:r>
            <a:endParaRPr sz="30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Методите са функции, описани в рамките на класа.</a:t>
            </a:r>
            <a:endParaRPr lang="en-GB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Също имат спесификатори за достъп.</a:t>
            </a:r>
            <a:endParaRPr lang="en-GB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public function view_header() {</a:t>
            </a:r>
            <a:endParaRPr lang="en-GB"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	echo ‘Hello’;</a:t>
            </a:r>
            <a:endParaRPr lang="en-GB"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}</a:t>
            </a:r>
            <a:endParaRPr lang="en-GB"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285750" marR="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Методи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Достъп до метода</a:t>
            </a:r>
            <a:endParaRPr lang="en-GB"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class Page {</a:t>
            </a:r>
            <a:endParaRPr lang="en-GB"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public $header;</a:t>
            </a:r>
            <a:endParaRPr lang="en-GB"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114300" marR="0" lvl="0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public function view_header($header){</a:t>
            </a:r>
            <a:endParaRPr lang="en-GB"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		echo $header;</a:t>
            </a:r>
            <a:endParaRPr lang="en-GB"/>
          </a:p>
          <a:p>
            <a:pPr marL="114300" marR="0" lvl="0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}</a:t>
            </a:r>
            <a:endParaRPr lang="en-GB"/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}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$account = new Page();</a:t>
            </a:r>
            <a:endParaRPr lang="en-GB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$account-&gt;view_header(‘ACCOUNT HEADER’);//ACCOUNT HEADER</a:t>
            </a:r>
            <a:endParaRPr lang="en-GB"/>
          </a:p>
          <a:p>
            <a:pPr marL="285750" marR="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Методи - 2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311700" y="1999051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GB" sz="3200" b="1">
                <a:solidFill>
                  <a:schemeClr val="lt1"/>
                </a:solidFill>
              </a:rPr>
              <a:t>$this</a:t>
            </a:r>
            <a:endParaRPr sz="30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class Page {</a:t>
            </a:r>
            <a:endParaRPr lang="en-GB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public </a:t>
            </a:r>
            <a:r>
              <a:rPr lang="en-GB" b="1">
                <a:solidFill>
                  <a:srgbClr val="03A9F4"/>
                </a:solidFill>
              </a:rPr>
              <a:t>$header</a:t>
            </a:r>
            <a:r>
              <a:rPr lang="en-GB"/>
              <a:t>;</a:t>
            </a:r>
            <a:endParaRPr lang="en-GB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  <a:p>
            <a:pPr marL="114300" lvl="0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public function view_header(){</a:t>
            </a:r>
            <a:endParaRPr lang="en-GB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		echo </a:t>
            </a:r>
            <a:r>
              <a:rPr lang="en-GB" b="1">
                <a:solidFill>
                  <a:srgbClr val="03A9F4"/>
                </a:solidFill>
              </a:rPr>
              <a:t>$this-&gt;heade</a:t>
            </a:r>
            <a:r>
              <a:rPr lang="en-GB"/>
              <a:t>r;</a:t>
            </a:r>
            <a:endParaRPr lang="en-GB"/>
          </a:p>
          <a:p>
            <a:pPr marL="114300" lvl="0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}</a:t>
            </a:r>
            <a:endParaRPr lang="en-GB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}</a:t>
            </a: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$account = new Page();</a:t>
            </a: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$account-&gt;header = ‘ACCOUNT HEADER’;</a:t>
            </a: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r>
              <a:rPr lang="en-GB"/>
              <a:t>$account-&gt;view_header();//ACCOUNT HEADER</a:t>
            </a:r>
            <a:endParaRPr lang="en-GB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</a:p>
        </p:txBody>
      </p:sp>
      <p:sp>
        <p:nvSpPr>
          <p:cNvPr id="220" name="Google Shape;220;p26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$this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$this - 2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831275" y="1140200"/>
            <a:ext cx="8024700" cy="3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За да се обърнем към метод или свойство на клас </a:t>
            </a:r>
            <a:r>
              <a:rPr lang="en-GB" sz="1600" b="0" i="0" u="sng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в самия клас</a:t>
            </a: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използваме $this.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1" u="sng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Използване в метод в класа</a:t>
            </a:r>
            <a:endParaRPr sz="1600" b="0" i="1" u="sng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function view_info($param1, $param2){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echo $param1. ‘ - ’ . $param2;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fucntion foo() {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$var1 = 1;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$var2 = 2;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1" i="0" u="none" strike="noStrike" cap="none">
                <a:solidFill>
                  <a:srgbClr val="03A9F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$this-&gt;view_info($var1, $var2);</a:t>
            </a:r>
            <a:endParaRPr sz="1600" b="1" i="0" u="none" strike="noStrike" cap="none">
              <a:solidFill>
                <a:srgbClr val="03A9F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152400" y="1524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232"/>
        </a:solidFill>
        <a:effectLst/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311700" y="199905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3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Спесификатори за достъп</a:t>
            </a:r>
            <a:endParaRPr sz="30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30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3200" b="1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0" y="0"/>
            <a:ext cx="9144000" cy="7224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3600">
                <a:solidFill>
                  <a:srgbClr val="FFFFFF"/>
                </a:solidFill>
              </a:rPr>
              <a:t>Спесификатори за достъп</a:t>
            </a:r>
            <a:endParaRPr sz="3600">
              <a:solidFill>
                <a:srgbClr val="F1C23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36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43" name="Google Shape;243;p2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45720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i="1"/>
              <a:t>Ограничават достъпа до методите и свойствата на класа извън него - за неговите наследници, други класове, ...</a:t>
            </a:r>
            <a:endParaRPr i="1"/>
          </a:p>
          <a:p>
            <a:pPr marL="457200" lvl="0" indent="45720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PUBLIC</a:t>
            </a:r>
            <a:endParaRPr lang="en-GB"/>
          </a:p>
          <a:p>
            <a:pPr marL="457200" lvl="0" indent="45720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PRIVATE</a:t>
            </a:r>
            <a:endParaRPr lang="en-GB"/>
          </a:p>
          <a:p>
            <a:pPr marL="457200" lvl="0" indent="45720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PROTECTED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</a:p>
        </p:txBody>
      </p:sp>
      <p:sp>
        <p:nvSpPr>
          <p:cNvPr id="244" name="Google Shape;244;p29"/>
          <p:cNvSpPr txBox="1"/>
          <p:nvPr/>
        </p:nvSpPr>
        <p:spPr>
          <a:xfrm>
            <a:off x="-41525" y="-1495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type="title"/>
          </p:nvPr>
        </p:nvSpPr>
        <p:spPr>
          <a:xfrm>
            <a:off x="0" y="0"/>
            <a:ext cx="9144000" cy="7224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600">
                <a:solidFill>
                  <a:srgbClr val="FFFFFF"/>
                </a:solidFill>
              </a:rPr>
              <a:t>Спесификатори за достъп</a:t>
            </a:r>
            <a:endParaRPr sz="3600">
              <a:solidFill>
                <a:srgbClr val="F1C23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6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50" name="Google Shape;250;p3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  <a:p>
            <a:pPr marL="0" lvl="0" indent="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/>
              <a:t>class</a:t>
            </a:r>
            <a:r>
              <a:rPr lang="en-GB" i="1"/>
              <a:t> </a:t>
            </a:r>
            <a:r>
              <a:rPr lang="en-GB"/>
              <a:t>spec {						$spec = new Spec();</a:t>
            </a:r>
            <a:endParaRPr lang="en-GB"/>
          </a:p>
          <a:p>
            <a:pPr marL="0" lvl="0" indent="45720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/>
              <a:t>public $a;					echo $spec-&gt;b;</a:t>
            </a:r>
            <a:endParaRPr lang="en-GB"/>
          </a:p>
          <a:p>
            <a:pPr marL="0" lvl="0" indent="45720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rgbClr val="9933FF"/>
                </a:solidFill>
              </a:rPr>
              <a:t>protected</a:t>
            </a:r>
            <a:r>
              <a:rPr lang="en-GB"/>
              <a:t> $b;					echo $spec-&gt;c;</a:t>
            </a:r>
            <a:endParaRPr lang="en-GB"/>
          </a:p>
          <a:p>
            <a:pPr marL="0" lvl="0" indent="45720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>
                <a:solidFill>
                  <a:srgbClr val="00FF00"/>
                </a:solidFill>
              </a:rPr>
              <a:t>private</a:t>
            </a:r>
            <a:r>
              <a:rPr lang="en-GB"/>
              <a:t> $c;</a:t>
            </a:r>
            <a:endParaRPr lang="en-GB"/>
          </a:p>
          <a:p>
            <a:pPr marL="0" lvl="0" indent="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/>
              <a:t>}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  <a:p>
            <a:pPr marL="457200" lvl="0" indent="45720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i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</a:p>
        </p:txBody>
      </p:sp>
      <p:sp>
        <p:nvSpPr>
          <p:cNvPr id="251" name="Google Shape;251;p30"/>
          <p:cNvSpPr txBox="1"/>
          <p:nvPr/>
        </p:nvSpPr>
        <p:spPr>
          <a:xfrm>
            <a:off x="-41525" y="-1495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0" y="0"/>
            <a:ext cx="9144000" cy="7224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600">
                <a:solidFill>
                  <a:srgbClr val="FFFFFF"/>
                </a:solidFill>
              </a:rPr>
              <a:t>Спесификатори за достъп</a:t>
            </a:r>
            <a:endParaRPr sz="3600">
              <a:solidFill>
                <a:srgbClr val="F1C23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6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57" name="Google Shape;257;p3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/>
              <a:t>Използват се за да се елиминира случайно /или не/ изменение на методи и свойства.</a:t>
            </a:r>
            <a:endParaRPr lang="en-GB"/>
          </a:p>
          <a:p>
            <a:pPr marL="0" lvl="0" indent="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/>
              <a:t>Пример - връзка към база данни</a:t>
            </a:r>
            <a:endParaRPr lang="en-GB"/>
          </a:p>
          <a:p>
            <a:pPr marL="0" lvl="0" indent="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-GB"/>
              <a:t>Чрез спесификаторите за достъп “скриваме” реализацията на класовете /енкапсулация/. Работим с обектите и техните свойства, без да се интересуваме от начина, по който са реализирани класовете.</a:t>
            </a:r>
            <a:endParaRPr lang="en-GB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  <a:p>
            <a:pPr marL="0" lvl="0" indent="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  <a:p>
            <a:pPr marL="457200" lvl="0" indent="457200" algn="l" rtl="0">
              <a:lnSpc>
                <a:spcPct val="138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i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</a:p>
        </p:txBody>
      </p:sp>
      <p:sp>
        <p:nvSpPr>
          <p:cNvPr id="258" name="Google Shape;258;p31"/>
          <p:cNvSpPr txBox="1"/>
          <p:nvPr/>
        </p:nvSpPr>
        <p:spPr>
          <a:xfrm>
            <a:off x="-41525" y="-1495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A9F4"/>
        </a:solidFill>
        <a:effectLst/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r>
              <a:rPr lang="en-GB" sz="3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конструктор/__construct()</a:t>
            </a:r>
            <a:endParaRPr sz="3000" b="1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конструктор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734000" y="1087125"/>
            <a:ext cx="8024700" cy="3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Обикновен метод, който се </a:t>
            </a:r>
            <a:r>
              <a:rPr lang="en-GB" sz="1600" b="1" i="0" u="sng" strike="noStrike" cap="none">
                <a:solidFill>
                  <a:srgbClr val="03A9F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изпълнява в момента на създаване на обект</a:t>
            </a: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function __construct() {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 Page {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$</a:t>
            </a:r>
            <a:r>
              <a:rPr lang="en-GB" sz="1600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header</a:t>
            </a: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function __construct</a:t>
            </a:r>
            <a:r>
              <a:rPr lang="en-GB" sz="1600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</a:t>
            </a: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{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					</a:t>
            </a:r>
            <a:r>
              <a:rPr lang="en-GB" sz="1600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</a:t>
            </a:r>
            <a:r>
              <a:rPr lang="en-GB" sz="1600" b="1">
                <a:solidFill>
                  <a:srgbClr val="0099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</a:t>
            </a:r>
            <a:r>
              <a:rPr lang="en-GB" sz="1600" b="1" i="0" u="none" strike="noStrike" cap="none">
                <a:solidFill>
                  <a:srgbClr val="0099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</a:t>
            </a:r>
            <a:r>
              <a:rPr lang="en-GB" sz="1600" b="1">
                <a:solidFill>
                  <a:srgbClr val="0099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 ‘NEW PAGE HAS BEEN CREATED’</a:t>
            </a:r>
            <a:r>
              <a:rPr lang="en-GB" sz="1600" b="1" i="0" u="none" strike="noStrike" cap="none">
                <a:solidFill>
                  <a:srgbClr val="0099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</a:t>
            </a:r>
            <a:endParaRPr sz="1600" b="1" i="0" u="none" strike="noStrike" cap="none">
              <a:solidFill>
                <a:srgbClr val="0099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5c736e47f8_0_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7" name="Google Shape;277;g5c736e47f8_0_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8" name="Google Shape;278;g5c736e47f8_0_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конструктор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9" name="Google Shape;279;g5c736e47f8_0_0"/>
          <p:cNvSpPr/>
          <p:nvPr/>
        </p:nvSpPr>
        <p:spPr>
          <a:xfrm>
            <a:off x="734000" y="1087125"/>
            <a:ext cx="8024700" cy="3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Обикновен метод, който се </a:t>
            </a:r>
            <a:r>
              <a:rPr lang="en-GB" sz="1600" b="1" i="0" u="sng" strike="noStrike" cap="none">
                <a:solidFill>
                  <a:srgbClr val="03A9F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изпълнява в момента на създаване на обект</a:t>
            </a: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function __construct() {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 Page {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$</a:t>
            </a:r>
            <a:r>
              <a:rPr lang="en-GB" sz="1600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header</a:t>
            </a: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function __construct($h) {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					$this-&gt;</a:t>
            </a:r>
            <a:r>
              <a:rPr lang="en-GB" sz="1600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header = $h</a:t>
            </a: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echo $this-&gt;</a:t>
            </a:r>
            <a:r>
              <a:rPr lang="en-GB" sz="1600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header</a:t>
            </a: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8288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5" name="Google Shape;285;p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6" name="Google Shape;286;p3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Конструктор - 3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7" name="Google Shape;287;p35"/>
          <p:cNvSpPr/>
          <p:nvPr/>
        </p:nvSpPr>
        <p:spPr>
          <a:xfrm>
            <a:off x="831275" y="1140200"/>
            <a:ext cx="8024700" cy="3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При създаването на обект, чрез конструктора може да зададем стойност на свойствата му.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public function __construct($param) {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914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echo $this-&gt;property = $param;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Задаване на стойност на свойството  </a:t>
            </a:r>
            <a:r>
              <a:rPr lang="en-GB" sz="1600" b="1" i="0" u="sng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property.</a:t>
            </a:r>
            <a:endParaRPr sz="1600" b="1" i="0" u="sng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1" i="0" u="sng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$index = new Page(‘something’);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echo $index-&gt;property; //something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3" name="Google Shape;293;p3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GB" sz="3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Конструктор - 3</a:t>
            </a:r>
            <a:endParaRPr sz="36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5" name="Google Shape;295;p36"/>
          <p:cNvSpPr/>
          <p:nvPr/>
        </p:nvSpPr>
        <p:spPr>
          <a:xfrm>
            <a:off x="831275" y="1140200"/>
            <a:ext cx="8024700" cy="3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674EA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rgbClr val="43434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Щом сме декларирали, че конструкторът ще приема параметри, при създаването на всеки обект трябва да подаваме нужните параметри.</a:t>
            </a:r>
            <a:endParaRPr sz="1600" b="0" i="0" u="none" strike="noStrike" cap="none">
              <a:solidFill>
                <a:srgbClr val="43434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6064</Words>
  <Application>WPS Presentation</Application>
  <PresentationFormat/>
  <Paragraphs>381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Arial</vt:lpstr>
      <vt:lpstr>SimSun</vt:lpstr>
      <vt:lpstr>Wingdings</vt:lpstr>
      <vt:lpstr>Arial</vt:lpstr>
      <vt:lpstr>Syncopate</vt:lpstr>
      <vt:lpstr>Segoe Print</vt:lpstr>
      <vt:lpstr>Calibri</vt:lpstr>
      <vt:lpstr>simple-light-2</vt:lpstr>
      <vt:lpstr>web разработка</vt:lpstr>
      <vt:lpstr>PowerPoint 演示文稿</vt:lpstr>
      <vt:lpstr>Същност</vt:lpstr>
      <vt:lpstr>PowerPoint 演示文稿</vt:lpstr>
      <vt:lpstr>PowerPoint 演示文稿</vt:lpstr>
      <vt:lpstr>PowerPoint 演示文稿</vt:lpstr>
      <vt:lpstr>PowerPoint 演示文稿</vt:lpstr>
      <vt:lpstr>Клас</vt:lpstr>
      <vt:lpstr>PowerPoint 演示文稿</vt:lpstr>
      <vt:lpstr>PowerPoint 演示文稿</vt:lpstr>
      <vt:lpstr>Обект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Свойства/Properties </vt:lpstr>
      <vt:lpstr>PowerPoint 演示文稿</vt:lpstr>
      <vt:lpstr>PowerPoint 演示文稿</vt:lpstr>
      <vt:lpstr>PowerPoint 演示文稿</vt:lpstr>
      <vt:lpstr>Методи/Methods</vt:lpstr>
      <vt:lpstr>PowerPoint 演示文稿</vt:lpstr>
      <vt:lpstr>PowerPoint 演示文稿</vt:lpstr>
      <vt:lpstr>$this</vt:lpstr>
      <vt:lpstr>PowerPoint 演示文稿</vt:lpstr>
      <vt:lpstr>PowerPoint 演示文稿</vt:lpstr>
      <vt:lpstr>Спесификатори за достъп</vt:lpstr>
      <vt:lpstr>Спесификатори за достъп</vt:lpstr>
      <vt:lpstr>Спесификатори за достъп</vt:lpstr>
      <vt:lpstr>Спесификатори за достъп</vt:lpstr>
      <vt:lpstr>конструктор/__construct()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/>
  <cp:lastModifiedBy>labo</cp:lastModifiedBy>
  <cp:revision>2</cp:revision>
  <dcterms:created xsi:type="dcterms:W3CDTF">2019-06-27T05:50:00Z</dcterms:created>
  <dcterms:modified xsi:type="dcterms:W3CDTF">2019-06-27T05:52:18Z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1033-11.2.0.8641</vt:lpwstr>
  </property>
</Properties>
</file>