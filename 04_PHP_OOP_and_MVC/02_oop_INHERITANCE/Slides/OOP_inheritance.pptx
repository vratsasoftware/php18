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ipSsT6AWgvmhdBc20KGpIRh/5k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16" d="100"/>
          <a:sy n="116" d="100"/>
        </p:scale>
        <p:origin x="-413" y="5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37946285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5c8a411ab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5c8a411ab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5c8a411ab2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2" name="Google Shape;122;g5c8a411ab2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5c8a411ab2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g5c8a411ab2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5c8a411ab2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5c8a411ab2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5c8a411ab2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g5c8a411ab2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5c8a411ab2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g5c8a411ab2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5c8a411ab2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5c8a411ab2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5c8a411ab2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g5c8a411ab2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5c8a411ab2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g5c8a411ab2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15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599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7999" cy="7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7999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1"/>
          <p:cNvSpPr/>
          <p:nvPr/>
        </p:nvSpPr>
        <p:spPr>
          <a:xfrm>
            <a:off x="4572000" y="-125"/>
            <a:ext cx="4572000" cy="51434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199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199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2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3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599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599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23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4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3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itsphptutorial.wordpress.com/access-modifiers-in-php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-24225" y="2850900"/>
            <a:ext cx="9168299" cy="22925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yncopate"/>
              <a:buNone/>
            </a:pPr>
            <a:r>
              <a:rPr lang="en" sz="3600" b="1" i="0" u="none" strike="noStrike" cap="none">
                <a:solidFill>
                  <a:srgbClr val="8BC34A"/>
                </a:solidFill>
                <a:latin typeface="Syncopate"/>
                <a:ea typeface="Syncopate"/>
                <a:cs typeface="Syncopate"/>
                <a:sym typeface="Syncopate"/>
              </a:rPr>
              <a:t>web разработка</a:t>
            </a:r>
            <a:endParaRPr/>
          </a:p>
        </p:txBody>
      </p:sp>
      <p:sp>
        <p:nvSpPr>
          <p:cNvPr id="56" name="Google Shape;56;p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ООП</a:t>
            </a: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3600" b="1">
                <a:solidFill>
                  <a:srgbClr val="FFFFFF"/>
                </a:solidFill>
              </a:rPr>
              <a:t>Наследяване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81362" y="497376"/>
            <a:ext cx="2981277" cy="12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"/>
          <p:cNvSpPr txBox="1"/>
          <p:nvPr/>
        </p:nvSpPr>
        <p:spPr>
          <a:xfrm>
            <a:off x="-60750" y="4860300"/>
            <a:ext cx="9265500" cy="2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400"/>
              <a:buFont typeface="Arial"/>
              <a:buNone/>
            </a:pP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Милена Томова - НПО ВРАЦА СОФТУЕР ОБЩЕСТВО - КУРС Уеб Разработка- 11.2017 - ВЕРСИЯ 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Наследяване на класовете</a:t>
            </a:r>
            <a:endParaRPr sz="140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Предефиниране на методи в класовете при наследяване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isA, hasA - връзки между класовете - демо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Спесификаторите за достъп при наследяване - демо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Final</a:t>
            </a:r>
            <a:endParaRPr sz="14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24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фикатори иниране на методите в класаП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64" name="Google Shape;64;p2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2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Съдържание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9688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/>
          <p:cNvSpPr txBox="1">
            <a:spLocks noGrp="1"/>
          </p:cNvSpPr>
          <p:nvPr>
            <p:ph type="title"/>
          </p:nvPr>
        </p:nvSpPr>
        <p:spPr>
          <a:xfrm>
            <a:off x="311700" y="1999051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Наследяване на класовете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Class inheritance 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class Page {</a:t>
            </a:r>
            <a:endParaRPr sz="1100"/>
          </a:p>
          <a:p>
            <a:pPr marL="0" marR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$title;</a:t>
            </a:r>
            <a:endParaRPr sz="1100"/>
          </a:p>
          <a:p>
            <a:pPr marL="0" marR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$content;</a:t>
            </a:r>
            <a:endParaRPr sz="1100"/>
          </a:p>
          <a:p>
            <a:pPr marL="0" marR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$footer;</a:t>
            </a:r>
            <a:endParaRPr sz="1100"/>
          </a:p>
          <a:p>
            <a:pPr marL="0" marR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function __construct($t, $c, $f) {</a:t>
            </a:r>
            <a:endParaRPr sz="1100"/>
          </a:p>
          <a:p>
            <a:pPr marL="457200" marR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$this-&gt;title = $t;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$this-&gt;content = $c;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$this-&gt;footer = $f;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}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function render_header(){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	$str = $this-&gt;title();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	return $str;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}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function render_title() {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$str = ‘&lt;h1&gt;’.$this-&gt;title.‘&lt;/h1&gt;’;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return $str;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}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function render_conent() {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$str .= ‘&lt;p&gt;’.$this-&gt;content.‘&lt;/p&gt;’;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return $str;</a:t>
            </a:r>
            <a:endParaRPr sz="1100"/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}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function render_footer() {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$str .= ‘&lt;p&gt;’.$this-&gt;footer.‘&lt;/p&gt;’;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return $str;</a:t>
            </a:r>
            <a:endParaRPr sz="1100"/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}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}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76" name="Google Shape;76;p4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 i="1" u="sng"/>
              <a:t>Задача </a:t>
            </a:r>
            <a:r>
              <a:rPr lang="en" sz="1400"/>
              <a:t>Създайте приложение, което ….. 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Страниците на приложението са Home, Contacts, About Us, Content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Само Home страницата има слайдер и реклама.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Всички страници имат </a:t>
            </a:r>
            <a:endParaRPr sz="1400"/>
          </a:p>
          <a:p>
            <a:pPr marL="9144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header</a:t>
            </a:r>
            <a:endParaRPr sz="1400"/>
          </a:p>
          <a:p>
            <a:pPr marL="9144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content</a:t>
            </a:r>
            <a:endParaRPr sz="1400"/>
          </a:p>
          <a:p>
            <a:pPr marL="9144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footer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83" name="Google Shape;83;p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- 2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За да създаваме обекти от клас Home Page, притежаващи  описаните свойства, трябва да копираме клас Page и в него да добавим характерните/различните за Home Page свойства.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 /</a:t>
            </a:r>
            <a:r>
              <a:rPr lang="en" sz="1400" i="1"/>
              <a:t>Home Page съдържа всички характеристики на останалите страници и в допълнение има слайдер и реклама</a:t>
            </a:r>
            <a:r>
              <a:rPr lang="en" sz="1400"/>
              <a:t>/.</a:t>
            </a:r>
            <a:endParaRPr sz="1400"/>
          </a:p>
        </p:txBody>
      </p:sp>
      <p:sp>
        <p:nvSpPr>
          <p:cNvPr id="90" name="Google Shape;90;p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- 3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 i="1" u="sng">
                <a:solidFill>
                  <a:srgbClr val="009688"/>
                </a:solidFill>
              </a:rPr>
              <a:t>Properties</a:t>
            </a: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class HomePage {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FF0000"/>
                </a:solidFill>
              </a:rPr>
              <a:t>public $title;</a:t>
            </a:r>
            <a:endParaRPr sz="1200">
              <a:solidFill>
                <a:srgbClr val="FF0000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FF0000"/>
                </a:solidFill>
              </a:rPr>
              <a:t>public $content;			&lt;= повтарящ се код</a:t>
            </a:r>
            <a:endParaRPr sz="1200">
              <a:solidFill>
                <a:srgbClr val="FF0000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FF0000"/>
                </a:solidFill>
              </a:rPr>
              <a:t>public $footer;</a:t>
            </a:r>
            <a:endParaRPr sz="1200">
              <a:solidFill>
                <a:srgbClr val="FF0000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$slider;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$banner;		&lt;= специфични за класа </a:t>
            </a:r>
            <a:r>
              <a:rPr lang="en" sz="1400"/>
              <a:t>HomePage </a:t>
            </a:r>
            <a:r>
              <a:rPr lang="en" sz="1200" b="1">
                <a:solidFill>
                  <a:srgbClr val="009688"/>
                </a:solidFill>
              </a:rPr>
              <a:t>свойства</a:t>
            </a:r>
            <a:endParaRPr sz="1200" b="1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97" name="Google Shape;97;p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- 4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8"/>
          <p:cNvSpPr txBox="1">
            <a:spLocks noGrp="1"/>
          </p:cNvSpPr>
          <p:nvPr>
            <p:ph type="body" idx="1"/>
          </p:nvPr>
        </p:nvSpPr>
        <p:spPr>
          <a:xfrm>
            <a:off x="311700" y="11432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Повторенията в кода се избягват като се използва наследяването на класовете или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class HomePage </a:t>
            </a:r>
            <a:r>
              <a:rPr lang="en" sz="1400">
                <a:solidFill>
                  <a:srgbClr val="009688"/>
                </a:solidFill>
              </a:rPr>
              <a:t>extends</a:t>
            </a:r>
            <a:r>
              <a:rPr lang="en" sz="1400"/>
              <a:t> Page {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$slider;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$banner;</a:t>
            </a:r>
            <a:endParaRPr sz="1200">
              <a:solidFill>
                <a:srgbClr val="F3F3F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	…...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$homepage притежава всички свойства, характерни за обектите от клас Page плюс тези, принадлежащи на клас HomePage.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104" name="Google Shape;104;p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- 5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5c8a411ab2_0_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 i="1" u="sng">
                <a:solidFill>
                  <a:srgbClr val="009688"/>
                </a:solidFill>
              </a:rPr>
              <a:t>Methods</a:t>
            </a: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Класът HomePage, като наследник на Page, притежава свойствата и МЕТОДИТЕ на Page.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Може да има и свои методи и/или да предефинира или разширява родителските методи/тези на Page/.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111" name="Google Shape;111;g5c8a411ab2_0_0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g5c8a411ab2_0_0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- 6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 i="1" u="sng">
                <a:solidFill>
                  <a:srgbClr val="009688"/>
                </a:solidFill>
              </a:rPr>
              <a:t>Methods</a:t>
            </a: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class HomePage extends Page {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666666"/>
                </a:solidFill>
              </a:rPr>
              <a:t>public $slider;</a:t>
            </a:r>
            <a:endParaRPr sz="1200">
              <a:solidFill>
                <a:srgbClr val="666666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666666"/>
                </a:solidFill>
              </a:rPr>
              <a:t>public $banner;</a:t>
            </a:r>
            <a:endParaRPr sz="1200">
              <a:solidFill>
                <a:srgbClr val="666666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function __construct($h, $c, $f, </a:t>
            </a:r>
            <a:r>
              <a:rPr lang="en" sz="1200">
                <a:solidFill>
                  <a:srgbClr val="434343"/>
                </a:solidFill>
              </a:rPr>
              <a:t>$s, $b</a:t>
            </a:r>
            <a:r>
              <a:rPr lang="en" sz="1200" b="1">
                <a:solidFill>
                  <a:srgbClr val="009688"/>
                </a:solidFill>
              </a:rPr>
              <a:t>){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	parent::__construct($h, $c, $f);//извикваме задължително родителския конструктор, ако 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	</a:t>
            </a:r>
            <a:r>
              <a:rPr lang="en" sz="1200">
                <a:solidFill>
                  <a:srgbClr val="666666"/>
                </a:solidFill>
              </a:rPr>
              <a:t>$this-&gt;slider = $s;			//искаме в момента на създаването на обект</a:t>
            </a:r>
            <a:endParaRPr sz="1200">
              <a:solidFill>
                <a:srgbClr val="666666"/>
              </a:solidFill>
            </a:endParaRPr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666666"/>
                </a:solidFill>
              </a:rPr>
              <a:t>$this-&gt;banner = $b;		//да се придаде стойност на всички свойства</a:t>
            </a:r>
            <a:endParaRPr sz="1200">
              <a:solidFill>
                <a:srgbClr val="666666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}</a:t>
            </a:r>
            <a:endParaRPr sz="1200" b="1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/>
              <a:t>}</a:t>
            </a: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118" name="Google Shape;118;p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</a:t>
            </a:r>
            <a:r>
              <a:rPr lang="en" sz="3600" b="1">
                <a:solidFill>
                  <a:srgbClr val="FFFFFF"/>
                </a:solidFill>
              </a:rPr>
              <a:t>7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5c8a411ab2_0_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 i="1" u="sng">
                <a:solidFill>
                  <a:srgbClr val="009688"/>
                </a:solidFill>
              </a:rPr>
              <a:t>Methods</a:t>
            </a: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class HomePage extends Page {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666666"/>
                </a:solidFill>
              </a:rPr>
              <a:t>public $slider;</a:t>
            </a:r>
            <a:endParaRPr sz="1200">
              <a:solidFill>
                <a:srgbClr val="666666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666666"/>
                </a:solidFill>
              </a:rPr>
              <a:t>public $banner;</a:t>
            </a:r>
            <a:endParaRPr sz="1200">
              <a:solidFill>
                <a:srgbClr val="666666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function __construct($h, $c, $f, </a:t>
            </a:r>
            <a:r>
              <a:rPr lang="en" sz="1200">
                <a:solidFill>
                  <a:srgbClr val="434343"/>
                </a:solidFill>
              </a:rPr>
              <a:t>$s, $b</a:t>
            </a:r>
            <a:r>
              <a:rPr lang="en" sz="1200" b="1">
                <a:solidFill>
                  <a:srgbClr val="009688"/>
                </a:solidFill>
              </a:rPr>
              <a:t>){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	parent::__construct($h, $c, $f);	//извикваме задължително родителския конструктор, ако 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	</a:t>
            </a:r>
            <a:r>
              <a:rPr lang="en" sz="1200">
                <a:solidFill>
                  <a:srgbClr val="666666"/>
                </a:solidFill>
              </a:rPr>
              <a:t>$this-&gt;slider = $s;			//искаме в момента на създаването на обект</a:t>
            </a:r>
            <a:endParaRPr sz="1200">
              <a:solidFill>
                <a:srgbClr val="666666"/>
              </a:solidFill>
            </a:endParaRPr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666666"/>
                </a:solidFill>
              </a:rPr>
              <a:t>$this-&gt;banner = $b;			//да се придаде стойност на всички свойства</a:t>
            </a:r>
            <a:endParaRPr sz="1200">
              <a:solidFill>
                <a:srgbClr val="666666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}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function render_slider() {</a:t>
            </a:r>
            <a:endParaRPr sz="1200" b="1">
              <a:solidFill>
                <a:srgbClr val="009688"/>
              </a:solidFill>
            </a:endParaRPr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/>
              <a:t>$str .= ‘&lt;p&gt;’.$this-&gt;slider.‘&lt;/p&gt;’;</a:t>
            </a:r>
            <a:endParaRPr sz="12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/>
              <a:t>return $str;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}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function render_banner() {</a:t>
            </a:r>
            <a:endParaRPr sz="1200" b="1">
              <a:solidFill>
                <a:srgbClr val="009688"/>
              </a:solidFill>
            </a:endParaRPr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/>
              <a:t>$str .= ‘&lt;p&gt;’.$this-&gt;banner.‘&lt;/p&gt;’;</a:t>
            </a:r>
            <a:endParaRPr sz="12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/>
              <a:t>return $str;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}</a:t>
            </a: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/>
              <a:t>}</a:t>
            </a: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125" name="Google Shape;125;g5c8a411ab2_0_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g5c8a411ab2_0_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</a:t>
            </a:r>
            <a:r>
              <a:rPr lang="en" sz="3600" b="1">
                <a:solidFill>
                  <a:srgbClr val="FFFFFF"/>
                </a:solidFill>
              </a:rPr>
              <a:t>7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CAF50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0"/>
          <p:cNvSpPr txBox="1">
            <a:spLocks noGrp="1"/>
          </p:cNvSpPr>
          <p:nvPr>
            <p:ph type="title"/>
          </p:nvPr>
        </p:nvSpPr>
        <p:spPr>
          <a:xfrm>
            <a:off x="198906" y="159651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2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Предефиниране на методите в класа</a:t>
            </a:r>
            <a:endParaRPr sz="24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2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Method overriding</a:t>
            </a:r>
            <a:r>
              <a:rPr lang="en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400" b="1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В класът HomePage предефинирахме __construct(). Освен на header, content, footer, той задава стойности и на slider и banner свойствата.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Можем да предефинираме и други методи в класовете наследници 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В наследника създаваме едноименен метод с този в родителския</a:t>
            </a:r>
            <a:endParaRPr sz="1400"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Метода ще функционира във формата, дефиниран</a:t>
            </a:r>
            <a:endParaRPr sz="140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В родителския клас, ако се извиква от негови обекти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В дъщерния клас, ако се извиква от негови обекти.</a:t>
            </a:r>
            <a:endParaRPr/>
          </a:p>
        </p:txBody>
      </p:sp>
      <p:sp>
        <p:nvSpPr>
          <p:cNvPr id="137" name="Google Shape;137;p11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1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Method overriding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>
                <a:solidFill>
                  <a:srgbClr val="00B050"/>
                </a:solidFill>
              </a:rPr>
              <a:t>/</a:t>
            </a:r>
            <a:r>
              <a:rPr lang="en" sz="1200">
                <a:solidFill>
                  <a:srgbClr val="00B050"/>
                </a:solidFill>
              </a:rPr>
              <a:t>/дефиниция в Page</a:t>
            </a:r>
            <a:endParaRPr sz="1200">
              <a:solidFill>
                <a:srgbClr val="00B05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>
              <a:solidFill>
                <a:srgbClr val="434343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public function render_header(){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	$str = $this-&gt;title();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	return $str;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}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200">
                <a:solidFill>
                  <a:srgbClr val="00B050"/>
                </a:solidFill>
              </a:rPr>
              <a:t>//дефиниция в HomePage</a:t>
            </a:r>
            <a:endParaRPr sz="1200">
              <a:solidFill>
                <a:srgbClr val="00B05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200">
              <a:solidFill>
                <a:srgbClr val="434343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public function render_header(){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200"/>
              <a:t>	$str = </a:t>
            </a:r>
            <a:r>
              <a:rPr lang="en" sz="1200">
                <a:solidFill>
                  <a:srgbClr val="00B050"/>
                </a:solidFill>
              </a:rPr>
              <a:t>parent::render_header();</a:t>
            </a:r>
            <a:endParaRPr sz="1200">
              <a:solidFill>
                <a:srgbClr val="00B050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	$str .= $this-&gt;slider();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	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200"/>
              <a:t>	return $str;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200"/>
              <a:t>}</a:t>
            </a: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4" name="Google Shape;144;p1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2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Method overriding - 2 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64D7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5c8a411ab2_0_18"/>
          <p:cNvSpPr txBox="1">
            <a:spLocks noGrp="1"/>
          </p:cNvSpPr>
          <p:nvPr>
            <p:ph type="title"/>
          </p:nvPr>
        </p:nvSpPr>
        <p:spPr>
          <a:xfrm>
            <a:off x="311700" y="1767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IsA / HasA 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C4125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5c8a411ab2_0_99"/>
          <p:cNvSpPr txBox="1">
            <a:spLocks noGrp="1"/>
          </p:cNvSpPr>
          <p:nvPr>
            <p:ph type="title"/>
          </p:nvPr>
        </p:nvSpPr>
        <p:spPr>
          <a:xfrm>
            <a:off x="311700" y="1767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final</a:t>
            </a:r>
            <a:endParaRPr sz="3000" b="1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5c8a411ab2_0_22"/>
          <p:cNvSpPr txBox="1">
            <a:spLocks noGrp="1"/>
          </p:cNvSpPr>
          <p:nvPr>
            <p:ph type="body" idx="1"/>
          </p:nvPr>
        </p:nvSpPr>
        <p:spPr>
          <a:xfrm>
            <a:off x="347425" y="1125675"/>
            <a:ext cx="3804900" cy="3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Когато декларацията на метод започва с ключовата дума </a:t>
            </a:r>
            <a:r>
              <a:rPr lang="en" sz="1400" b="1">
                <a:solidFill>
                  <a:srgbClr val="FF5722"/>
                </a:solidFill>
              </a:rPr>
              <a:t>final</a:t>
            </a:r>
            <a:r>
              <a:rPr lang="en" sz="1400">
                <a:solidFill>
                  <a:schemeClr val="dk1"/>
                </a:solidFill>
              </a:rPr>
              <a:t>, този метод не може да бъде предефиниран в класовете наследници.</a:t>
            </a:r>
            <a:endParaRPr sz="1400"/>
          </a:p>
        </p:txBody>
      </p:sp>
      <p:sp>
        <p:nvSpPr>
          <p:cNvPr id="161" name="Google Shape;161;g5c8a411ab2_0_2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CC41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g5c8a411ab2_0_22"/>
          <p:cNvSpPr txBox="1"/>
          <p:nvPr/>
        </p:nvSpPr>
        <p:spPr>
          <a:xfrm>
            <a:off x="0" y="30300"/>
            <a:ext cx="7844100" cy="734100"/>
          </a:xfrm>
          <a:prstGeom prst="rect">
            <a:avLst/>
          </a:prstGeom>
          <a:solidFill>
            <a:srgbClr val="CC4125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final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g5c8a411ab2_0_22"/>
          <p:cNvSpPr txBox="1">
            <a:spLocks noGrp="1"/>
          </p:cNvSpPr>
          <p:nvPr>
            <p:ph type="body" idx="1"/>
          </p:nvPr>
        </p:nvSpPr>
        <p:spPr>
          <a:xfrm>
            <a:off x="4803925" y="1287000"/>
            <a:ext cx="3804900" cy="3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class Test {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….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</a:t>
            </a:r>
            <a:r>
              <a:rPr lang="en" sz="1100" b="1">
                <a:solidFill>
                  <a:srgbClr val="007700"/>
                </a:solidFill>
              </a:rPr>
              <a:t>final </a:t>
            </a:r>
            <a:r>
              <a:rPr lang="en" sz="1100">
                <a:solidFill>
                  <a:srgbClr val="0000FF"/>
                </a:solidFill>
              </a:rPr>
              <a:t>public function</a:t>
            </a:r>
            <a:r>
              <a:rPr lang="en" sz="1100">
                <a:solidFill>
                  <a:srgbClr val="007700"/>
                </a:solidFill>
              </a:rPr>
              <a:t> </a:t>
            </a:r>
            <a:r>
              <a:rPr lang="en" sz="1100">
                <a:solidFill>
                  <a:srgbClr val="0000BB"/>
                </a:solidFill>
              </a:rPr>
              <a:t>moreTesting</a:t>
            </a:r>
            <a:r>
              <a:rPr lang="en" sz="1100">
                <a:solidFill>
                  <a:srgbClr val="007700"/>
                </a:solidFill>
              </a:rPr>
              <a:t>() {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    echo </a:t>
            </a:r>
            <a:r>
              <a:rPr lang="en" sz="1100">
                <a:solidFill>
                  <a:srgbClr val="DD0000"/>
                </a:solidFill>
              </a:rPr>
              <a:t>"I am a final class and cannot be overriden!"</a:t>
            </a:r>
            <a:r>
              <a:rPr lang="en" sz="1100">
                <a:solidFill>
                  <a:srgbClr val="007700"/>
                </a:solidFill>
              </a:rPr>
              <a:t>;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}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...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}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endParaRPr sz="1100">
              <a:solidFill>
                <a:srgbClr val="007700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5c8a411ab2_0_29"/>
          <p:cNvSpPr txBox="1">
            <a:spLocks noGrp="1"/>
          </p:cNvSpPr>
          <p:nvPr>
            <p:ph type="body" idx="1"/>
          </p:nvPr>
        </p:nvSpPr>
        <p:spPr>
          <a:xfrm>
            <a:off x="347425" y="1125675"/>
            <a:ext cx="7957200" cy="3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Когато клас е означен като </a:t>
            </a:r>
            <a:r>
              <a:rPr lang="en" sz="1400" b="1">
                <a:solidFill>
                  <a:srgbClr val="FF5722"/>
                </a:solidFill>
              </a:rPr>
              <a:t>final</a:t>
            </a:r>
            <a:r>
              <a:rPr lang="en" sz="1400">
                <a:solidFill>
                  <a:schemeClr val="dk1"/>
                </a:solidFill>
              </a:rPr>
              <a:t> - не може да бъде наследяван.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endParaRPr sz="1400">
              <a:solidFill>
                <a:schemeClr val="dk1"/>
              </a:solidFill>
            </a:endParaRPr>
          </a:p>
        </p:txBody>
      </p:sp>
      <p:sp>
        <p:nvSpPr>
          <p:cNvPr id="169" name="Google Shape;169;g5c8a411ab2_0_2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CC41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g5c8a411ab2_0_29"/>
          <p:cNvSpPr txBox="1"/>
          <p:nvPr/>
        </p:nvSpPr>
        <p:spPr>
          <a:xfrm>
            <a:off x="0" y="30300"/>
            <a:ext cx="7844100" cy="734100"/>
          </a:xfrm>
          <a:prstGeom prst="rect">
            <a:avLst/>
          </a:prstGeom>
          <a:solidFill>
            <a:srgbClr val="CC4125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final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5c8a411ab2_0_35"/>
          <p:cNvSpPr txBox="1">
            <a:spLocks noGrp="1"/>
          </p:cNvSpPr>
          <p:nvPr>
            <p:ph type="body" idx="1"/>
          </p:nvPr>
        </p:nvSpPr>
        <p:spPr>
          <a:xfrm>
            <a:off x="347425" y="1125675"/>
            <a:ext cx="3804900" cy="3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final class </a:t>
            </a:r>
            <a:r>
              <a:rPr lang="en" sz="1100">
                <a:solidFill>
                  <a:srgbClr val="0000BB"/>
                </a:solidFill>
              </a:rPr>
              <a:t>BaseClass </a:t>
            </a:r>
            <a:r>
              <a:rPr lang="en" sz="1100">
                <a:solidFill>
                  <a:srgbClr val="007700"/>
                </a:solidFill>
              </a:rPr>
              <a:t>{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public function </a:t>
            </a:r>
            <a:r>
              <a:rPr lang="en" sz="1100">
                <a:solidFill>
                  <a:srgbClr val="0000BB"/>
                </a:solidFill>
              </a:rPr>
              <a:t>test</a:t>
            </a:r>
            <a:r>
              <a:rPr lang="en" sz="1100">
                <a:solidFill>
                  <a:srgbClr val="007700"/>
                </a:solidFill>
              </a:rPr>
              <a:t>() {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   //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}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</a:t>
            </a:r>
            <a:r>
              <a:rPr lang="en" sz="1100">
                <a:solidFill>
                  <a:srgbClr val="FF8000"/>
                </a:solidFill>
              </a:rPr>
              <a:t>// Here it doesn't matter if you specify the function as final or not</a:t>
            </a:r>
            <a:endParaRPr sz="1100">
              <a:solidFill>
                <a:srgbClr val="FF8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FF8000"/>
                </a:solidFill>
              </a:rPr>
              <a:t>   </a:t>
            </a:r>
            <a:r>
              <a:rPr lang="en" sz="1100">
                <a:solidFill>
                  <a:srgbClr val="007700"/>
                </a:solidFill>
              </a:rPr>
              <a:t>final public function </a:t>
            </a:r>
            <a:r>
              <a:rPr lang="en" sz="1100">
                <a:solidFill>
                  <a:srgbClr val="0000BB"/>
                </a:solidFill>
              </a:rPr>
              <a:t>moreTesting</a:t>
            </a:r>
            <a:r>
              <a:rPr lang="en" sz="1100">
                <a:solidFill>
                  <a:srgbClr val="007700"/>
                </a:solidFill>
              </a:rPr>
              <a:t>() {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  //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}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}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endParaRPr sz="1100">
              <a:solidFill>
                <a:srgbClr val="007700"/>
              </a:solidFill>
            </a:endParaRPr>
          </a:p>
        </p:txBody>
      </p:sp>
      <p:sp>
        <p:nvSpPr>
          <p:cNvPr id="176" name="Google Shape;176;g5c8a411ab2_0_3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CC41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g5c8a411ab2_0_35"/>
          <p:cNvSpPr txBox="1"/>
          <p:nvPr/>
        </p:nvSpPr>
        <p:spPr>
          <a:xfrm>
            <a:off x="0" y="30300"/>
            <a:ext cx="7844100" cy="734100"/>
          </a:xfrm>
          <a:prstGeom prst="rect">
            <a:avLst/>
          </a:prstGeom>
          <a:solidFill>
            <a:srgbClr val="CC4125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final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g5c8a411ab2_0_35"/>
          <p:cNvSpPr txBox="1">
            <a:spLocks noGrp="1"/>
          </p:cNvSpPr>
          <p:nvPr>
            <p:ph type="body" idx="1"/>
          </p:nvPr>
        </p:nvSpPr>
        <p:spPr>
          <a:xfrm>
            <a:off x="4803925" y="1287000"/>
            <a:ext cx="3804900" cy="3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class </a:t>
            </a:r>
            <a:r>
              <a:rPr lang="en" sz="1100">
                <a:solidFill>
                  <a:srgbClr val="0000BB"/>
                </a:solidFill>
              </a:rPr>
              <a:t>ChildClass </a:t>
            </a:r>
            <a:r>
              <a:rPr lang="en" sz="1100">
                <a:solidFill>
                  <a:srgbClr val="007700"/>
                </a:solidFill>
              </a:rPr>
              <a:t>extends </a:t>
            </a:r>
            <a:r>
              <a:rPr lang="en" sz="1100">
                <a:solidFill>
                  <a:srgbClr val="0000BB"/>
                </a:solidFill>
              </a:rPr>
              <a:t>BaseClass </a:t>
            </a:r>
            <a:r>
              <a:rPr lang="en" sz="1100">
                <a:solidFill>
                  <a:srgbClr val="007700"/>
                </a:solidFill>
              </a:rPr>
              <a:t>{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}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100">
                <a:solidFill>
                  <a:srgbClr val="FF8000"/>
                </a:solidFill>
              </a:rPr>
              <a:t>// Results in Fatal error: Class ChildClass may not inherit from final class (BaseClass)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74EA7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5c8a411ab2_0_87"/>
          <p:cNvSpPr txBox="1">
            <a:spLocks noGrp="1"/>
          </p:cNvSpPr>
          <p:nvPr>
            <p:ph type="title"/>
          </p:nvPr>
        </p:nvSpPr>
        <p:spPr>
          <a:xfrm>
            <a:off x="311700" y="1767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Access modifiers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Спесификатори за достъп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5c8a411ab2_0_91"/>
          <p:cNvSpPr txBox="1">
            <a:spLocks noGrp="1"/>
          </p:cNvSpPr>
          <p:nvPr>
            <p:ph type="body" idx="1"/>
          </p:nvPr>
        </p:nvSpPr>
        <p:spPr>
          <a:xfrm>
            <a:off x="347425" y="1125675"/>
            <a:ext cx="8275500" cy="3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400" u="sng" dirty="0">
                <a:solidFill>
                  <a:schemeClr val="hlink"/>
                </a:solidFill>
                <a:hlinkClick r:id="rId3"/>
              </a:rPr>
              <a:t>more info</a:t>
            </a:r>
            <a:endParaRPr sz="1400" dirty="0">
              <a:solidFill>
                <a:srgbClr val="007700"/>
              </a:solidFill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Clr>
                <a:srgbClr val="674EA7"/>
              </a:buClr>
              <a:buSzPts val="1400"/>
              <a:buAutoNum type="arabicPeriod"/>
            </a:pPr>
            <a:r>
              <a:rPr lang="en" sz="1200" i="1" dirty="0">
                <a:solidFill>
                  <a:srgbClr val="7030A0"/>
                </a:solidFill>
              </a:rPr>
              <a:t>public</a:t>
            </a:r>
            <a:r>
              <a:rPr lang="en" sz="1200" dirty="0">
                <a:solidFill>
                  <a:srgbClr val="7030A0"/>
                </a:solidFill>
              </a:rPr>
              <a:t> – class or its members defined with this access modifier will be publicly accessible from anywhere, even from outside the scope of the class.</a:t>
            </a:r>
            <a:endParaRPr sz="1200" dirty="0">
              <a:solidFill>
                <a:srgbClr val="7030A0"/>
              </a:solidFill>
            </a:endParaRPr>
          </a:p>
          <a:p>
            <a:pPr lvl="0" indent="-317500">
              <a:buClr>
                <a:srgbClr val="674EA7"/>
              </a:buClr>
              <a:buAutoNum type="arabicPeriod"/>
            </a:pPr>
            <a:r>
              <a:rPr lang="en" sz="1200" i="1" dirty="0">
                <a:solidFill>
                  <a:srgbClr val="7030A0"/>
                </a:solidFill>
              </a:rPr>
              <a:t>private</a:t>
            </a:r>
            <a:r>
              <a:rPr lang="en" sz="1200" dirty="0">
                <a:solidFill>
                  <a:srgbClr val="7030A0"/>
                </a:solidFill>
              </a:rPr>
              <a:t> – </a:t>
            </a:r>
            <a:r>
              <a:rPr lang="en-US" sz="1200" dirty="0">
                <a:solidFill>
                  <a:srgbClr val="7030A0"/>
                </a:solidFill>
              </a:rPr>
              <a:t>Those Class properties and class methods which are set to be PRIVATE can only be access with in the class</a:t>
            </a:r>
            <a:r>
              <a:rPr lang="en-US" sz="1200" dirty="0" smtClean="0">
                <a:solidFill>
                  <a:srgbClr val="7030A0"/>
                </a:solidFill>
              </a:rPr>
              <a:t>.</a:t>
            </a:r>
            <a:endParaRPr sz="1200" dirty="0">
              <a:solidFill>
                <a:srgbClr val="7030A0"/>
              </a:solidFill>
            </a:endParaRPr>
          </a:p>
          <a:p>
            <a:pPr lvl="0" indent="-317500">
              <a:buClr>
                <a:srgbClr val="674EA7"/>
              </a:buClr>
              <a:buAutoNum type="arabicPeriod"/>
            </a:pPr>
            <a:r>
              <a:rPr lang="en" sz="1200" i="1" dirty="0">
                <a:solidFill>
                  <a:srgbClr val="7030A0"/>
                </a:solidFill>
              </a:rPr>
              <a:t>protected</a:t>
            </a:r>
            <a:r>
              <a:rPr lang="en" sz="1200" dirty="0">
                <a:solidFill>
                  <a:srgbClr val="7030A0"/>
                </a:solidFill>
              </a:rPr>
              <a:t> – </a:t>
            </a:r>
            <a:r>
              <a:rPr lang="en-US" sz="1200" dirty="0">
                <a:solidFill>
                  <a:srgbClr val="7030A0"/>
                </a:solidFill>
              </a:rPr>
              <a:t>Those class properties and class methods which are set to be PROTECTED can only be accessed in side a class and from its child class</a:t>
            </a:r>
            <a:r>
              <a:rPr lang="en-US" sz="1200" dirty="0" smtClean="0">
                <a:solidFill>
                  <a:srgbClr val="7030A0"/>
                </a:solidFill>
              </a:rPr>
              <a:t>.</a:t>
            </a:r>
            <a:endParaRPr sz="1200" dirty="0">
              <a:solidFill>
                <a:srgbClr val="7030A0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en" sz="1200" i="1" dirty="0">
                <a:solidFill>
                  <a:schemeClr val="dk1"/>
                </a:solidFill>
              </a:rPr>
              <a:t>abstract</a:t>
            </a:r>
            <a:r>
              <a:rPr lang="en" sz="1200" dirty="0">
                <a:solidFill>
                  <a:schemeClr val="dk1"/>
                </a:solidFill>
              </a:rPr>
              <a:t> – This keyword can be used only for PHP classes and its functions. For containing </a:t>
            </a:r>
            <a:r>
              <a:rPr lang="en" sz="1200" i="1" dirty="0">
                <a:solidFill>
                  <a:schemeClr val="dk1"/>
                </a:solidFill>
              </a:rPr>
              <a:t>abstract</a:t>
            </a:r>
            <a:r>
              <a:rPr lang="en" sz="1200" dirty="0">
                <a:solidFill>
                  <a:schemeClr val="dk1"/>
                </a:solidFill>
              </a:rPr>
              <a:t> functions, a PHP class should be an </a:t>
            </a:r>
            <a:r>
              <a:rPr lang="en" sz="1200" i="1" dirty="0">
                <a:solidFill>
                  <a:schemeClr val="dk1"/>
                </a:solidFill>
              </a:rPr>
              <a:t>abstract</a:t>
            </a:r>
            <a:r>
              <a:rPr lang="en" sz="1200" dirty="0">
                <a:solidFill>
                  <a:schemeClr val="dk1"/>
                </a:solidFill>
              </a:rPr>
              <a:t> class./to be explained later/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674EA7"/>
              </a:buClr>
              <a:buSzPts val="1400"/>
              <a:buAutoNum type="arabicPeriod"/>
            </a:pPr>
            <a:r>
              <a:rPr lang="en" sz="1200" i="1" dirty="0">
                <a:solidFill>
                  <a:srgbClr val="674EA7"/>
                </a:solidFill>
              </a:rPr>
              <a:t>final</a:t>
            </a:r>
            <a:r>
              <a:rPr lang="en" sz="1200" dirty="0">
                <a:solidFill>
                  <a:srgbClr val="674EA7"/>
                </a:solidFill>
              </a:rPr>
              <a:t> – It prevents subclasses to override super class members defined with </a:t>
            </a:r>
            <a:r>
              <a:rPr lang="en" sz="1200" i="1" dirty="0">
                <a:solidFill>
                  <a:srgbClr val="674EA7"/>
                </a:solidFill>
              </a:rPr>
              <a:t>final</a:t>
            </a:r>
            <a:r>
              <a:rPr lang="en" sz="1200" dirty="0">
                <a:solidFill>
                  <a:srgbClr val="674EA7"/>
                </a:solidFill>
              </a:rPr>
              <a:t> keyword.</a:t>
            </a:r>
            <a:endParaRPr sz="1200" dirty="0">
              <a:solidFill>
                <a:srgbClr val="674EA7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endParaRPr sz="1200" dirty="0">
              <a:solidFill>
                <a:srgbClr val="674EA7"/>
              </a:solidFill>
            </a:endParaRPr>
          </a:p>
        </p:txBody>
      </p:sp>
      <p:sp>
        <p:nvSpPr>
          <p:cNvPr id="189" name="Google Shape;189;g5c8a411ab2_0_91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4EA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g5c8a411ab2_0_91"/>
          <p:cNvSpPr txBox="1"/>
          <p:nvPr/>
        </p:nvSpPr>
        <p:spPr>
          <a:xfrm>
            <a:off x="0" y="30300"/>
            <a:ext cx="7844100" cy="734100"/>
          </a:xfrm>
          <a:prstGeom prst="rect">
            <a:avLst/>
          </a:prstGeom>
          <a:solidFill>
            <a:srgbClr val="674EA7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Access modifiers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theme/theme1.xml><?xml version="1.0" encoding="utf-8"?>
<a:theme xmlns:a="http://schemas.openxmlformats.org/drawingml/2006/main" name="simple-light-2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722</Words>
  <Application>Microsoft Office PowerPoint</Application>
  <PresentationFormat>Презентация на цял екран (16:9)</PresentationFormat>
  <Paragraphs>189</Paragraphs>
  <Slides>21</Slides>
  <Notes>21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21</vt:i4>
      </vt:variant>
    </vt:vector>
  </HeadingPairs>
  <TitlesOfParts>
    <vt:vector size="22" baseType="lpstr">
      <vt:lpstr>simple-light-2</vt:lpstr>
      <vt:lpstr>web разработка</vt:lpstr>
      <vt:lpstr>Презентация на PowerPoint</vt:lpstr>
      <vt:lpstr>Наследяване на класовете  Class inheritance 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Предефиниране на методите в класа Method overriding </vt:lpstr>
      <vt:lpstr>Презентация на PowerPoint</vt:lpstr>
      <vt:lpstr>Презентация на PowerPoint</vt:lpstr>
      <vt:lpstr>IsA / HasA  demo</vt:lpstr>
      <vt:lpstr>final</vt:lpstr>
      <vt:lpstr>Презентация на PowerPoint</vt:lpstr>
      <vt:lpstr>Презентация на PowerPoint</vt:lpstr>
      <vt:lpstr>Презентация на PowerPoint</vt:lpstr>
      <vt:lpstr>Access modifiers Спесификатори за достъп</vt:lpstr>
      <vt:lpstr>Презентация на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разработка</dc:title>
  <dc:creator>Milena</dc:creator>
  <cp:lastModifiedBy>Ariel</cp:lastModifiedBy>
  <cp:revision>3</cp:revision>
  <dcterms:modified xsi:type="dcterms:W3CDTF">2019-06-30T06:53:21Z</dcterms:modified>
</cp:coreProperties>
</file>