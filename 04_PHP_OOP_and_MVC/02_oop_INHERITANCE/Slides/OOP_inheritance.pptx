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pSsT6AWgvmhdBc20KGpIRh/5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79462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c8a411a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5c8a411a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c8a411ab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5c8a411ab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8a411ab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5c8a411ab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5c8a411ab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5c8a411ab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c8a411ab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5c8a411ab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5c8a411ab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5c8a411ab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c8a411ab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5c8a411ab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5c8a411ab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5c8a411ab2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5c8a411ab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5c8a411ab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hppot.com/php/php-access-modifier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/>
          </a:p>
        </p:txBody>
      </p:sp>
      <p:sp>
        <p:nvSpPr>
          <p:cNvPr id="56" name="Google Shape;56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ООП</a:t>
            </a: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3600" b="1">
                <a:solidFill>
                  <a:srgbClr val="FFFFFF"/>
                </a:solidFill>
              </a:rPr>
              <a:t>Наследяване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Разработка- 11.2017 - ВЕРСИЯ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Наследяване на класовете</a:t>
            </a:r>
            <a:endParaRPr sz="140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Предефиниране на методи в класовете при наследяване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isA, hasA - връзки между класовете - демо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Спесификаторите за достъп при наследяване - демо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Final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фикатори иниране на методите в класаП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64" name="Google Shape;64;p2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688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>
            <a:spLocks noGrp="1"/>
          </p:cNvSpPr>
          <p:nvPr>
            <p:ph type="title"/>
          </p:nvPr>
        </p:nvSpPr>
        <p:spPr>
          <a:xfrm>
            <a:off x="311700" y="19990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Наследяване на класовете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inheritance 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class Page {</a:t>
            </a:r>
            <a:endParaRPr sz="1100"/>
          </a:p>
          <a:p>
            <a:pPr marL="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$title;</a:t>
            </a:r>
            <a:endParaRPr sz="1100"/>
          </a:p>
          <a:p>
            <a:pPr marL="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$content;</a:t>
            </a:r>
            <a:endParaRPr sz="1100"/>
          </a:p>
          <a:p>
            <a:pPr marL="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$footer;</a:t>
            </a:r>
            <a:endParaRPr sz="1100"/>
          </a:p>
          <a:p>
            <a:pPr marL="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function __construct($t, $c, $f) {</a:t>
            </a:r>
            <a:endParaRPr sz="1100"/>
          </a:p>
          <a:p>
            <a:pPr marL="45720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$this-&gt;title = $t;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$this-&gt;content = $c;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$this-&gt;footer = $f;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}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function render_header(){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	$str = $this-&gt;title();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	return $str;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}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function render_title() {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$str = ‘&lt;h1&gt;’.$this-&gt;title.‘&lt;/h1&gt;’;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return $str;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}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function render_conent() {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$str .= ‘&lt;p&gt;’.$this-&gt;content.‘&lt;/p&gt;’;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return $str;</a:t>
            </a:r>
            <a:endParaRPr sz="11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}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public function render_footer() {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$str .= ‘&lt;p&gt;’.$this-&gt;footer.‘&lt;/p&gt;’;</a:t>
            </a:r>
            <a:endParaRPr sz="11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return $str;</a:t>
            </a:r>
            <a:endParaRPr sz="11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}</a:t>
            </a:r>
            <a:endParaRPr sz="11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100"/>
              <a:t>}</a:t>
            </a:r>
            <a:endParaRPr sz="11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i="1" u="sng"/>
              <a:t>Задача </a:t>
            </a:r>
            <a:r>
              <a:rPr lang="en" sz="1400"/>
              <a:t>Създайте приложение, което ….. 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Страниците на приложението са Home, Contacts, About Us, Content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Само Home страницата има слайдер и реклама.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Всички страници имат </a:t>
            </a:r>
            <a:endParaRPr sz="1400"/>
          </a:p>
          <a:p>
            <a:pPr marL="9144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header</a:t>
            </a:r>
            <a:endParaRPr sz="1400"/>
          </a:p>
          <a:p>
            <a:pPr marL="9144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content</a:t>
            </a:r>
            <a:endParaRPr sz="1400"/>
          </a:p>
          <a:p>
            <a:pPr marL="9144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footer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83" name="Google Shape;83;p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- 2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За да създаваме обекти от клас Home Page, притежаващи  описаните свойства, трябва да копираме клас Page и в него да добавим характерните/различните за Home Page свойства.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 /</a:t>
            </a:r>
            <a:r>
              <a:rPr lang="en" sz="1400" i="1"/>
              <a:t>Home Page съдържа всички характеристики на останалите страници и в допълнение има слайдер и реклама</a:t>
            </a:r>
            <a:r>
              <a:rPr lang="en" sz="1400"/>
              <a:t>/.</a:t>
            </a:r>
            <a:endParaRPr sz="1400"/>
          </a:p>
        </p:txBody>
      </p:sp>
      <p:sp>
        <p:nvSpPr>
          <p:cNvPr id="90" name="Google Shape;90;p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- 3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i="1" u="sng">
                <a:solidFill>
                  <a:srgbClr val="009688"/>
                </a:solidFill>
              </a:rPr>
              <a:t>Properties</a:t>
            </a: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class HomePage {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FF0000"/>
                </a:solidFill>
              </a:rPr>
              <a:t>public $title;</a:t>
            </a:r>
            <a:endParaRPr sz="1200">
              <a:solidFill>
                <a:srgbClr val="FF0000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FF0000"/>
                </a:solidFill>
              </a:rPr>
              <a:t>public $content;			&lt;= повтарящ се код</a:t>
            </a:r>
            <a:endParaRPr sz="1200">
              <a:solidFill>
                <a:srgbClr val="FF0000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FF0000"/>
                </a:solidFill>
              </a:rPr>
              <a:t>public $footer;</a:t>
            </a:r>
            <a:endParaRPr sz="1200">
              <a:solidFill>
                <a:srgbClr val="FF0000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$slider;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$banner;		&lt;= специфични за класа </a:t>
            </a:r>
            <a:r>
              <a:rPr lang="en" sz="1400"/>
              <a:t>HomePage </a:t>
            </a:r>
            <a:r>
              <a:rPr lang="en" sz="1200" b="1">
                <a:solidFill>
                  <a:srgbClr val="009688"/>
                </a:solidFill>
              </a:rPr>
              <a:t>свойства</a:t>
            </a:r>
            <a:endParaRPr sz="1200" b="1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97" name="Google Shape;97;p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- 4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>
            <a:spLocks noGrp="1"/>
          </p:cNvSpPr>
          <p:nvPr>
            <p:ph type="body" idx="1"/>
          </p:nvPr>
        </p:nvSpPr>
        <p:spPr>
          <a:xfrm>
            <a:off x="311700" y="11432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Повторенията в кода се избягват като се използва наследяването на класовете или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class HomePage </a:t>
            </a:r>
            <a:r>
              <a:rPr lang="en" sz="1400">
                <a:solidFill>
                  <a:srgbClr val="009688"/>
                </a:solidFill>
              </a:rPr>
              <a:t>extends</a:t>
            </a:r>
            <a:r>
              <a:rPr lang="en" sz="1400"/>
              <a:t> Page {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$slider;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$banner;</a:t>
            </a:r>
            <a:endParaRPr sz="1200">
              <a:solidFill>
                <a:srgbClr val="F3F3F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	…...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$homepage притежава всички свойства, характерни за обектите от клас Page плюс тези, принадлежащи на клас HomePage.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104" name="Google Shape;104;p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- 5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5c8a411ab2_0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i="1" u="sng">
                <a:solidFill>
                  <a:srgbClr val="009688"/>
                </a:solidFill>
              </a:rPr>
              <a:t>Methods</a:t>
            </a: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Класът HomePage, като наследник на Page, притежава свойствата и МЕТОДИТЕ на Page.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Може да има и свои методи и/или да предефинира или разширява родителските методи/тези на Page/.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111" name="Google Shape;111;g5c8a411ab2_0_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5c8a411ab2_0_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- 6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i="1" u="sng">
                <a:solidFill>
                  <a:srgbClr val="009688"/>
                </a:solidFill>
              </a:rPr>
              <a:t>Methods</a:t>
            </a: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class HomePage extends Page {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666666"/>
                </a:solidFill>
              </a:rPr>
              <a:t>public $slider;</a:t>
            </a:r>
            <a:endParaRPr sz="120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666666"/>
                </a:solidFill>
              </a:rPr>
              <a:t>public $banner;</a:t>
            </a:r>
            <a:endParaRPr sz="120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function __construct($h, $c, $f, </a:t>
            </a:r>
            <a:r>
              <a:rPr lang="en" sz="1200">
                <a:solidFill>
                  <a:srgbClr val="434343"/>
                </a:solidFill>
              </a:rPr>
              <a:t>$s, $b</a:t>
            </a:r>
            <a:r>
              <a:rPr lang="en" sz="1200" b="1">
                <a:solidFill>
                  <a:srgbClr val="009688"/>
                </a:solidFill>
              </a:rPr>
              <a:t>){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	parent::__construct($h, $c, $f);//извикваме задължително родителския конструктор, ако 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	</a:t>
            </a:r>
            <a:r>
              <a:rPr lang="en" sz="1200">
                <a:solidFill>
                  <a:srgbClr val="666666"/>
                </a:solidFill>
              </a:rPr>
              <a:t>$this-&gt;slider = $s;			//искаме в момента на създаването на обект</a:t>
            </a:r>
            <a:endParaRPr sz="1200">
              <a:solidFill>
                <a:srgbClr val="666666"/>
              </a:solidFill>
            </a:endParaRPr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666666"/>
                </a:solidFill>
              </a:rPr>
              <a:t>$this-&gt;banner = $b;		//да се придаде стойност на всички свойства</a:t>
            </a:r>
            <a:endParaRPr sz="120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}</a:t>
            </a:r>
            <a:endParaRPr sz="1200" b="1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118" name="Google Shape;118;p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</a:t>
            </a:r>
            <a:r>
              <a:rPr lang="en" sz="3600" b="1">
                <a:solidFill>
                  <a:srgbClr val="FFFFFF"/>
                </a:solidFill>
              </a:rPr>
              <a:t>7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c8a411ab2_0_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i="1" u="sng">
                <a:solidFill>
                  <a:srgbClr val="009688"/>
                </a:solidFill>
              </a:rPr>
              <a:t>Methods</a:t>
            </a: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i="1" u="sng">
              <a:solidFill>
                <a:srgbClr val="009688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class HomePage extends Page {</a:t>
            </a:r>
            <a:endParaRPr sz="14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666666"/>
                </a:solidFill>
              </a:rPr>
              <a:t>public $slider;</a:t>
            </a:r>
            <a:endParaRPr sz="120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666666"/>
                </a:solidFill>
              </a:rPr>
              <a:t>public $banner;</a:t>
            </a:r>
            <a:endParaRPr sz="120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function __construct($h, $c, $f, </a:t>
            </a:r>
            <a:r>
              <a:rPr lang="en" sz="1200">
                <a:solidFill>
                  <a:srgbClr val="434343"/>
                </a:solidFill>
              </a:rPr>
              <a:t>$s, $b</a:t>
            </a:r>
            <a:r>
              <a:rPr lang="en" sz="1200" b="1">
                <a:solidFill>
                  <a:srgbClr val="009688"/>
                </a:solidFill>
              </a:rPr>
              <a:t>){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	parent::__construct($h, $c, $f);	//извикваме задължително родителския конструктор, ако 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	</a:t>
            </a:r>
            <a:r>
              <a:rPr lang="en" sz="1200">
                <a:solidFill>
                  <a:srgbClr val="666666"/>
                </a:solidFill>
              </a:rPr>
              <a:t>$this-&gt;slider = $s;			//искаме в момента на създаването на обект</a:t>
            </a:r>
            <a:endParaRPr sz="1200">
              <a:solidFill>
                <a:srgbClr val="666666"/>
              </a:solidFill>
            </a:endParaRPr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rgbClr val="666666"/>
                </a:solidFill>
              </a:rPr>
              <a:t>$this-&gt;banner = $b;			//да се придаде стойност на всички свойства</a:t>
            </a:r>
            <a:endParaRPr sz="1200">
              <a:solidFill>
                <a:srgbClr val="666666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}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function render_slider() {</a:t>
            </a:r>
            <a:endParaRPr sz="1200" b="1">
              <a:solidFill>
                <a:srgbClr val="009688"/>
              </a:solidFill>
            </a:endParaRPr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/>
              <a:t>$str .= ‘&lt;p&gt;’.$this-&gt;slider.‘&lt;/p&gt;’;</a:t>
            </a:r>
            <a:endParaRPr sz="12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/>
              <a:t>return $str;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}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public function render_banner() {</a:t>
            </a:r>
            <a:endParaRPr sz="1200" b="1">
              <a:solidFill>
                <a:srgbClr val="009688"/>
              </a:solidFill>
            </a:endParaRPr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/>
              <a:t>$str .= ‘&lt;p&gt;’.$this-&gt;banner.‘&lt;/p&gt;’;</a:t>
            </a:r>
            <a:endParaRPr sz="1200"/>
          </a:p>
          <a:p>
            <a:pPr marL="4572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/>
              <a:t>return $str;</a:t>
            </a:r>
            <a:endParaRPr sz="1200" b="1">
              <a:solidFill>
                <a:srgbClr val="009688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 b="1">
                <a:solidFill>
                  <a:srgbClr val="009688"/>
                </a:solidFill>
              </a:rPr>
              <a:t>}</a:t>
            </a: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</p:txBody>
      </p:sp>
      <p:sp>
        <p:nvSpPr>
          <p:cNvPr id="125" name="Google Shape;125;g5c8a411ab2_0_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5c8a411ab2_0_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26927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 inheritance - </a:t>
            </a:r>
            <a:r>
              <a:rPr lang="en" sz="3600" b="1">
                <a:solidFill>
                  <a:srgbClr val="FFFFFF"/>
                </a:solidFill>
              </a:rPr>
              <a:t>7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AF5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>
            <a:spLocks noGrp="1"/>
          </p:cNvSpPr>
          <p:nvPr>
            <p:ph type="title"/>
          </p:nvPr>
        </p:nvSpPr>
        <p:spPr>
          <a:xfrm>
            <a:off x="198906" y="15965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Предефиниране на методите в класа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 overriding</a:t>
            </a: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В класът HomePage предефинирахме __construct(). Освен на header, content, footer, той задава стойности и на slider и banner свойствата.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/>
              <a:t>Можем да предефинираме и други методи в класовете наследници </a:t>
            </a:r>
            <a:endParaRPr sz="1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В наследника създаваме едноименен метод с този в родителския</a:t>
            </a:r>
            <a:endParaRPr sz="1400"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Метода ще функционира във формата, дефиниран</a:t>
            </a:r>
            <a:endParaRPr sz="1400"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 родителския клас, ако се извиква от негови обекти</a:t>
            </a:r>
            <a:endParaRPr/>
          </a:p>
          <a:p>
            <a:pPr marL="914400" lvl="1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В дъщерния клас, ако се извиква от негови обекти.</a:t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 overriding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00B050"/>
                </a:solidFill>
              </a:rPr>
              <a:t>/</a:t>
            </a:r>
            <a:r>
              <a:rPr lang="en" sz="1200">
                <a:solidFill>
                  <a:srgbClr val="00B050"/>
                </a:solidFill>
              </a:rPr>
              <a:t>/дефиниция в Page</a:t>
            </a:r>
            <a:endParaRPr sz="1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public function render_header(){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	$str = $this-&gt;title();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	return $str;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}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00B050"/>
                </a:solidFill>
              </a:rPr>
              <a:t>//дефиниция в HomePage</a:t>
            </a:r>
            <a:endParaRPr sz="120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public function render_header(){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/>
              <a:t>	$str = </a:t>
            </a:r>
            <a:r>
              <a:rPr lang="en" sz="1200">
                <a:solidFill>
                  <a:srgbClr val="00B050"/>
                </a:solidFill>
              </a:rPr>
              <a:t>parent::render_header();</a:t>
            </a:r>
            <a:endParaRPr sz="1200">
              <a:solidFill>
                <a:srgbClr val="00B050"/>
              </a:solidFill>
            </a:endParaRP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	$str .= $this-&gt;slider();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/>
              <a:t>	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/>
              <a:t>	return $str;</a:t>
            </a:r>
            <a:endParaRPr sz="1200"/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/>
              <a:t>}</a:t>
            </a: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Method overriding - 2 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4D7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c8a411ab2_0_18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IsA / HasA 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125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c8a411ab2_0_99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c8a411ab2_0_22"/>
          <p:cNvSpPr txBox="1">
            <a:spLocks noGrp="1"/>
          </p:cNvSpPr>
          <p:nvPr>
            <p:ph type="body" idx="1"/>
          </p:nvPr>
        </p:nvSpPr>
        <p:spPr>
          <a:xfrm>
            <a:off x="347425" y="1125675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Когато декларацията на метод започва с ключовата дума </a:t>
            </a:r>
            <a:r>
              <a:rPr lang="en" sz="1400" b="1">
                <a:solidFill>
                  <a:srgbClr val="FF5722"/>
                </a:solidFill>
              </a:rPr>
              <a:t>final</a:t>
            </a:r>
            <a:r>
              <a:rPr lang="en" sz="1400">
                <a:solidFill>
                  <a:schemeClr val="dk1"/>
                </a:solidFill>
              </a:rPr>
              <a:t>, този метод не може да бъде предефиниран в класовете наследници.</a:t>
            </a:r>
            <a:endParaRPr sz="1400"/>
          </a:p>
        </p:txBody>
      </p:sp>
      <p:sp>
        <p:nvSpPr>
          <p:cNvPr id="161" name="Google Shape;161;g5c8a411ab2_0_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5c8a411ab2_0_22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CC412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5c8a411ab2_0_22"/>
          <p:cNvSpPr txBox="1">
            <a:spLocks noGrp="1"/>
          </p:cNvSpPr>
          <p:nvPr>
            <p:ph type="body" idx="1"/>
          </p:nvPr>
        </p:nvSpPr>
        <p:spPr>
          <a:xfrm>
            <a:off x="4803925" y="1287000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class Test {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….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</a:t>
            </a:r>
            <a:r>
              <a:rPr lang="en" sz="1100" b="1">
                <a:solidFill>
                  <a:srgbClr val="007700"/>
                </a:solidFill>
              </a:rPr>
              <a:t>final </a:t>
            </a:r>
            <a:r>
              <a:rPr lang="en" sz="1100">
                <a:solidFill>
                  <a:srgbClr val="0000FF"/>
                </a:solidFill>
              </a:rPr>
              <a:t>public function</a:t>
            </a:r>
            <a:r>
              <a:rPr lang="en" sz="1100">
                <a:solidFill>
                  <a:srgbClr val="007700"/>
                </a:solidFill>
              </a:rPr>
              <a:t> </a:t>
            </a:r>
            <a:r>
              <a:rPr lang="en" sz="1100">
                <a:solidFill>
                  <a:srgbClr val="0000BB"/>
                </a:solidFill>
              </a:rPr>
              <a:t>moreTesting</a:t>
            </a:r>
            <a:r>
              <a:rPr lang="en" sz="1100">
                <a:solidFill>
                  <a:srgbClr val="007700"/>
                </a:solidFill>
              </a:rPr>
              <a:t>() {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    echo </a:t>
            </a:r>
            <a:r>
              <a:rPr lang="en" sz="1100">
                <a:solidFill>
                  <a:srgbClr val="DD0000"/>
                </a:solidFill>
              </a:rPr>
              <a:t>"I am a final class and cannot be overriden!"</a:t>
            </a:r>
            <a:r>
              <a:rPr lang="en" sz="1100">
                <a:solidFill>
                  <a:srgbClr val="007700"/>
                </a:solidFill>
              </a:rPr>
              <a:t>;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}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...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}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 sz="1100">
              <a:solidFill>
                <a:srgbClr val="00770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5c8a411ab2_0_29"/>
          <p:cNvSpPr txBox="1">
            <a:spLocks noGrp="1"/>
          </p:cNvSpPr>
          <p:nvPr>
            <p:ph type="body" idx="1"/>
          </p:nvPr>
        </p:nvSpPr>
        <p:spPr>
          <a:xfrm>
            <a:off x="347425" y="1125675"/>
            <a:ext cx="79572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Когато клас е означен като </a:t>
            </a:r>
            <a:r>
              <a:rPr lang="en" sz="1400" b="1">
                <a:solidFill>
                  <a:srgbClr val="FF5722"/>
                </a:solidFill>
              </a:rPr>
              <a:t>final</a:t>
            </a:r>
            <a:r>
              <a:rPr lang="en" sz="1400">
                <a:solidFill>
                  <a:schemeClr val="dk1"/>
                </a:solidFill>
              </a:rPr>
              <a:t> - не може да бъде наследяван.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169" name="Google Shape;169;g5c8a411ab2_0_2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5c8a411ab2_0_29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CC412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c8a411ab2_0_35"/>
          <p:cNvSpPr txBox="1">
            <a:spLocks noGrp="1"/>
          </p:cNvSpPr>
          <p:nvPr>
            <p:ph type="body" idx="1"/>
          </p:nvPr>
        </p:nvSpPr>
        <p:spPr>
          <a:xfrm>
            <a:off x="347425" y="1125675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final class </a:t>
            </a:r>
            <a:r>
              <a:rPr lang="en" sz="1100">
                <a:solidFill>
                  <a:srgbClr val="0000BB"/>
                </a:solidFill>
              </a:rPr>
              <a:t>BaseClass </a:t>
            </a:r>
            <a:r>
              <a:rPr lang="en" sz="1100">
                <a:solidFill>
                  <a:srgbClr val="007700"/>
                </a:solidFill>
              </a:rPr>
              <a:t>{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public function </a:t>
            </a:r>
            <a:r>
              <a:rPr lang="en" sz="1100">
                <a:solidFill>
                  <a:srgbClr val="0000BB"/>
                </a:solidFill>
              </a:rPr>
              <a:t>test</a:t>
            </a:r>
            <a:r>
              <a:rPr lang="en" sz="1100">
                <a:solidFill>
                  <a:srgbClr val="007700"/>
                </a:solidFill>
              </a:rPr>
              <a:t>() {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   //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}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</a:t>
            </a:r>
            <a:r>
              <a:rPr lang="en" sz="1100">
                <a:solidFill>
                  <a:srgbClr val="FF8000"/>
                </a:solidFill>
              </a:rPr>
              <a:t>// Here it doesn't matter if you specify the function as final or not</a:t>
            </a:r>
            <a:endParaRPr sz="1100">
              <a:solidFill>
                <a:srgbClr val="FF8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8000"/>
                </a:solidFill>
              </a:rPr>
              <a:t>   </a:t>
            </a:r>
            <a:r>
              <a:rPr lang="en" sz="1100">
                <a:solidFill>
                  <a:srgbClr val="007700"/>
                </a:solidFill>
              </a:rPr>
              <a:t>final public function </a:t>
            </a:r>
            <a:r>
              <a:rPr lang="en" sz="1100">
                <a:solidFill>
                  <a:srgbClr val="0000BB"/>
                </a:solidFill>
              </a:rPr>
              <a:t>moreTesting</a:t>
            </a:r>
            <a:r>
              <a:rPr lang="en" sz="1100">
                <a:solidFill>
                  <a:srgbClr val="007700"/>
                </a:solidFill>
              </a:rPr>
              <a:t>() {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  //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   }</a:t>
            </a:r>
            <a:endParaRPr sz="1100">
              <a:solidFill>
                <a:srgbClr val="0077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}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 sz="1100">
              <a:solidFill>
                <a:srgbClr val="007700"/>
              </a:solidFill>
            </a:endParaRPr>
          </a:p>
        </p:txBody>
      </p:sp>
      <p:sp>
        <p:nvSpPr>
          <p:cNvPr id="176" name="Google Shape;176;g5c8a411ab2_0_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5c8a411ab2_0_35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CC412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5c8a411ab2_0_35"/>
          <p:cNvSpPr txBox="1">
            <a:spLocks noGrp="1"/>
          </p:cNvSpPr>
          <p:nvPr>
            <p:ph type="body" idx="1"/>
          </p:nvPr>
        </p:nvSpPr>
        <p:spPr>
          <a:xfrm>
            <a:off x="4803925" y="1287000"/>
            <a:ext cx="3804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class </a:t>
            </a:r>
            <a:r>
              <a:rPr lang="en" sz="1100">
                <a:solidFill>
                  <a:srgbClr val="0000BB"/>
                </a:solidFill>
              </a:rPr>
              <a:t>ChildClass </a:t>
            </a:r>
            <a:r>
              <a:rPr lang="en" sz="1100">
                <a:solidFill>
                  <a:srgbClr val="007700"/>
                </a:solidFill>
              </a:rPr>
              <a:t>extends </a:t>
            </a:r>
            <a:r>
              <a:rPr lang="en" sz="1100">
                <a:solidFill>
                  <a:srgbClr val="0000BB"/>
                </a:solidFill>
              </a:rPr>
              <a:t>BaseClass </a:t>
            </a:r>
            <a:r>
              <a:rPr lang="en" sz="1100">
                <a:solidFill>
                  <a:srgbClr val="007700"/>
                </a:solidFill>
              </a:rPr>
              <a:t>{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7700"/>
                </a:solidFill>
              </a:rPr>
              <a:t>}</a:t>
            </a:r>
            <a:endParaRPr sz="1100">
              <a:solidFill>
                <a:srgbClr val="0077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100">
                <a:solidFill>
                  <a:srgbClr val="FF8000"/>
                </a:solidFill>
              </a:rPr>
              <a:t>// Results in Fatal error: Class ChildClass may not inherit from final class (BaseClass)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4EA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5c8a411ab2_0_87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modifiers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Спесификатори за достъп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c8a411ab2_0_91"/>
          <p:cNvSpPr txBox="1">
            <a:spLocks noGrp="1"/>
          </p:cNvSpPr>
          <p:nvPr>
            <p:ph type="body" idx="1"/>
          </p:nvPr>
        </p:nvSpPr>
        <p:spPr>
          <a:xfrm>
            <a:off x="347425" y="1125675"/>
            <a:ext cx="82755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more info</a:t>
            </a:r>
            <a:endParaRPr sz="1400">
              <a:solidFill>
                <a:srgbClr val="007700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674EA7"/>
              </a:buClr>
              <a:buSzPts val="1400"/>
              <a:buAutoNum type="arabicPeriod"/>
            </a:pPr>
            <a:r>
              <a:rPr lang="en" sz="1400" i="1">
                <a:solidFill>
                  <a:srgbClr val="674EA7"/>
                </a:solidFill>
              </a:rPr>
              <a:t>public</a:t>
            </a:r>
            <a:r>
              <a:rPr lang="en" sz="1400">
                <a:solidFill>
                  <a:srgbClr val="674EA7"/>
                </a:solidFill>
              </a:rPr>
              <a:t> – class or its members defined with this access modifier will be publicly accessible from anywhere, even from outside the scope of the class.</a:t>
            </a:r>
            <a:endParaRPr sz="1400">
              <a:solidFill>
                <a:srgbClr val="674EA7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AutoNum type="arabicPeriod"/>
            </a:pPr>
            <a:r>
              <a:rPr lang="en" sz="1400" i="1">
                <a:solidFill>
                  <a:srgbClr val="674EA7"/>
                </a:solidFill>
              </a:rPr>
              <a:t>private</a:t>
            </a:r>
            <a:r>
              <a:rPr lang="en" sz="1400">
                <a:solidFill>
                  <a:srgbClr val="674EA7"/>
                </a:solidFill>
              </a:rPr>
              <a:t> – class members with this keyword will be accessed within the class itself. It protects members from outside class access with the reference of the class instance.</a:t>
            </a:r>
            <a:endParaRPr sz="1400">
              <a:solidFill>
                <a:srgbClr val="674EA7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AutoNum type="arabicPeriod"/>
            </a:pPr>
            <a:r>
              <a:rPr lang="en" sz="1400" i="1">
                <a:solidFill>
                  <a:srgbClr val="674EA7"/>
                </a:solidFill>
              </a:rPr>
              <a:t>protected</a:t>
            </a:r>
            <a:r>
              <a:rPr lang="en" sz="1400">
                <a:solidFill>
                  <a:srgbClr val="674EA7"/>
                </a:solidFill>
              </a:rPr>
              <a:t> – same as private, except by allowing subclasses to access protected superclass members.</a:t>
            </a:r>
            <a:endParaRPr sz="1400">
              <a:solidFill>
                <a:srgbClr val="674EA7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 i="1">
                <a:solidFill>
                  <a:schemeClr val="dk1"/>
                </a:solidFill>
              </a:rPr>
              <a:t>abstract</a:t>
            </a:r>
            <a:r>
              <a:rPr lang="en" sz="1400">
                <a:solidFill>
                  <a:schemeClr val="dk1"/>
                </a:solidFill>
              </a:rPr>
              <a:t> – This keyword can be used only for PHP classes and its functions. For containing </a:t>
            </a:r>
            <a:r>
              <a:rPr lang="en" sz="1400" i="1">
                <a:solidFill>
                  <a:schemeClr val="dk1"/>
                </a:solidFill>
              </a:rPr>
              <a:t>abstract</a:t>
            </a:r>
            <a:r>
              <a:rPr lang="en" sz="1400">
                <a:solidFill>
                  <a:schemeClr val="dk1"/>
                </a:solidFill>
              </a:rPr>
              <a:t> functions, a PHP class should be an </a:t>
            </a:r>
            <a:r>
              <a:rPr lang="en" sz="1400" i="1">
                <a:solidFill>
                  <a:schemeClr val="dk1"/>
                </a:solidFill>
              </a:rPr>
              <a:t>abstract</a:t>
            </a:r>
            <a:r>
              <a:rPr lang="en" sz="1400">
                <a:solidFill>
                  <a:schemeClr val="dk1"/>
                </a:solidFill>
              </a:rPr>
              <a:t> class./to be explained later/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400"/>
              <a:buAutoNum type="arabicPeriod"/>
            </a:pPr>
            <a:r>
              <a:rPr lang="en" sz="1400" i="1">
                <a:solidFill>
                  <a:srgbClr val="674EA7"/>
                </a:solidFill>
              </a:rPr>
              <a:t>final</a:t>
            </a:r>
            <a:r>
              <a:rPr lang="en" sz="1400">
                <a:solidFill>
                  <a:srgbClr val="674EA7"/>
                </a:solidFill>
              </a:rPr>
              <a:t> – It prevents subclasses to override super class members defined with </a:t>
            </a:r>
            <a:r>
              <a:rPr lang="en" sz="1400" i="1">
                <a:solidFill>
                  <a:srgbClr val="674EA7"/>
                </a:solidFill>
              </a:rPr>
              <a:t>final</a:t>
            </a:r>
            <a:r>
              <a:rPr lang="en" sz="1400">
                <a:solidFill>
                  <a:srgbClr val="674EA7"/>
                </a:solidFill>
              </a:rPr>
              <a:t> keyword.</a:t>
            </a:r>
            <a:endParaRPr sz="1400">
              <a:solidFill>
                <a:srgbClr val="674EA7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 sz="1400">
              <a:solidFill>
                <a:srgbClr val="674EA7"/>
              </a:solidFill>
            </a:endParaRPr>
          </a:p>
        </p:txBody>
      </p:sp>
      <p:sp>
        <p:nvSpPr>
          <p:cNvPr id="189" name="Google Shape;189;g5c8a411ab2_0_9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5c8a411ab2_0_91"/>
          <p:cNvSpPr txBox="1"/>
          <p:nvPr/>
        </p:nvSpPr>
        <p:spPr>
          <a:xfrm>
            <a:off x="0" y="30300"/>
            <a:ext cx="7844100" cy="734100"/>
          </a:xfrm>
          <a:prstGeom prst="rect">
            <a:avLst/>
          </a:prstGeom>
          <a:solidFill>
            <a:srgbClr val="674EA7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Access modifiers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Презентация на цял екран (16:9)</PresentationFormat>
  <Paragraphs>189</Paragraphs>
  <Slides>21</Slides>
  <Notes>21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21</vt:i4>
      </vt:variant>
    </vt:vector>
  </HeadingPairs>
  <TitlesOfParts>
    <vt:vector size="22" baseType="lpstr">
      <vt:lpstr>simple-light-2</vt:lpstr>
      <vt:lpstr>web разработка</vt:lpstr>
      <vt:lpstr>Презентация на PowerPoint</vt:lpstr>
      <vt:lpstr>Наследяване на класовете  Class inheritance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Предефиниране на методите в класа Method overriding </vt:lpstr>
      <vt:lpstr>Презентация на PowerPoint</vt:lpstr>
      <vt:lpstr>Презентация на PowerPoint</vt:lpstr>
      <vt:lpstr>IsA / HasA  demo</vt:lpstr>
      <vt:lpstr>final</vt:lpstr>
      <vt:lpstr>Презентация на PowerPoint</vt:lpstr>
      <vt:lpstr>Презентация на PowerPoint</vt:lpstr>
      <vt:lpstr>Презентация на PowerPoint</vt:lpstr>
      <vt:lpstr>Access modifiers Спесификатори за достъп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</cp:revision>
  <dcterms:modified xsi:type="dcterms:W3CDTF">2019-06-30T06:14:40Z</dcterms:modified>
</cp:coreProperties>
</file>