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Syncopate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yncopate-regular.fntdata"/><Relationship Id="rId47" Type="http://schemas.openxmlformats.org/officeDocument/2006/relationships/slide" Target="slides/slide43.xml"/><Relationship Id="rId49" Type="http://schemas.openxmlformats.org/officeDocument/2006/relationships/font" Target="fonts/Syncopat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c1c1c44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1fc1c1c4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36e1e943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36e1e94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4e717690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4e71769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36e1e9438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36e1e94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fc4a58e79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1fc4a58e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36e1e9438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36e1e94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6e1e943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36e1e943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6e1e9438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36e1e94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36e1e9438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36e1e943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fc4a58e79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1fc4a58e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36e1e9438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36e1e943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fc53ea1a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1fc53ea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6e1e9438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36e1e943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c53ea1a6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fc53ea1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fc53ea1a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1fc53ea1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6e1e9438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236e1e943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c53ea1a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1fc53ea1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c53ea1a6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fc53ea1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36e1e9438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236e1e943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c53ea1a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1fc53ea1a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df0a5d2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24df0a5d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4df0a5d21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4df0a5d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df0a5d21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4df0a5d2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df0a5d2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24df0a5d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df0a5d21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4df0a5d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4df0a5d21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4df0a5d2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4df0a5d21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4df0a5d2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3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4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cc6c128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4cc6c12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 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g.wikipedia.org/wiki/%D0%A8%D0%B0%D0%B1%D0%BB%D0%BE%D0%BD_%D0%B7%D0%B0_%D0%B4%D0%B8%D0%B7%D0%B0%D0%B9%D0%BD" TargetMode="External"/><Relationship Id="rId4" Type="http://schemas.openxmlformats.org/officeDocument/2006/relationships/hyperlink" Target="https://bg.wikipedia.org/wiki/%D0%A8%D0%B0%D0%B1%D0%BB%D0%BE%D0%BD_%D0%B7%D0%B0_%D0%B4%D0%B8%D0%B7%D0%B0%D0%B9%D0%BD" TargetMode="External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aravel-news.com/category/laravel-5.5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ackagist.org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tcomposer.org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etcomposer.org/doc/00-intro.md#dependency-management" TargetMode="External"/><Relationship Id="rId4" Type="http://schemas.openxmlformats.org/officeDocument/2006/relationships/hyperlink" Target="https://getcomposer.org/doc/03-cli.md#global" TargetMode="External"/><Relationship Id="rId5" Type="http://schemas.openxmlformats.org/officeDocument/2006/relationships/hyperlink" Target="https://npmjs.org/" TargetMode="External"/><Relationship Id="rId6" Type="http://schemas.openxmlformats.org/officeDocument/2006/relationships/hyperlink" Target="http://bundler.io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aravel.com/docs/6.x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aravel.com/docs/5.4/installation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laravel.com/docs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laracasts.com/" TargetMode="External"/><Relationship Id="rId4" Type="http://schemas.openxmlformats.org/officeDocument/2006/relationships/hyperlink" Target="https://www.udemy.com/php-with-laravel-for-beginners-become-a-master-in-laravel/?utm_source=adwords-learn&amp;utm_medium=udemyads&amp;utm_campaign=NEW-AW-PROS-TECH-ROW-DSA-EN-EURO_._ci__._sl_ENG_._vi_TECH_._sd_All_._la_EN_._&amp;utm_content=deal4584&amp;utm_term=_._ag_43090401054_._ad_205975711629_._de_c_._dm__._pl__._ti_dsa-334302743929_._li_1001462_._pd__._&amp;gclid=Cj0KCQjwlMXMBRC1ARIsAKKGuwj3062iuAyYoUNB0qd7rWzRf47J_g5ybV6GGQEXnS2BnB8VkCTobjYaAuMiEALw_wc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b="1" i="0" lang="en" sz="2400" u="none" cap="none" strike="noStrik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MVC</a:t>
            </a:r>
            <a:endParaRPr b="1" sz="3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sz="3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i="1" lang="en" sz="2400">
                <a:solidFill>
                  <a:srgbClr val="FFFFFF"/>
                </a:solidFill>
              </a:rPr>
              <a:t>intro</a:t>
            </a:r>
            <a:endParaRPr b="1" i="1" sz="2400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b="1" lang="en">
                <a:solidFill>
                  <a:srgbClr val="CCCCCC"/>
                </a:solidFill>
              </a:rPr>
              <a:t>8</a:t>
            </a: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b="1" lang="en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MVC &amp; Frameworks</a:t>
            </a:r>
            <a:endParaRPr sz="1400">
              <a:solidFill>
                <a:srgbClr val="666666"/>
              </a:solidFill>
            </a:endParaRPr>
          </a:p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Laravel</a:t>
            </a:r>
            <a:endParaRPr sz="1400">
              <a:solidFill>
                <a:srgbClr val="666666"/>
              </a:solidFill>
            </a:endParaRPr>
          </a:p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Composer</a:t>
            </a:r>
            <a:endParaRPr sz="1400">
              <a:solidFill>
                <a:srgbClr val="666666"/>
              </a:solidFill>
            </a:endParaRPr>
          </a:p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Инсталация на Ларавел</a:t>
            </a:r>
            <a:endParaRPr sz="1400">
              <a:solidFill>
                <a:srgbClr val="666666"/>
              </a:solidFill>
            </a:endParaRPr>
          </a:p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Namespaces, Traits</a:t>
            </a:r>
            <a:endParaRPr sz="1400">
              <a:solidFill>
                <a:srgbClr val="666666"/>
              </a:solidFill>
            </a:endParaRPr>
          </a:p>
          <a:p>
            <a:pPr indent="-203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666666"/>
                </a:solidFill>
              </a:rPr>
              <a:t>Документация на Ларавел</a:t>
            </a:r>
            <a:endParaRPr sz="14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91E6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Model–view–controller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b="1" lang="en" sz="1100">
                <a:solidFill>
                  <a:schemeClr val="dk1"/>
                </a:solidFill>
              </a:rPr>
              <a:t>MVC)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е архитектурен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/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шаблон за дизайн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в програмирането,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основан на разделянето на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бизнес логиката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от графичния интерфейс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и данните в дадено приложение. </a:t>
            </a:r>
            <a:endParaRPr sz="1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MVC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cEWx.png"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0549" y="863325"/>
            <a:ext cx="5986951" cy="42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91E63"/>
                </a:solidFill>
              </a:rPr>
              <a:t>Предимства и недостатъци на MVC</a:t>
            </a:r>
            <a:endParaRPr b="1" sz="1000">
              <a:solidFill>
                <a:srgbClr val="E91E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+"/>
            </a:pPr>
            <a:r>
              <a:rPr lang="en" sz="1000">
                <a:solidFill>
                  <a:srgbClr val="000000"/>
                </a:solidFill>
              </a:rPr>
              <a:t>Успоредна разработка - позволява група разработчици да разработват едновременно дадено приложение.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+"/>
            </a:pPr>
            <a:r>
              <a:rPr lang="en" sz="1000">
                <a:solidFill>
                  <a:srgbClr val="000000"/>
                </a:solidFill>
              </a:rPr>
              <a:t>MVC позволява логическо групиране.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+"/>
            </a:pPr>
            <a:r>
              <a:rPr lang="en" sz="1000">
                <a:solidFill>
                  <a:srgbClr val="000000"/>
                </a:solidFill>
              </a:rPr>
              <a:t>Всяка една част на MVC позволява да бъда планирана, осъществена и променяна независимо от останалите части на приложението.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Организацията на файловете в приложението е усложнена. Но от друга страна, тази организация не се променя за различните приложения, ползващи един и същ MVC framework.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Познаването на множество технологии е задължително за разработчиците, използващи MVC.</a:t>
            </a:r>
            <a:endParaRPr sz="1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MVC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45818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0" y="1327226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Защо framework?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Готовите библиотеки и компоненти представляват съвкупност от кодове, с ясно дефинирано предназначение. Те са разработени, поддържат се и се доразвиват от хора, които ги познават напълно и носят отговорност за безпроблемната им работа.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Laravel, Symfony, Silex, Lumen, Slim и др. представляват колекция от такива компоненти, обединени чрез специфична за конкретния фреймуърк свързваща част - конфигурационни файлове,  service providers, точно определна структура на директориите и др. 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Ползата от използването на framework, най-просто казано е в това, че някой друг е преценил какви компоненти да групира и то по такъв начин, че да работят максимално добре заедно.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Framework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C27B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Laravel 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44350"/>
            <a:ext cx="82230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Първата експериментална версия на Laravel е пусната през юни 2011.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Началното развитие на Laravel е много бързо и съответно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2 и 3 са публикувани през ноември 2011 и февруари 2012.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ylor-Otwell-cloudways.jpg"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525" y="1117425"/>
            <a:ext cx="6583043" cy="34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4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Авторът пренаписва всичко отначало.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Към този момент Composer/ PHP package manager/започва да се превръща в стандарт за индустрията и Тейлър преценява, че си струва да пренапише Ларавел като колекция от компоненти, свързани и работещи заедно благодарение на Composer.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4.3 е бил планиран да излезе през ноември 2014 г., но в процеса на разработката му, направените промени са толкова значителни, че е издадена съвсем нова - Ларавел 5 версия през февруари 2015 г.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5.5 - излиза на 30 август 2017 /!изисква рнр 7/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Ново в Ларавел 5.5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така … какво прави Ларавел толкова специален?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Кое е го отделя от останалите?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Защо е нужно да има повече от един РНР фреймуърк?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Философията на Ларавел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Прегледайте маркетинг материалите на Ларавел, неговите README файлове.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Ще ви направят впечатление свързаните със светлина имена, които са навсякъде в Ларавел  - “Illuminate”, “Spark”...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Две от най-популяризираните ценности на Ларавел са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Скоростта на работа 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Удовлетворението от работата за самия разработчик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“...Понякога прекарвам ужасно дълго време /часове/ агонизирайки в опитите си да накарам кода, който пиша да изглежда приятно. Само заради удоволствието да преглеждам самия код... “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“... Трябва да е възможно по-лесно и по-бързо да превръщаме идеите си в реалност, като се премахнат ненужните бариери пред създаването на страхотни продукти…”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Тейлър Отуел, създател на Ларавел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Ларавел е посветен на екипността и даването на възможности на разработчиците.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Целта му е да се създава ясен, прост и красив код. Притежава функционалности, които помагат - изучават се бързо, така че разработчиците могат да стартират бързо проектите си, да пишат  прост и ясен, код който да остава във времето.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документацията може да намерите изречението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“Happy developers make the best code”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“Developer happiness </a:t>
            </a: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from download to deploy”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неофициално мото на Ларавел за известно време.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Как прави живота на разработчиците по-лесен /и щастлив/?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Първо, Laravel е фреймуърк за бързо разработване на приложения. Той се изучава лесно и е съсредоточен върху минимизиране на стъпките между стартирането на разработването на приложение и публикуването му.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Всички от най-често използваните задачи при разработване на уебприложение - от работата с базата данни, до проверка на потребителите, изпращане на имейли, опашки, кеширане - са облекчени чрез компонентите, които Ларавел съдържа.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 компонентите на Ларавел, не са просто много добри сами по себе си. Те предлагат консистента и предвидима структура за целия фреймуърк. Това означава, че когато пробвате нещо ново в Ларавел, много е вероятно да накрая да кажете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“... хм, и то просто работи!?....”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 не свършва с пакета Ларавел, който ще свалите и инсталирате.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Ларавел разполага и с цяла екосистема от инструменти за разработване и пускане в експлоатация на приложение /Homestead, Vallet/ и допълнителни библиотеки /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packages/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Ларавел се фокусира върху конвенцията за сметка на конфигурацията.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Или ако имате намерение да използвате конфигурацията по подразбиране на Ларавел, ще ви се наложи да свършите много малко допълнителна работа в сравнение с други frameworks, които изискват от вас да декларирате всички настройки дори и ако използвате препоръчителните.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сравнение с повечето PHP frameworks, проектите разработвани на Ларавел изискват по-малко време.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Ларавел се фокусира върху простотата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Може да използвате всички най-сложни шаблони за проектиране, които познавате, ако желаете. Но за разлика от другите frameworks, които ще ви препоръчват да ги използвате във всеки проект,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Laravel, документацията и общността на Ларавел, ще ви препоръчат да започнете с </a:t>
            </a:r>
            <a:r>
              <a:rPr b="1" lang="en" sz="3600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възможно най-простата имплементация.</a:t>
            </a:r>
            <a:endParaRPr b="1" sz="3600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 позволява на разработчиците да създадат възможно </a:t>
            </a: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най-простото приложение, разрешаващо даден проблем.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Авторът на Ларавел и неговите последователи са свързани и се вдъхновяват от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Ruby и Rails и езиците, използващи функционално програмиране.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Съществува силно съвременно течение в РНР, което клони към усложняване и утежняване на разработките, поддържайки тези страни от РНР, наподобяващи Java.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 се стреми да бъде от другата страна - той подкрепя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експресивните, динамични и опростени практики </a:t>
            </a:r>
            <a:endParaRPr b="1" sz="3000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страни на езика за програмиране.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Общността на Ларавел</a:t>
            </a:r>
            <a:endParaRPr b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Един от отличителните елементи на Ларавел, допринасящ за неговото израстване и успех, е добронамерената обучаваща общност, която го обгражда.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Ларавел разполага с богата и жизнена общност от хора, които го подкрепят от първия ден и досега.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това не е случайно ...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From the very beginning of Laravel, I’ve had this idea that all people want to feel like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part of something. It’s a natural human instinct to want to belong and be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accepted into a group of other like-minded people. So, by injecting personality into 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framework and being really active with the community, that type of feeling can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 in the community.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—Taylor Otwell,Product and Support interview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Laravel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73AB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246350" y="18723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Composer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Инсталация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Composer е инструмент, управляващ зависимостите в PHP. Той ви дава възможност да декларирате библиотеките, които използвате във вашия проект и се грижи за тях - инсталира ги, обновява ги, вместо вас.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composer.jason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 файлът, в който са изброени нужните за вашия проект библиотеки.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0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0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Composer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666666"/>
                </a:solidFill>
              </a:rPr>
              <a:t>Управляване на зависимостите</a:t>
            </a:r>
            <a:endParaRPr b="1" sz="1700" u="sng">
              <a:solidFill>
                <a:srgbClr val="666666"/>
              </a:solidFill>
              <a:hlinkClick r:id="rId3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</a:rPr>
              <a:t>Composer се грижи за т.нар. пакети и библиотеки, /но за всеки отделен проект!/, като ги инсталира в една директория /например vendor/. По подразбиране не инсталира нищо глобално, освен ако не посочите командата </a:t>
            </a:r>
            <a:r>
              <a:rPr lang="en" sz="1100" u="sng">
                <a:solidFill>
                  <a:srgbClr val="666666"/>
                </a:solidFill>
                <a:hlinkClick r:id="rId4"/>
              </a:rPr>
              <a:t>global</a:t>
            </a:r>
            <a:r>
              <a:rPr lang="en" sz="1100">
                <a:solidFill>
                  <a:srgbClr val="666666"/>
                </a:solidFill>
              </a:rPr>
              <a:t>.</a:t>
            </a:r>
            <a:endParaRPr sz="11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</a:rPr>
              <a:t>Идеята не е нова и Composer я наследява от  </a:t>
            </a:r>
            <a:r>
              <a:rPr lang="en" sz="1100" u="sng">
                <a:solidFill>
                  <a:srgbClr val="666666"/>
                </a:solidFill>
                <a:hlinkClick r:id="rId5"/>
              </a:rPr>
              <a:t>npm</a:t>
            </a:r>
            <a:r>
              <a:rPr lang="en" sz="1100">
                <a:solidFill>
                  <a:srgbClr val="666666"/>
                </a:solidFill>
              </a:rPr>
              <a:t> на node и </a:t>
            </a:r>
            <a:r>
              <a:rPr lang="en" sz="1100" u="sng">
                <a:solidFill>
                  <a:srgbClr val="666666"/>
                </a:solidFill>
                <a:hlinkClick r:id="rId6"/>
              </a:rPr>
              <a:t>bundler</a:t>
            </a:r>
            <a:r>
              <a:rPr lang="en" sz="1100">
                <a:solidFill>
                  <a:srgbClr val="666666"/>
                </a:solidFill>
              </a:rPr>
              <a:t> на ruby.</a:t>
            </a:r>
            <a:endParaRPr sz="11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</a:rPr>
              <a:t>Представете си, че</a:t>
            </a:r>
            <a:endParaRPr sz="1100">
              <a:solidFill>
                <a:srgbClr val="6666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AutoNum type="arabicPeriod"/>
            </a:pPr>
            <a:r>
              <a:rPr lang="en" sz="1100">
                <a:solidFill>
                  <a:srgbClr val="666666"/>
                </a:solidFill>
              </a:rPr>
              <a:t>Имате проект, за който са нужни няколко библиотеки.</a:t>
            </a:r>
            <a:endParaRPr sz="1100">
              <a:solidFill>
                <a:srgbClr val="6666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AutoNum type="arabicPeriod"/>
            </a:pPr>
            <a:r>
              <a:rPr lang="en" sz="1100">
                <a:solidFill>
                  <a:srgbClr val="666666"/>
                </a:solidFill>
              </a:rPr>
              <a:t>За някои от библиотеките, са нужни други библиотеки.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6666"/>
                </a:solidFill>
              </a:rPr>
              <a:t>Composer:</a:t>
            </a:r>
            <a:endParaRPr sz="1100">
              <a:solidFill>
                <a:srgbClr val="6666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AutoNum type="arabicPeriod"/>
            </a:pPr>
            <a:r>
              <a:rPr lang="en" sz="1100">
                <a:solidFill>
                  <a:srgbClr val="666666"/>
                </a:solidFill>
              </a:rPr>
              <a:t>Ви дава възможност да декларирате библиотеките, от които зависите.</a:t>
            </a:r>
            <a:endParaRPr sz="1100">
              <a:solidFill>
                <a:srgbClr val="6666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AutoNum type="arabicPeriod"/>
            </a:pPr>
            <a:r>
              <a:rPr lang="en" sz="1100">
                <a:solidFill>
                  <a:srgbClr val="666666"/>
                </a:solidFill>
              </a:rPr>
              <a:t>Намира кои версии на кои пакети може и трябва да инсталира и ги инсталира /което означава, че ги сваля и инсталира във вашия проект/.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Composer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C27B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Инсталиране на Ларавел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Изисквания към сървъра 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виж документацията на Ларавел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Инсталиране на Ларавел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Инсталиране на Ларавел - документация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6666"/>
                </a:solidFill>
              </a:rPr>
              <a:t>Команда за инсталиране /трябва да сме в папката където ще създаваме проекта/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</a:rPr>
              <a:t>инсталира последната версия на ларавел спрямо версията на рнр на сървъра</a:t>
            </a:r>
            <a:endParaRPr i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9C27B0"/>
                </a:solidFill>
              </a:rPr>
              <a:t>composer create-project --prefer-dist laravel/laravel името-на-проекта</a:t>
            </a:r>
            <a:endParaRPr sz="1700">
              <a:solidFill>
                <a:srgbClr val="9C27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9C27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6666"/>
                </a:solidFill>
              </a:rPr>
              <a:t>Команда за инсталиране на конкретна версия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9C27B0"/>
                </a:solidFill>
              </a:rPr>
              <a:t>composer create-project laravel/laravel</a:t>
            </a:r>
            <a:r>
              <a:rPr lang="en" sz="1700">
                <a:solidFill>
                  <a:srgbClr val="CC0000"/>
                </a:solidFill>
              </a:rPr>
              <a:t>=версия-на-ларавел </a:t>
            </a:r>
            <a:r>
              <a:rPr lang="en" sz="1700">
                <a:solidFill>
                  <a:srgbClr val="9C27B0"/>
                </a:solidFill>
              </a:rPr>
              <a:t>your-project-name --prefer-dist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6666"/>
                </a:solidFill>
              </a:rPr>
              <a:t>Стартираме проекта в браузъра чрез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9C27B0"/>
                </a:solidFill>
              </a:rPr>
              <a:t>Пътя-до-проекта/public</a:t>
            </a:r>
            <a:endParaRPr sz="1700">
              <a:solidFill>
                <a:srgbClr val="9C27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Инсталиране на Ларавел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33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11700" y="207105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Namespace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Декларираме ги чрез ключовата дума </a:t>
            </a:r>
            <a:r>
              <a:rPr i="1" lang="en">
                <a:solidFill>
                  <a:srgbClr val="666666"/>
                </a:solidFill>
              </a:rPr>
              <a:t>namespace</a:t>
            </a:r>
            <a:r>
              <a:rPr lang="en">
                <a:solidFill>
                  <a:srgbClr val="666666"/>
                </a:solidFill>
              </a:rPr>
              <a:t>. </a:t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Файл съдържащ namespace, трябва да го декларира в началото на файла, </a:t>
            </a:r>
            <a:r>
              <a:rPr b="1" i="1" lang="en" u="sng">
                <a:solidFill>
                  <a:srgbClr val="E91E63"/>
                </a:solidFill>
              </a:rPr>
              <a:t>преди всякакъв друг код - ведната след отварящия рнр таг.</a:t>
            </a:r>
            <a:endParaRPr b="1" i="1" u="sng">
              <a:solidFill>
                <a:srgbClr val="E91E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Наподобяват файлова йерархия.</a:t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Използва се за облекчено извикване на класове, методи на класове и др.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78" name="Google Shape;278;p4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Namespace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9900FF"/>
                </a:solidFill>
              </a:rPr>
              <a:t>Обърнете внимание на пътя до файла в примера и връзката му с дефинирания namespace</a:t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285" name="Google Shape;285;p4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Namespace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mespace_traits.png" id="286" name="Google Shape;2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64400"/>
            <a:ext cx="65722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9900FF"/>
                </a:solidFill>
              </a:rPr>
              <a:t>use ….</a:t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434343"/>
                </a:solidFill>
              </a:rPr>
              <a:t>Декларираме кой неймспейс използваме в класа.</a:t>
            </a:r>
            <a:endParaRPr i="1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434343"/>
                </a:solidFill>
              </a:rPr>
              <a:t>Обръщаме се към него в кода по последната дума в неймспейса </a:t>
            </a:r>
            <a:endParaRPr i="1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rgbClr val="9900FF"/>
                </a:solidFill>
              </a:rPr>
              <a:t>use Illuminate\Foundation\Bus\DispatchesJobs; </a:t>
            </a:r>
            <a:endParaRPr i="1">
              <a:solidFill>
                <a:srgbClr val="9900FF"/>
              </a:solidFill>
            </a:endParaRPr>
          </a:p>
          <a:p>
            <a:pPr indent="45720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rgbClr val="434343"/>
                </a:solidFill>
              </a:rPr>
              <a:t>обръщаме се с</a:t>
            </a:r>
            <a:r>
              <a:rPr i="1" lang="en">
                <a:solidFill>
                  <a:srgbClr val="9900FF"/>
                </a:solidFill>
              </a:rPr>
              <a:t> DispatchesJobs</a:t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434343"/>
                </a:solidFill>
              </a:rPr>
              <a:t>За да избегнем двусмислие използваме следния вариант на декларация</a:t>
            </a:r>
            <a:endParaRPr i="1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9900FF"/>
                </a:solidFill>
              </a:rPr>
              <a:t>use Illuminate\Routing\Controller as BaseController; </a:t>
            </a:r>
            <a:endParaRPr i="1">
              <a:solidFill>
                <a:srgbClr val="9900FF"/>
              </a:solidFill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1" lang="en">
                <a:solidFill>
                  <a:srgbClr val="434343"/>
                </a:solidFill>
              </a:rPr>
              <a:t>обръщаме се с </a:t>
            </a:r>
            <a:r>
              <a:rPr i="1" lang="en">
                <a:solidFill>
                  <a:srgbClr val="9900FF"/>
                </a:solidFill>
              </a:rPr>
              <a:t>BaseController</a:t>
            </a:r>
            <a:endParaRPr i="1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Namespace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mespace_traits1.png" id="294" name="Google Shape;2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50" y="308763"/>
            <a:ext cx="49911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717D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Trait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 е създаден с намаренетието да се избегнат някои ограничения вследствие на това, че един клас може да наследява само един клас.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Дава възможност да се преизползват набор от методи в няколко независими един от друг класове, намиращи се в различни йерархии от класове.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Trait прилича на клас, но само дотолкова, че групира няколко метода, превръщайки ги в определена функционалност.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В него няма декларирани свойства.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Не може да създавате обекти от един трейт.</a:t>
            </a:r>
            <a:endParaRPr/>
          </a:p>
        </p:txBody>
      </p:sp>
      <p:sp>
        <p:nvSpPr>
          <p:cNvPr id="305" name="Google Shape;305;p50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Trait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Trait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mespace_traits.png" id="314" name="Google Shape;3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663" y="1282400"/>
            <a:ext cx="40100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mespace_traits1.png" id="315" name="Google Shape;31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013" y="1108075"/>
            <a:ext cx="44862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196F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type="title"/>
          </p:nvPr>
        </p:nvSpPr>
        <p:spPr>
          <a:xfrm>
            <a:off x="311700" y="199905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200">
                <a:solidFill>
                  <a:schemeClr val="lt1"/>
                </a:solidFill>
              </a:rPr>
              <a:t>Документация на Ларавел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https://laravel.com/docs/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При използване на документацията, трябва да посочите за коя версия на Ларавел търсите информация.</a:t>
            </a:r>
            <a:endParaRPr/>
          </a:p>
        </p:txBody>
      </p:sp>
      <p:sp>
        <p:nvSpPr>
          <p:cNvPr id="326" name="Google Shape;326;p53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3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Документация на Ларавел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3A9F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4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Ресурси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ресурси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https://laracasts.com/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Edwin Diaz - PHP with Laravel, Become a master in Laravel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