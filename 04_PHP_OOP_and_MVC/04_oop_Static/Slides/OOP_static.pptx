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Syncopate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3" roundtripDataSignature="AMtx7miBDpSF+mCdGEifuRTz8uw/opQ7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Syncopate-bold.fntdata"/><Relationship Id="rId10" Type="http://schemas.openxmlformats.org/officeDocument/2006/relationships/slide" Target="slides/slide6.xml"/><Relationship Id="rId21" Type="http://schemas.openxmlformats.org/officeDocument/2006/relationships/font" Target="fonts/Syncopate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 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 column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copate"/>
              <a:buNone/>
            </a:pPr>
            <a:r>
              <a:rPr b="1" i="0" lang="en" sz="2400" u="none" cap="none" strike="noStrik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2400"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</a:rPr>
              <a:t>ООП</a:t>
            </a:r>
            <a:r>
              <a:rPr b="1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</a:rPr>
              <a:t>Статични методи и свойства</a:t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b="1" lang="en">
                <a:solidFill>
                  <a:srgbClr val="CCCCCC"/>
                </a:solidFill>
              </a:rPr>
              <a:t>8</a:t>
            </a: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b="1" lang="en">
                <a:solidFill>
                  <a:srgbClr val="CCCCCC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/>
              <a:t>Статични методи и свойства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/>
              <a:t>Константи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/>
              <a:t>Getters, Setters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143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251520" y="6995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" sz="40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Статични свойства</a:t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Свойства, принадлежащи на класа, общи за всички обекти от този клас.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Много често статични са свойствата, съхраняващи връзката към базата данни.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6" name="Google Shape;76;p4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Статични свойства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class redCar {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 sz="1800">
                <a:solidFill>
                  <a:srgbClr val="0000FF"/>
                </a:solidFill>
              </a:rPr>
              <a:t>static</a:t>
            </a:r>
            <a:r>
              <a:rPr lang="en" sz="1800"/>
              <a:t> public color = ‘red’;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sz="1800"/>
              <a:t>}</a:t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Извеждане на екран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echo RedCar</a:t>
            </a:r>
            <a:r>
              <a:rPr b="1" lang="en" sz="1800">
                <a:solidFill>
                  <a:srgbClr val="0000FF"/>
                </a:solidFill>
              </a:rPr>
              <a:t>::</a:t>
            </a:r>
            <a:r>
              <a:rPr lang="en" sz="1800">
                <a:solidFill>
                  <a:srgbClr val="434343"/>
                </a:solidFill>
              </a:rPr>
              <a:t>$</a:t>
            </a:r>
            <a:r>
              <a:rPr lang="en" sz="1800"/>
              <a:t>color;</a:t>
            </a:r>
            <a:endParaRPr sz="1800"/>
          </a:p>
        </p:txBody>
      </p:sp>
      <p:sp>
        <p:nvSpPr>
          <p:cNvPr id="83" name="Google Shape;83;p5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Статични свойства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Обръщане към статичните свойства на класа в самия клас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public function get_static(){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	echo </a:t>
            </a:r>
            <a:r>
              <a:rPr b="1" lang="en">
                <a:solidFill>
                  <a:srgbClr val="0000FF"/>
                </a:solidFill>
              </a:rPr>
              <a:t>self::</a:t>
            </a:r>
            <a:r>
              <a:rPr b="1" lang="en">
                <a:solidFill>
                  <a:srgbClr val="666666"/>
                </a:solidFill>
              </a:rPr>
              <a:t>$</a:t>
            </a:r>
            <a:r>
              <a:rPr lang="en"/>
              <a:t>color;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idx="1" type="body"/>
          </p:nvPr>
        </p:nvSpPr>
        <p:spPr>
          <a:xfrm>
            <a:off x="285175" y="754525"/>
            <a:ext cx="8460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800"/>
              <a:t>Поведение на статичните свойства в класовете наследници </a:t>
            </a:r>
            <a:endParaRPr i="1" sz="18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" name="Google Shape;90;p6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Статични свойства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>
            <p:ph idx="2" type="body"/>
          </p:nvPr>
        </p:nvSpPr>
        <p:spPr>
          <a:xfrm>
            <a:off x="4841250" y="16232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Class Toyota extends RedCar {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static public $color = ‘blue’;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public function get(){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echo </a:t>
            </a:r>
            <a:r>
              <a:rPr b="1" lang="en">
                <a:solidFill>
                  <a:srgbClr val="0000FF"/>
                </a:solidFill>
              </a:rPr>
              <a:t>static::$</a:t>
            </a:r>
            <a:r>
              <a:rPr lang="en"/>
              <a:t>color;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$toyota = new Toyota();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$toyota = get_static();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$toyota = get();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285175" y="16232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Class Toyota extends RedCar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static public $color = ‘blue’;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public function get(){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echo </a:t>
            </a:r>
            <a:r>
              <a:rPr b="1" lang="en">
                <a:solidFill>
                  <a:srgbClr val="0000FF"/>
                </a:solidFill>
              </a:rPr>
              <a:t>self::</a:t>
            </a:r>
            <a:r>
              <a:rPr b="1" lang="en">
                <a:solidFill>
                  <a:srgbClr val="666666"/>
                </a:solidFill>
              </a:rPr>
              <a:t>$</a:t>
            </a:r>
            <a:r>
              <a:rPr lang="en"/>
              <a:t>color;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$toyota = new Toyota();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$toyota = get_static();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$toyota = get();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4E29AA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251520" y="6995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Статични методи</a:t>
            </a:r>
            <a:endParaRPr b="1" sz="4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4E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Статични методи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 txBox="1"/>
          <p:nvPr>
            <p:ph idx="2" type="body"/>
          </p:nvPr>
        </p:nvSpPr>
        <p:spPr>
          <a:xfrm>
            <a:off x="4841250" y="1989850"/>
            <a:ext cx="3999900" cy="30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Извикваме ги -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b="1" lang="en">
                <a:solidFill>
                  <a:srgbClr val="20124D"/>
                </a:solidFill>
              </a:rPr>
              <a:t>String::st_method();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104" name="Google Shape;104;p8"/>
          <p:cNvSpPr txBox="1"/>
          <p:nvPr>
            <p:ph idx="1" type="body"/>
          </p:nvPr>
        </p:nvSpPr>
        <p:spPr>
          <a:xfrm>
            <a:off x="285175" y="1913550"/>
            <a:ext cx="3999900" cy="30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class String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static public $str = ‘hello’;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static public fucntion st_method()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	echo </a:t>
            </a:r>
            <a:r>
              <a:rPr b="1" lang="en">
                <a:solidFill>
                  <a:srgbClr val="20124D"/>
                </a:solidFill>
              </a:rPr>
              <a:t>self::$str</a:t>
            </a:r>
            <a:r>
              <a:rPr lang="en"/>
              <a:t>;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/>
              <a:t>}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285175" y="807600"/>
            <a:ext cx="8460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800"/>
              <a:t>Методи, принадлежащи на класа, общи за всички обекти от този клас.</a:t>
            </a:r>
            <a:endParaRPr i="1" sz="18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800"/>
              <a:t>Работят само със статични свойства</a:t>
            </a:r>
            <a:endParaRPr i="1"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	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00D2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251520" y="6995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 Static Binding</a:t>
            </a:r>
            <a:endParaRPr b="1" sz="4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00D2E9"/>
              </a:gs>
              <a:gs pos="100000">
                <a:srgbClr val="045962"/>
              </a:gs>
            </a:gsLst>
            <a:lin ang="5400012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 Static Binding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 txBox="1"/>
          <p:nvPr>
            <p:ph idx="2" type="body"/>
          </p:nvPr>
        </p:nvSpPr>
        <p:spPr>
          <a:xfrm>
            <a:off x="4823375" y="1035850"/>
            <a:ext cx="3999900" cy="3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B extends A {</a:t>
            </a:r>
            <a:br>
              <a:rPr lang="en"/>
            </a:br>
            <a:r>
              <a:rPr lang="en"/>
              <a:t>    </a:t>
            </a:r>
            <a:r>
              <a:rPr lang="en">
                <a:solidFill>
                  <a:schemeClr val="accent5"/>
                </a:solidFill>
              </a:rPr>
              <a:t>static public $name = "B";</a:t>
            </a:r>
            <a:br>
              <a:rPr lang="en"/>
            </a:br>
            <a:r>
              <a:rPr lang="en"/>
              <a:t>}</a:t>
            </a:r>
            <a:br>
              <a:rPr lang="en"/>
            </a:br>
            <a:endParaRPr b="1">
              <a:solidFill>
                <a:srgbClr val="20124D"/>
              </a:solidFill>
            </a:endParaRPr>
          </a:p>
        </p:txBody>
      </p:sp>
      <p:sp>
        <p:nvSpPr>
          <p:cNvPr id="117" name="Google Shape;117;p10"/>
          <p:cNvSpPr txBox="1"/>
          <p:nvPr>
            <p:ph idx="1" type="body"/>
          </p:nvPr>
        </p:nvSpPr>
        <p:spPr>
          <a:xfrm>
            <a:off x="285175" y="964400"/>
            <a:ext cx="3999900" cy="3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class A {</a:t>
            </a:r>
            <a:br>
              <a:rPr lang="en"/>
            </a:br>
            <a:r>
              <a:rPr lang="en"/>
              <a:t>    </a:t>
            </a:r>
            <a:r>
              <a:rPr lang="en">
                <a:solidFill>
                  <a:schemeClr val="accent5"/>
                </a:solidFill>
              </a:rPr>
              <a:t>static public $name = "A";</a:t>
            </a:r>
            <a:br>
              <a:rPr lang="en">
                <a:solidFill>
                  <a:schemeClr val="accent5"/>
                </a:solidFill>
              </a:rPr>
            </a:br>
            <a:br>
              <a:rPr lang="en"/>
            </a:br>
            <a:r>
              <a:rPr lang="en"/>
              <a:t>    static public function getName () {</a:t>
            </a:r>
            <a:br>
              <a:rPr lang="en"/>
            </a:br>
            <a:r>
              <a:rPr lang="en"/>
              <a:t>        return </a:t>
            </a:r>
            <a:r>
              <a:rPr lang="en">
                <a:solidFill>
                  <a:schemeClr val="accent5"/>
                </a:solidFill>
              </a:rPr>
              <a:t>self::$name</a:t>
            </a:r>
            <a:r>
              <a:rPr lang="en"/>
              <a:t>;</a:t>
            </a:r>
            <a:br>
              <a:rPr lang="en"/>
            </a:br>
            <a:r>
              <a:rPr lang="en"/>
              <a:t>    }</a:t>
            </a:r>
            <a:br>
              <a:rPr lang="en"/>
            </a:br>
            <a:br>
              <a:rPr lang="en"/>
            </a:br>
            <a:r>
              <a:rPr lang="en"/>
              <a:t>    </a:t>
            </a:r>
            <a:r>
              <a:rPr lang="en" sz="1200"/>
              <a:t>static public function getNameLateStaticBinding () </a:t>
            </a:r>
            <a:r>
              <a:rPr lang="en"/>
              <a:t>{</a:t>
            </a:r>
            <a:br>
              <a:rPr lang="en"/>
            </a:br>
            <a:r>
              <a:rPr lang="en"/>
              <a:t>        return </a:t>
            </a:r>
            <a:r>
              <a:rPr b="1" lang="en">
                <a:solidFill>
                  <a:srgbClr val="FF0000"/>
                </a:solidFill>
              </a:rPr>
              <a:t>static::$name</a:t>
            </a:r>
            <a:r>
              <a:rPr lang="en"/>
              <a:t>;</a:t>
            </a:r>
            <a:br>
              <a:rPr lang="en"/>
            </a:br>
            <a:r>
              <a:rPr lang="en"/>
              <a:t>    }</a:t>
            </a:r>
            <a:br>
              <a:rPr lang="en"/>
            </a:br>
            <a:r>
              <a:rPr lang="en"/>
              <a:t>}</a:t>
            </a: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00D2E9"/>
              </a:gs>
              <a:gs pos="100000">
                <a:srgbClr val="045962"/>
              </a:gs>
            </a:gsLst>
            <a:lin ang="5400012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 Static Binding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 txBox="1"/>
          <p:nvPr>
            <p:ph idx="2" type="body"/>
          </p:nvPr>
        </p:nvSpPr>
        <p:spPr>
          <a:xfrm>
            <a:off x="4823375" y="1035850"/>
            <a:ext cx="3999900" cy="3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B::getName() извежда стойността на променливата $name от класа A, тъй като </a:t>
            </a:r>
            <a:r>
              <a:rPr b="1" lang="en">
                <a:solidFill>
                  <a:schemeClr val="accent5"/>
                </a:solidFill>
              </a:rPr>
              <a:t>self</a:t>
            </a:r>
            <a:r>
              <a:rPr lang="en"/>
              <a:t> сочи към класа, в който е дефиниран съответния метод.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За да изведем стойността на променливата за текущия клас, за който я извикваме, използваме </a:t>
            </a:r>
            <a:r>
              <a:rPr b="1" lang="en">
                <a:solidFill>
                  <a:srgbClr val="FF0000"/>
                </a:solidFill>
              </a:rPr>
              <a:t>static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124" name="Google Shape;124;p11"/>
          <p:cNvSpPr txBox="1"/>
          <p:nvPr>
            <p:ph idx="1" type="body"/>
          </p:nvPr>
        </p:nvSpPr>
        <p:spPr>
          <a:xfrm>
            <a:off x="285175" y="964400"/>
            <a:ext cx="3999900" cy="3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// Output: A</a:t>
            </a:r>
            <a:br>
              <a:rPr lang="en"/>
            </a:br>
            <a:r>
              <a:rPr lang="en"/>
              <a:t>echo A::getName();</a:t>
            </a:r>
            <a:br>
              <a:rPr lang="en"/>
            </a:br>
            <a:br>
              <a:rPr lang="en"/>
            </a:br>
            <a:r>
              <a:rPr lang="en"/>
              <a:t>// Output: A</a:t>
            </a:r>
            <a:br>
              <a:rPr lang="en"/>
            </a:br>
            <a:r>
              <a:rPr lang="en"/>
              <a:t>echo B::getName();</a:t>
            </a:r>
            <a:br>
              <a:rPr lang="en"/>
            </a:br>
            <a:br>
              <a:rPr lang="en"/>
            </a:br>
            <a:r>
              <a:rPr lang="en"/>
              <a:t>// Output: B</a:t>
            </a:r>
            <a:br>
              <a:rPr lang="en"/>
            </a:br>
            <a:r>
              <a:rPr lang="en"/>
              <a:t>echo B::getNameLateStaticBinding();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206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title"/>
          </p:nvPr>
        </p:nvSpPr>
        <p:spPr>
          <a:xfrm>
            <a:off x="251520" y="699542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" sz="40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Константи</a:t>
            </a:r>
            <a:endParaRPr b="1" sz="4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Константите са постоянни величини, които дефинираме в началото на скрипта.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Не ги променяме, а само ги извикваме.</a:t>
            </a:r>
            <a:endParaRPr sz="1800"/>
          </a:p>
        </p:txBody>
      </p:sp>
      <p:sp>
        <p:nvSpPr>
          <p:cNvPr id="135" name="Google Shape;135;p13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Константи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Как ги дефинираме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Процедурно програмиране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 sz="1800">
                <a:solidFill>
                  <a:srgbClr val="002060"/>
                </a:solidFill>
              </a:rPr>
              <a:t>define(‘PAGE’, ‘index’);</a:t>
            </a:r>
            <a:endParaRPr b="1" sz="1800">
              <a:solidFill>
                <a:srgbClr val="00206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Прието е имената им да се изписват изцяло с главни букви</a:t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В ООП имаме възможност да работим с константа/и на класа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Как ги дефинираме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class Page {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1800">
                <a:solidFill>
                  <a:srgbClr val="002060"/>
                </a:solidFill>
              </a:rPr>
              <a:t>const NUMBER = 1;</a:t>
            </a:r>
            <a:endParaRPr b="1" sz="1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}</a:t>
            </a:r>
            <a:endParaRPr b="1" sz="1800">
              <a:solidFill>
                <a:srgbClr val="002060"/>
              </a:solidFill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Константи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Отпечатайте константата NUMBER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NUMBER е константа на класа, не на отделния обект от този клас.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002060"/>
                </a:solidFill>
              </a:rPr>
              <a:t>Page::NUMBER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Или в класа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public get_const()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echo </a:t>
            </a:r>
            <a:r>
              <a:rPr b="1" lang="en">
                <a:solidFill>
                  <a:srgbClr val="002060"/>
                </a:solidFill>
              </a:rPr>
              <a:t>self::</a:t>
            </a:r>
            <a:r>
              <a:rPr lang="en"/>
              <a:t>NUMBER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Константата е видима и в класовете наследници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9" name="Google Shape;149;p15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Константи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Class Index extends Page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	public function __construct(){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	echo </a:t>
            </a:r>
            <a:r>
              <a:rPr b="1" lang="en">
                <a:solidFill>
                  <a:srgbClr val="002060"/>
                </a:solidFill>
              </a:rPr>
              <a:t>self::</a:t>
            </a:r>
            <a:r>
              <a:rPr lang="en"/>
              <a:t>PAGE;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$index = new Index();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/>
              <a:t>//вижте резултата в браузъра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800"/>
              <a:t>приложение</a:t>
            </a:r>
            <a:endParaRPr sz="1800"/>
          </a:p>
        </p:txBody>
      </p:sp>
      <p:sp>
        <p:nvSpPr>
          <p:cNvPr id="156" name="Google Shape;156;p16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Константи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Постоянни стрингове, които трябва да извеждаме на екрана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Настройки, включително и нужните за базата данни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HOST =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	DATABASE =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/>
              <a:t>	PASSWORD =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