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41"/>
      <p:bold r:id="rId42"/>
      <p:italic r:id="rId43"/>
      <p:boldItalic r:id="rId44"/>
    </p:embeddedFont>
    <p:embeddedFont>
      <p:font typeface="Syncopate" panose="020B0604020202020204" charset="0"/>
      <p:regular r:id="rId45"/>
      <p:bold r:id="rId4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6" d="100"/>
          <a:sy n="116" d="100"/>
        </p:scale>
        <p:origin x="-413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2.fntdata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3.fntdata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5541096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f3ce79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" name="Google Shape;68;g24f3ce79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fdf110cc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g1fdf110cc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170dcaa8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4" name="Google Shape;94;g25170dcaa8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fdf110cc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g1fdf110cc2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25170dcaa8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g25170dcaa8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fdf110cc2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g1fdf110cc2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5170dcaa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g25170dcaa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5170dcaa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g25170dcaa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170dcaa8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6" name="Google Shape;136;g25170dcaa8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52768be7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252768be7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52768be7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g252768be7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5170dcaa8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g25170dcaa8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4" name="Google Shape;164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52768be7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252768be7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67707bd0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9" name="Google Shape;189;g267707bd0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5170dcaa8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g25170dcaa8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25170dcaa8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25170dcaa8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67707bd0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3" name="Google Shape;213;g267707bd0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67707bd0e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267707bd0e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4" name="Google Shape;2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1" name="Google Shape;24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6" name="Google Shape;246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25170dcaa8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25170dcaa8_0_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0" name="Google Shape;260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cc6c128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8" name="Google Shape;278;g24cc6c128e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267707bd0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7" name="Google Shape;287;g267707bd0e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235dedec7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235dedec7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5170dcaa8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25170dcaa8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267707bd0e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g267707bd0e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99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8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7999" cy="755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7999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499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199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199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599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599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699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requests#accessing-the-reques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requests#retrieving-input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blade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aravel.com/docs/6.x/requests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6.x/validation#available-validation-rule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validation#quick-displaying-the-validation-errors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laravel.com/docs/5.4/validation#working-with-error-messages" TargetMode="External"/><Relationship Id="rId4" Type="http://schemas.openxmlformats.org/officeDocument/2006/relationships/hyperlink" Target="https://laravel.com/docs/5.4/session#flash-data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6.x/validation#working-with-error-messages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session#using-the-session" TargetMode="Externa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laravel.com/docs/5.4/container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-24225" y="2850900"/>
            <a:ext cx="9168299" cy="22925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599" cy="20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Syncopate"/>
              <a:buNone/>
            </a:pPr>
            <a:r>
              <a:rPr lang="en" sz="3600" b="1" i="0" u="none" strike="noStrike" cap="none">
                <a:solidFill>
                  <a:srgbClr val="8BC34A"/>
                </a:solidFill>
                <a:latin typeface="Syncopate"/>
                <a:ea typeface="Syncopate"/>
                <a:cs typeface="Syncopate"/>
                <a:sym typeface="Syncopate"/>
              </a:rPr>
              <a:t>web разработка</a:t>
            </a:r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599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Requests</a:t>
            </a:r>
            <a:endParaRPr sz="3600" b="1">
              <a:solidFill>
                <a:srgbClr val="FFFFFF"/>
              </a:solidFill>
            </a:endParaRPr>
          </a:p>
        </p:txBody>
      </p:sp>
      <p:pic>
        <p:nvPicPr>
          <p:cNvPr id="57" name="Google Shape;57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1362" y="497376"/>
            <a:ext cx="2981277" cy="1249626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-60750" y="4860300"/>
            <a:ext cx="9265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Font typeface="Arial"/>
              <a:buNone/>
            </a:pP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Милена Томова - НПО ВРАЦА СОФТУЕР ОБЩЕСТВО - КУРС Уеб Разработка- 11.201</a:t>
            </a:r>
            <a:r>
              <a:rPr lang="en" b="1">
                <a:solidFill>
                  <a:srgbClr val="CCCCCC"/>
                </a:solidFill>
              </a:rPr>
              <a:t>8</a:t>
            </a:r>
            <a:r>
              <a:rPr lang="en" sz="1400" b="1" i="0" u="none" strike="noStrike" cap="none">
                <a:solidFill>
                  <a:srgbClr val="CCCCCC"/>
                </a:solidFill>
                <a:latin typeface="Arial"/>
                <a:ea typeface="Arial"/>
                <a:cs typeface="Arial"/>
                <a:sym typeface="Arial"/>
              </a:rPr>
              <a:t> - ВЕРСИЯ </a:t>
            </a:r>
            <a:r>
              <a:rPr lang="en" b="1">
                <a:solidFill>
                  <a:srgbClr val="CCCCCC"/>
                </a:solidFill>
              </a:rPr>
              <a:t>6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Requests 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Валидация на данни в контролера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Custom Requests 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Еrror messages /съобщения след неуспешна валидация на формите/</a:t>
            </a:r>
            <a:endParaRPr sz="1400"/>
          </a:p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Custom Error Messages </a:t>
            </a:r>
            <a:endParaRPr sz="140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Laravel Session - success messages /съобщения след успешна валидация на формите/</a:t>
            </a:r>
            <a:endParaRPr sz="1400"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8BC3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Съдържание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Направете валидация на данните постъпващи от потребителите във всички форми на вашето приложение  /за създаване и промяна на данните/.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****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 Изведете съобщения за грешка/ки при валидация.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****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 Изведете съобщения за успешно създаване/промяна/изтриване на данни.</a:t>
            </a:r>
            <a:endParaRPr/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marL="457200" marR="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741B4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Задача 1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1E63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Requests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434343"/>
                </a:solidFill>
              </a:rPr>
              <a:t>Достъп до данните, прехвърляни със текущата заявка</a:t>
            </a:r>
            <a:endParaRPr sz="1200" b="1" u="sng">
              <a:solidFill>
                <a:srgbClr val="434343"/>
              </a:solidFill>
              <a:hlinkClick r:id="rId3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434343"/>
                </a:solidFill>
              </a:rPr>
              <a:t>Имаме директен достъп до инстанция на текущата заявка - данните, които се прехвърлят с нея.</a:t>
            </a:r>
            <a:br>
              <a:rPr lang="en" sz="1200">
                <a:solidFill>
                  <a:srgbClr val="434343"/>
                </a:solidFill>
              </a:rPr>
            </a:br>
            <a:r>
              <a:rPr lang="en" sz="1200">
                <a:solidFill>
                  <a:srgbClr val="434343"/>
                </a:solidFill>
              </a:rPr>
              <a:t>За целта като параметър на метода посочваме $request, който трябва да бъде инстанция на  Illuminate\Http\Request клас /т.нар. dependency injection и type-hint/. </a:t>
            </a: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</a:endParaRPr>
          </a:p>
        </p:txBody>
      </p:sp>
      <p:sp>
        <p:nvSpPr>
          <p:cNvPr id="83" name="Google Shape;83;p17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</a:rPr>
              <a:t>&lt;?php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/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namespace App\Http\Controllers;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/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rgbClr val="E91E63"/>
                </a:solidFill>
              </a:rPr>
              <a:t>use Illuminate\Http\Request;</a:t>
            </a:r>
            <a:br>
              <a:rPr lang="en" sz="1000">
                <a:solidFill>
                  <a:srgbClr val="E91E63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/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class UserController extends Controller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{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/**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 * Store a new user.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 *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 * @param  Request  $request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 * @return Response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 */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public function store(</a:t>
            </a:r>
            <a:r>
              <a:rPr lang="en" sz="1000" b="1">
                <a:solidFill>
                  <a:srgbClr val="E91E63"/>
                </a:solidFill>
              </a:rPr>
              <a:t>Request $request</a:t>
            </a:r>
            <a:r>
              <a:rPr lang="en" sz="1000">
                <a:solidFill>
                  <a:schemeClr val="dk1"/>
                </a:solidFill>
              </a:rPr>
              <a:t>)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{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    $name = $request-&gt;input('name');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/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   //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   }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}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/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</a:endParaRPr>
          </a:p>
        </p:txBody>
      </p:sp>
      <p:sp>
        <p:nvSpPr>
          <p:cNvPr id="90" name="Google Shape;90;p1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dk1"/>
                </a:solidFill>
              </a:rPr>
              <a:t>Dependency Injection &amp; Route Parameters</a:t>
            </a:r>
            <a:endParaRPr sz="12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Ако методът  в контролера очаква данни посредством параметър, подаван с route, изброявате тези параметри след другите зависимости</a:t>
            </a: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Ако пътят ви е дефиниран като 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Route::put('user/</a:t>
            </a:r>
            <a:r>
              <a:rPr lang="en" sz="1200" b="1">
                <a:solidFill>
                  <a:srgbClr val="E91E63"/>
                </a:solidFill>
              </a:rPr>
              <a:t>{id}</a:t>
            </a:r>
            <a:r>
              <a:rPr lang="en" sz="1200">
                <a:solidFill>
                  <a:schemeClr val="dk1"/>
                </a:solidFill>
              </a:rPr>
              <a:t>', 'UserController@update');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В контролера и съответния метод ги посочвате  -</a:t>
            </a: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 public function update(Request $request, </a:t>
            </a:r>
            <a:r>
              <a:rPr lang="en" sz="1200" b="1">
                <a:solidFill>
                  <a:srgbClr val="E91E63"/>
                </a:solidFill>
              </a:rPr>
              <a:t>$id</a:t>
            </a:r>
            <a:r>
              <a:rPr lang="en" sz="1200">
                <a:solidFill>
                  <a:schemeClr val="dk1"/>
                </a:solidFill>
              </a:rPr>
              <a:t>)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   	{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     		 //</a:t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   	 }</a:t>
            </a:r>
            <a:br>
              <a:rPr lang="en" sz="1200">
                <a:solidFill>
                  <a:schemeClr val="dk1"/>
                </a:solidFill>
              </a:rPr>
            </a:br>
            <a:endParaRPr sz="1200" b="1">
              <a:solidFill>
                <a:schemeClr val="dk1"/>
              </a:solidFill>
            </a:endParaRPr>
          </a:p>
        </p:txBody>
      </p:sp>
      <p:sp>
        <p:nvSpPr>
          <p:cNvPr id="97" name="Google Shape;97;p1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Достъп до URL на заявката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Пълния URL на постъпващата заявка достъпваме с методите </a:t>
            </a:r>
            <a:r>
              <a:rPr lang="en" sz="1100">
                <a:solidFill>
                  <a:srgbClr val="E91E63"/>
                </a:solidFill>
              </a:rPr>
              <a:t>url </a:t>
            </a:r>
            <a:r>
              <a:rPr lang="en" sz="1100">
                <a:solidFill>
                  <a:srgbClr val="434343"/>
                </a:solidFill>
              </a:rPr>
              <a:t>или</a:t>
            </a:r>
            <a:r>
              <a:rPr lang="en" sz="1100">
                <a:solidFill>
                  <a:srgbClr val="E91E63"/>
                </a:solidFill>
              </a:rPr>
              <a:t> fullUrl.</a:t>
            </a:r>
            <a:endParaRPr sz="1100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// Without Query String...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rgbClr val="E91E63"/>
                </a:solidFill>
              </a:rPr>
              <a:t>$url = $request-&gt;url();</a:t>
            </a: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// With Query String...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rgbClr val="E91E63"/>
                </a:solidFill>
              </a:rPr>
              <a:t>$url = $request-&gt;fullUrl();</a:t>
            </a:r>
            <a:endParaRPr sz="1100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04" name="Google Shape;104;p2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Достъп до метода на постъпващата заявка</a:t>
            </a:r>
            <a:endParaRPr sz="1100" b="1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$method = </a:t>
            </a:r>
            <a:r>
              <a:rPr lang="en" sz="1100">
                <a:solidFill>
                  <a:srgbClr val="E91E63"/>
                </a:solidFill>
              </a:rPr>
              <a:t>$request-&gt;method()</a:t>
            </a:r>
            <a:r>
              <a:rPr lang="en" sz="1100">
                <a:solidFill>
                  <a:schemeClr val="dk1"/>
                </a:solidFill>
              </a:rPr>
              <a:t>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if ($request-</a:t>
            </a:r>
            <a:r>
              <a:rPr lang="en" sz="1100">
                <a:solidFill>
                  <a:srgbClr val="E91E63"/>
                </a:solidFill>
              </a:rPr>
              <a:t>&gt;isMethod('post'</a:t>
            </a:r>
            <a:r>
              <a:rPr lang="en" sz="1100">
                <a:solidFill>
                  <a:schemeClr val="dk1"/>
                </a:solidFill>
              </a:rPr>
              <a:t>)) {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//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}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11" name="Google Shape;111;p2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Достъп до uri на текущата заявка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E91E63"/>
                </a:solidFill>
              </a:rPr>
              <a:t>path()</a:t>
            </a:r>
            <a:r>
              <a:rPr lang="en" sz="1100">
                <a:solidFill>
                  <a:schemeClr val="dk1"/>
                </a:solidFill>
              </a:rPr>
              <a:t> - връща информация за пътя/uri на текущата заявка.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Ако постъпващата заявка е към </a:t>
            </a:r>
            <a:r>
              <a:rPr lang="en" sz="1100">
                <a:solidFill>
                  <a:srgbClr val="E91E63"/>
                </a:solidFill>
              </a:rPr>
              <a:t>http://domain.com/foo/bar</a:t>
            </a:r>
            <a:r>
              <a:rPr lang="en" sz="1100">
                <a:solidFill>
                  <a:schemeClr val="dk1"/>
                </a:solidFill>
              </a:rPr>
              <a:t>, методът ще върне </a:t>
            </a:r>
            <a:r>
              <a:rPr lang="en" sz="1100">
                <a:solidFill>
                  <a:srgbClr val="E91E63"/>
                </a:solidFill>
              </a:rPr>
              <a:t>foo/bar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$uri = $request-&gt;path();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Предназначение - напр. Проверка дали пътя съответства на даден шаблон, за добавяне на клас, допълнителна логика …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91E63"/>
                </a:solidFill>
              </a:rPr>
              <a:t>is() </a:t>
            </a:r>
            <a:r>
              <a:rPr lang="en" sz="1100">
                <a:solidFill>
                  <a:schemeClr val="dk1"/>
                </a:solidFill>
              </a:rPr>
              <a:t> методът прави проверката.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Методът ви дава възможност да проверите дали пътя на постъпващата заявка отговаря на даден шаблон.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Може да иползвате и * в построяването на шаблона.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E91E63"/>
                </a:solidFill>
              </a:rPr>
              <a:t>if ($request-&gt;is('admin/*'))</a:t>
            </a:r>
            <a:r>
              <a:rPr lang="en" sz="1100">
                <a:solidFill>
                  <a:srgbClr val="434343"/>
                </a:solidFill>
              </a:rPr>
              <a:t> </a:t>
            </a:r>
            <a:endParaRPr sz="11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{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//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}</a:t>
            </a:r>
            <a:endParaRPr sz="11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18" name="Google Shape;118;p2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700" b="1">
                <a:solidFill>
                  <a:srgbClr val="434343"/>
                </a:solidFill>
              </a:rPr>
              <a:t>Достъп до въведените от потребителя данни</a:t>
            </a:r>
            <a:endParaRPr sz="1700" b="1" u="sng">
              <a:solidFill>
                <a:srgbClr val="434343"/>
              </a:solidFill>
              <a:hlinkClick r:id="rId3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434343"/>
                </a:solidFill>
              </a:rPr>
              <a:t>Всички данни - методът връща данните под формата на масив</a:t>
            </a:r>
            <a:endParaRPr sz="1100" b="1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$input = $request-&gt;</a:t>
            </a:r>
            <a:r>
              <a:rPr lang="en" sz="1100" b="1">
                <a:solidFill>
                  <a:srgbClr val="E91E63"/>
                </a:solidFill>
              </a:rPr>
              <a:t>all()</a:t>
            </a:r>
            <a:r>
              <a:rPr lang="en" sz="1100">
                <a:solidFill>
                  <a:schemeClr val="dk1"/>
                </a:solidFill>
              </a:rPr>
              <a:t>;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434343"/>
                </a:solidFill>
              </a:rPr>
              <a:t>Достъп до въведена стойност</a:t>
            </a:r>
            <a:endParaRPr sz="1100" b="1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$name = $request-&gt;</a:t>
            </a:r>
            <a:r>
              <a:rPr lang="en" sz="1100" b="1">
                <a:solidFill>
                  <a:srgbClr val="E91E63"/>
                </a:solidFill>
              </a:rPr>
              <a:t>input('name')</a:t>
            </a:r>
            <a:r>
              <a:rPr lang="en" sz="1100">
                <a:solidFill>
                  <a:schemeClr val="dk1"/>
                </a:solidFill>
              </a:rPr>
              <a:t>;//връща стойността, въведена в полето ‘name’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125" name="Google Shape;125;p2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434343"/>
                </a:solidFill>
              </a:rPr>
              <a:t>Достъп до част от въведените данни - only / except</a:t>
            </a:r>
            <a:endParaRPr sz="1100" b="1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$input = $request -</a:t>
            </a:r>
            <a:r>
              <a:rPr lang="en" sz="1100" b="1">
                <a:solidFill>
                  <a:srgbClr val="434343"/>
                </a:solidFill>
              </a:rPr>
              <a:t>&gt;</a:t>
            </a:r>
            <a:r>
              <a:rPr lang="en" sz="1100" b="1">
                <a:solidFill>
                  <a:srgbClr val="E91E63"/>
                </a:solidFill>
              </a:rPr>
              <a:t>only</a:t>
            </a:r>
            <a:r>
              <a:rPr lang="en" sz="1100">
                <a:solidFill>
                  <a:srgbClr val="434343"/>
                </a:solidFill>
              </a:rPr>
              <a:t>(['username', 'password']);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/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$input = $request-</a:t>
            </a:r>
            <a:r>
              <a:rPr lang="en" sz="1100" b="1">
                <a:solidFill>
                  <a:srgbClr val="434343"/>
                </a:solidFill>
              </a:rPr>
              <a:t>&gt;</a:t>
            </a:r>
            <a:r>
              <a:rPr lang="en" sz="1100" b="1">
                <a:solidFill>
                  <a:srgbClr val="E91E63"/>
                </a:solidFill>
              </a:rPr>
              <a:t>only</a:t>
            </a:r>
            <a:r>
              <a:rPr lang="en" sz="1100">
                <a:solidFill>
                  <a:srgbClr val="434343"/>
                </a:solidFill>
              </a:rPr>
              <a:t>('username', 'password');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/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$input = $request-</a:t>
            </a:r>
            <a:r>
              <a:rPr lang="en" sz="1100" b="1">
                <a:solidFill>
                  <a:srgbClr val="434343"/>
                </a:solidFill>
              </a:rPr>
              <a:t>&gt;</a:t>
            </a:r>
            <a:r>
              <a:rPr lang="en" sz="1100" b="1">
                <a:solidFill>
                  <a:srgbClr val="E91E63"/>
                </a:solidFill>
              </a:rPr>
              <a:t>except</a:t>
            </a:r>
            <a:r>
              <a:rPr lang="en" sz="1100">
                <a:solidFill>
                  <a:srgbClr val="434343"/>
                </a:solidFill>
              </a:rPr>
              <a:t>(['credit_card']);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/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$input = $request-</a:t>
            </a:r>
            <a:r>
              <a:rPr lang="en" sz="1100" b="1">
                <a:solidFill>
                  <a:srgbClr val="434343"/>
                </a:solidFill>
              </a:rPr>
              <a:t>&gt;</a:t>
            </a:r>
            <a:r>
              <a:rPr lang="en" sz="1100" b="1">
                <a:solidFill>
                  <a:srgbClr val="E91E63"/>
                </a:solidFill>
              </a:rPr>
              <a:t>except</a:t>
            </a:r>
            <a:r>
              <a:rPr lang="en" sz="1100">
                <a:solidFill>
                  <a:schemeClr val="dk1"/>
                </a:solidFill>
              </a:rPr>
              <a:t>('credit_card');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434343"/>
                </a:solidFill>
              </a:rPr>
              <a:t>Определяне дали съществува въведена стойност - has()</a:t>
            </a:r>
            <a:endParaRPr sz="1100" b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Методът връща true ако има въведена стойност и тя не е празен стринг.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if ($request-</a:t>
            </a:r>
            <a:r>
              <a:rPr lang="en" sz="1100" b="1">
                <a:solidFill>
                  <a:srgbClr val="434343"/>
                </a:solidFill>
              </a:rPr>
              <a:t>&gt;</a:t>
            </a:r>
            <a:r>
              <a:rPr lang="en" sz="1100" b="1">
                <a:solidFill>
                  <a:srgbClr val="E91E63"/>
                </a:solidFill>
              </a:rPr>
              <a:t>has('name')</a:t>
            </a:r>
            <a:r>
              <a:rPr lang="en" sz="1100">
                <a:solidFill>
                  <a:srgbClr val="434343"/>
                </a:solidFill>
              </a:rPr>
              <a:t>) {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//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}</a:t>
            </a:r>
            <a:endParaRPr sz="11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Ако е подаден масив - методът ще провери дали всички негови стойности отговарят на горното условие</a:t>
            </a:r>
            <a:endParaRPr sz="11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if ($request-</a:t>
            </a:r>
            <a:r>
              <a:rPr lang="en" sz="1100" b="1">
                <a:solidFill>
                  <a:srgbClr val="434343"/>
                </a:solidFill>
              </a:rPr>
              <a:t>&gt;</a:t>
            </a:r>
            <a:r>
              <a:rPr lang="en" sz="1100" b="1">
                <a:solidFill>
                  <a:srgbClr val="E91E63"/>
                </a:solidFill>
              </a:rPr>
              <a:t>has(['name', 'email'])</a:t>
            </a:r>
            <a:r>
              <a:rPr lang="en" sz="1100">
                <a:solidFill>
                  <a:srgbClr val="434343"/>
                </a:solidFill>
              </a:rPr>
              <a:t>) {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//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}</a:t>
            </a:r>
            <a:endParaRPr sz="11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1">
              <a:solidFill>
                <a:schemeClr val="dk1"/>
              </a:solidFill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chemeClr val="dk1"/>
                </a:solidFill>
              </a:rPr>
              <a:t>flash()</a:t>
            </a:r>
            <a:endParaRPr sz="11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Методът запазва въведените данни в сесията, с цел да бъдат използвани при следващата заявка на потребителя /след това се изтриват/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E91E63"/>
                </a:solidFill>
              </a:rPr>
              <a:t>$request-&gt;flash();</a:t>
            </a:r>
            <a:endParaRPr sz="1100" b="1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С </a:t>
            </a:r>
            <a:r>
              <a:rPr lang="en" sz="1100" b="1">
                <a:solidFill>
                  <a:srgbClr val="E91E63"/>
                </a:solidFill>
              </a:rPr>
              <a:t>flashOnly()</a:t>
            </a:r>
            <a:r>
              <a:rPr lang="en" sz="1100">
                <a:solidFill>
                  <a:schemeClr val="dk1"/>
                </a:solidFill>
              </a:rPr>
              <a:t> и </a:t>
            </a:r>
            <a:r>
              <a:rPr lang="en" sz="1100" b="1">
                <a:solidFill>
                  <a:srgbClr val="E91E63"/>
                </a:solidFill>
              </a:rPr>
              <a:t>flashExcept()</a:t>
            </a:r>
            <a:r>
              <a:rPr lang="en" sz="1100">
                <a:solidFill>
                  <a:schemeClr val="dk1"/>
                </a:solidFill>
              </a:rPr>
              <a:t> запазвате част от данните в сесията.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С тях можете да изключите например паролата от запазване в сесията.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$request-&gt;</a:t>
            </a:r>
            <a:r>
              <a:rPr lang="en" sz="1100" b="1">
                <a:solidFill>
                  <a:srgbClr val="E91E63"/>
                </a:solidFill>
              </a:rPr>
              <a:t>flashOnly(['username', 'email']);</a:t>
            </a:r>
            <a:br>
              <a:rPr lang="en" sz="1100" b="1">
                <a:solidFill>
                  <a:srgbClr val="E91E63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$request-</a:t>
            </a:r>
            <a:r>
              <a:rPr lang="en" sz="1100" b="1">
                <a:solidFill>
                  <a:srgbClr val="E91E63"/>
                </a:solidFill>
              </a:rPr>
              <a:t>&gt;flashExcept('password');</a:t>
            </a:r>
            <a:endParaRPr sz="1100" b="1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434343"/>
                </a:solidFill>
              </a:rPr>
              <a:t>Запазване на данните до следващата заявка и пренасочване - </a:t>
            </a:r>
            <a:r>
              <a:rPr lang="en" sz="1100" b="1">
                <a:solidFill>
                  <a:srgbClr val="E91E63"/>
                </a:solidFill>
              </a:rPr>
              <a:t>redirect()-&gt;withInput()</a:t>
            </a:r>
            <a:endParaRPr sz="1100" b="1">
              <a:solidFill>
                <a:srgbClr val="E91E63"/>
              </a:solidFill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return redirect('form')-&gt;withInput(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$request-&gt;except('password')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);</a:t>
            </a:r>
            <a:endParaRPr sz="11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153" name="Google Shape;153;p2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434343"/>
                </a:solidFill>
              </a:rPr>
              <a:t>Извеждане на данни с old() /Old Input/</a:t>
            </a:r>
            <a:endParaRPr sz="1100" b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Методът извежда данните от предишната заявка, запазени в сесията.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$username = $request-&gt;</a:t>
            </a:r>
            <a:r>
              <a:rPr lang="en" sz="1100" b="1">
                <a:solidFill>
                  <a:srgbClr val="E91E63"/>
                </a:solidFill>
              </a:rPr>
              <a:t>old</a:t>
            </a:r>
            <a:r>
              <a:rPr lang="en" sz="1100">
                <a:solidFill>
                  <a:schemeClr val="dk1"/>
                </a:solidFill>
              </a:rPr>
              <a:t>('username');</a:t>
            </a: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Ако трябва да изведете данни /например при неуспешна валидация/ в </a:t>
            </a:r>
            <a:r>
              <a:rPr lang="en" sz="1100" u="sng">
                <a:solidFill>
                  <a:srgbClr val="434343"/>
                </a:solidFill>
                <a:hlinkClick r:id="rId3"/>
              </a:rPr>
              <a:t>Blade</a:t>
            </a:r>
            <a:r>
              <a:rPr lang="en" sz="1100">
                <a:solidFill>
                  <a:srgbClr val="434343"/>
                </a:solidFill>
              </a:rPr>
              <a:t> шаблоните, може да използвате old() методът. </a:t>
            </a:r>
            <a:endParaRPr sz="11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Ако не са въвеждани данни /няма ‘стари’ данни/, методът връща null.</a:t>
            </a:r>
            <a:endParaRPr sz="1100">
              <a:solidFill>
                <a:srgbClr val="43434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E91E63"/>
                </a:solidFill>
              </a:rPr>
              <a:t>&lt;input type="text" name="username" value="{{ old('username') }}"&gt;</a:t>
            </a:r>
            <a:endParaRPr sz="1100" b="1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00" b="1">
              <a:solidFill>
                <a:srgbClr val="E91E63"/>
              </a:solidFill>
            </a:endParaRPr>
          </a:p>
          <a:p>
            <a:pPr marL="457200" marR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u="sng">
                <a:solidFill>
                  <a:schemeClr val="hlink"/>
                </a:solidFill>
                <a:hlinkClick r:id="rId4"/>
              </a:rPr>
              <a:t>Допълнително инфо</a:t>
            </a:r>
            <a:endParaRPr sz="1300" b="1">
              <a:solidFill>
                <a:srgbClr val="E91E63"/>
              </a:solidFill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Requests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C27B0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FFFFF"/>
                </a:solidFill>
              </a:rPr>
              <a:t>Валидация на данни в контролера</a:t>
            </a:r>
            <a:endParaRPr sz="30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599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Ако разгледате базовия controller (App\Http\Controllers\Controller) class, ще видите, че той използва ValidatesRequests trait.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rgbClr val="9933FF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9933FF"/>
                </a:solidFill>
              </a:rPr>
              <a:t>ValidatesRequests</a:t>
            </a:r>
            <a:r>
              <a:rPr lang="en" sz="1100">
                <a:solidFill>
                  <a:schemeClr val="dk1"/>
                </a:solidFill>
              </a:rPr>
              <a:t> предоставя метод за валидация, достъпен за всички контролери.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Методът validate() приема постъпващата HTTP заявка и набор от правила за валидация.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Ако условията за валидация са изпълнени, ще продължи изпълнението на следващия код.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Ако валидацията е неуспешна - Ларавел връща съответната грешка към потребителя.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При HTTP заявка получаваме пренасочване /обратно, ако не е посочено друго/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72" name="Google Shape;172;p30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0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FFFFF"/>
                </a:solidFill>
              </a:rPr>
              <a:t>Валидация на данни в контролера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/**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 Store a new lecture.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 @param  Request  $request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 @return Response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*/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public function store(Request $request)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{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$this-&gt;validate($request, [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'title' =&gt; 'required|unique:posts|max:255',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'body' =&gt; 'required',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]);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// The lecture is valid, store in database...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}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179" name="Google Shape;179;p31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1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000">
                <a:solidFill>
                  <a:srgbClr val="FFFFFF"/>
                </a:solidFill>
              </a:rPr>
              <a:t>Валидация на данни в контролера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←--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Подаваме постъпващата HTTP заявка и правилата за валидация като параметри на  validate метода.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Ако валидацията е неуспешна - автоматично се генерира подходящия отговор - пренасочване назад.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Ако валидацията е успешна - продължава изпълнението на следващия код.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17D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2"/>
          <p:cNvSpPr txBox="1">
            <a:spLocks noGrp="1"/>
          </p:cNvSpPr>
          <p:nvPr>
            <p:ph type="title"/>
          </p:nvPr>
        </p:nvSpPr>
        <p:spPr>
          <a:xfrm>
            <a:off x="311700" y="2071059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2400" b="1">
                <a:solidFill>
                  <a:srgbClr val="FFFFFF"/>
                </a:solidFill>
              </a:rPr>
              <a:t>Custom Requests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Създаване Form Requests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За по-сложни случаи на валидация създаваме "form request".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Това са request класове, съдържащи валидационна логика.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Създаваме ги с командата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00717D"/>
                </a:solidFill>
              </a:rPr>
              <a:t>php artisan make:request StoreLecture</a:t>
            </a:r>
            <a:endParaRPr sz="1100" b="1">
              <a:solidFill>
                <a:srgbClr val="00717D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rgbClr val="00717D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Новосъздадения клас се намира в  </a:t>
            </a:r>
            <a:r>
              <a:rPr lang="en" sz="1100" b="1">
                <a:solidFill>
                  <a:srgbClr val="00717D"/>
                </a:solidFill>
              </a:rPr>
              <a:t>app/Http/Requests. </a:t>
            </a:r>
            <a:r>
              <a:rPr lang="en" sz="1100">
                <a:solidFill>
                  <a:schemeClr val="dk1"/>
                </a:solidFill>
              </a:rPr>
              <a:t> /ако директорията не съществува - тя се създава след изпълнението на командата/</a:t>
            </a:r>
            <a:endParaRPr sz="11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3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3"/>
          <p:cNvSpPr txBox="1"/>
          <p:nvPr/>
        </p:nvSpPr>
        <p:spPr>
          <a:xfrm>
            <a:off x="0" y="-935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2400" b="1">
                <a:solidFill>
                  <a:srgbClr val="FFFFFF"/>
                </a:solidFill>
              </a:rPr>
              <a:t>Custom Requests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  <p:sp>
        <p:nvSpPr>
          <p:cNvPr id="194" name="Google Shape;194;p3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Методът </a:t>
            </a:r>
            <a:r>
              <a:rPr lang="en" sz="1100" b="1">
                <a:solidFill>
                  <a:srgbClr val="00717D"/>
                </a:solidFill>
              </a:rPr>
              <a:t>rules() </a:t>
            </a:r>
            <a:r>
              <a:rPr lang="en" sz="1100">
                <a:solidFill>
                  <a:srgbClr val="434343"/>
                </a:solidFill>
              </a:rPr>
              <a:t>съдържа правилата за валидация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/**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 Get the validation rules that apply to the request.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 @return array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public function </a:t>
            </a:r>
            <a:r>
              <a:rPr lang="en" sz="1100" b="1">
                <a:solidFill>
                  <a:srgbClr val="00717D"/>
                </a:solidFill>
              </a:rPr>
              <a:t>rules()</a:t>
            </a:r>
            <a:br>
              <a:rPr lang="en" sz="1100" b="1">
                <a:solidFill>
                  <a:srgbClr val="00717D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{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return [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'title' =&gt; 'required|unique:posts|max:255',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'body' =&gt; 'required',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];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}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/>
          </a:p>
          <a:p>
            <a:pPr marL="28575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След създаването на custom request - </a:t>
            </a:r>
            <a:r>
              <a:rPr lang="en" sz="1100" b="1">
                <a:solidFill>
                  <a:srgbClr val="00717D"/>
                </a:solidFill>
              </a:rPr>
              <a:t>StoreLecture, </a:t>
            </a:r>
            <a:r>
              <a:rPr lang="en" sz="1300">
                <a:solidFill>
                  <a:srgbClr val="434343"/>
                </a:solidFill>
              </a:rPr>
              <a:t>в метода на контролера като параметър подаваме /type-hint/ от какъв клас е $request.</a:t>
            </a:r>
            <a:endParaRPr sz="13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Постъпващата заявка се валидира преди да бъде изпълнен метода от контролера и </a:t>
            </a:r>
            <a:endParaRPr sz="13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00717D"/>
                </a:solidFill>
              </a:rPr>
              <a:t>не е нужно да се добавя друга валидационна логика в него!</a:t>
            </a:r>
            <a:endParaRPr sz="1300" b="1">
              <a:solidFill>
                <a:srgbClr val="00717D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rgbClr val="00717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rgbClr val="00717D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При неуспешна валидация се потребителя се пренасочва обратно.</a:t>
            </a:r>
            <a:endParaRPr sz="13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Грешките от валидацията се записват в сесията до следващата заявка и могат да бъдат изведени като съобщение в браузъра.</a:t>
            </a:r>
            <a:endParaRPr sz="1300">
              <a:solidFill>
                <a:srgbClr val="434343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rgbClr val="00717D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rgbClr val="434343"/>
              </a:solidFill>
            </a:endParaRPr>
          </a:p>
        </p:txBody>
      </p:sp>
      <p:sp>
        <p:nvSpPr>
          <p:cNvPr id="200" name="Google Shape;200;p34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0" y="-935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2400" b="1">
                <a:solidFill>
                  <a:srgbClr val="FFFFFF"/>
                </a:solidFill>
              </a:rPr>
              <a:t>Custom Requests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  <p:sp>
        <p:nvSpPr>
          <p:cNvPr id="202" name="Google Shape;202;p3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434343"/>
                </a:solidFill>
              </a:rPr>
              <a:t>/**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 * Store the incoming lecture.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 *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 * @param  StoreLectureRequest  $request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 * @return Response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 */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public function store(</a:t>
            </a:r>
            <a:r>
              <a:rPr lang="en" sz="1300" b="1">
                <a:solidFill>
                  <a:srgbClr val="00717D"/>
                </a:solidFill>
              </a:rPr>
              <a:t>StoreLectureRequest </a:t>
            </a:r>
            <a:r>
              <a:rPr lang="en" sz="1300">
                <a:solidFill>
                  <a:srgbClr val="434343"/>
                </a:solidFill>
              </a:rPr>
              <a:t>$request)</a:t>
            </a:r>
            <a:endParaRPr sz="13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/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{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   // The incoming request is valid...</a:t>
            </a:r>
            <a:br>
              <a:rPr lang="en" sz="1300">
                <a:solidFill>
                  <a:srgbClr val="434343"/>
                </a:solidFill>
              </a:rPr>
            </a:br>
            <a:r>
              <a:rPr lang="en" sz="1300">
                <a:solidFill>
                  <a:srgbClr val="434343"/>
                </a:solidFill>
              </a:rPr>
              <a:t>}</a:t>
            </a:r>
            <a:endParaRPr sz="13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chemeClr val="dk1"/>
                </a:solidFill>
              </a:rPr>
              <a:t>Authorizing Form Requests </a:t>
            </a:r>
            <a:endParaRPr sz="13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i="1">
                <a:solidFill>
                  <a:srgbClr val="00717D"/>
                </a:solidFill>
              </a:rPr>
              <a:t>/*изпреварваме с тази информация, тъй като още не сме говорили за проверка на потребителите/</a:t>
            </a:r>
            <a:endParaRPr sz="1000" i="1">
              <a:solidFill>
                <a:srgbClr val="00717D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Request класът, създаден от нас съдържа метод authorize. В този метод, служи за проверка дали потребителят има права да изпълнява методът от контролера, към който е свързан request класа.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Например - правим проверка дали логнатия потребитeл има права да добавя нови лекции.</a:t>
            </a:r>
            <a:endParaRPr sz="11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rgbClr val="434343"/>
              </a:solidFill>
            </a:endParaRPr>
          </a:p>
        </p:txBody>
      </p:sp>
      <p:sp>
        <p:nvSpPr>
          <p:cNvPr id="208" name="Google Shape;208;p35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5"/>
          <p:cNvSpPr txBox="1"/>
          <p:nvPr/>
        </p:nvSpPr>
        <p:spPr>
          <a:xfrm>
            <a:off x="0" y="-935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2400" b="1">
                <a:solidFill>
                  <a:srgbClr val="FFFFFF"/>
                </a:solidFill>
              </a:rPr>
              <a:t>Custom Requests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  <p:sp>
        <p:nvSpPr>
          <p:cNvPr id="210" name="Google Shape;210;p3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/**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 Determine if the user is authorized to make this request.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 @return bool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*/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public function</a:t>
            </a:r>
            <a:r>
              <a:rPr lang="en" sz="1100" b="1">
                <a:solidFill>
                  <a:srgbClr val="00717D"/>
                </a:solidFill>
              </a:rPr>
              <a:t> authorize()</a:t>
            </a:r>
            <a:br>
              <a:rPr lang="en" sz="1100" b="1">
                <a:solidFill>
                  <a:srgbClr val="00717D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{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$lecture = Lecture::find($this-&gt;route('lecture'));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return $lecture &amp;&amp; $this-&gt;user()</a:t>
            </a:r>
            <a:r>
              <a:rPr lang="en" sz="1100" b="1">
                <a:solidFill>
                  <a:srgbClr val="00717D"/>
                </a:solidFill>
              </a:rPr>
              <a:t>-&gt;ca</a:t>
            </a:r>
            <a:r>
              <a:rPr lang="en" sz="1100">
                <a:solidFill>
                  <a:srgbClr val="00717D"/>
                </a:solidFill>
              </a:rPr>
              <a:t>n</a:t>
            </a:r>
            <a:r>
              <a:rPr lang="en" sz="1100">
                <a:solidFill>
                  <a:schemeClr val="dk1"/>
                </a:solidFill>
              </a:rPr>
              <a:t>(‘create', $lecture);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}</a:t>
            </a:r>
            <a:endParaRPr sz="1100">
              <a:solidFill>
                <a:schemeClr val="dk1"/>
              </a:solidFill>
            </a:endParaRPr>
          </a:p>
          <a:p>
            <a:pPr marL="28575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Създаваните от нас request класове наследяват базовия Laravel request class и имаме възможност да използваме user метода, с който достъпваме логнатия потребител.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С route  методът достъпваме всички URI параметри, дефинирани за пътя, който извикваме.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Като например {lecture} параметъра /в случая, когато искаме да променим лекция/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Route::post('lecture/{lecture}');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300" b="1">
              <a:solidFill>
                <a:schemeClr val="dk1"/>
              </a:solidFill>
            </a:endParaRPr>
          </a:p>
        </p:txBody>
      </p:sp>
      <p:sp>
        <p:nvSpPr>
          <p:cNvPr id="216" name="Google Shape;216;p3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6"/>
          <p:cNvSpPr txBox="1"/>
          <p:nvPr/>
        </p:nvSpPr>
        <p:spPr>
          <a:xfrm>
            <a:off x="0" y="-935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2400" b="1">
                <a:solidFill>
                  <a:srgbClr val="FFFFFF"/>
                </a:solidFill>
              </a:rPr>
              <a:t>Custom Requests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  <p:sp>
        <p:nvSpPr>
          <p:cNvPr id="218" name="Google Shape;218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Когато методът authorize върне false, получавате HTTP отговор с код 403 /нямате права да извършвате заявката/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и методът в контролера няма да бъде изпълнен.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Когато планирате логиката за проверка на потребителя да бъде в друга част от приложението, методът 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authorize трябва да връща </a:t>
            </a:r>
            <a:r>
              <a:rPr lang="en" sz="1100" b="1">
                <a:solidFill>
                  <a:srgbClr val="00717D"/>
                </a:solidFill>
              </a:rPr>
              <a:t>true</a:t>
            </a:r>
            <a:r>
              <a:rPr lang="en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224" name="Google Shape;224;p3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37"/>
          <p:cNvSpPr txBox="1"/>
          <p:nvPr/>
        </p:nvSpPr>
        <p:spPr>
          <a:xfrm>
            <a:off x="0" y="-93500"/>
            <a:ext cx="6805500" cy="703800"/>
          </a:xfrm>
          <a:prstGeom prst="rect">
            <a:avLst/>
          </a:prstGeom>
          <a:solidFill>
            <a:srgbClr val="0071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2400" b="1">
                <a:solidFill>
                  <a:srgbClr val="FFFFFF"/>
                </a:solidFill>
              </a:rPr>
              <a:t>Custom Requests</a:t>
            </a: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  <p:sp>
        <p:nvSpPr>
          <p:cNvPr id="226" name="Google Shape;226;p3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/**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 Determine if the user is authorized to make this request.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 @return bool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*/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public function authorize()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{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return true;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}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73AB7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8"/>
          <p:cNvSpPr txBox="1">
            <a:spLocks noGrp="1"/>
          </p:cNvSpPr>
          <p:nvPr>
            <p:ph type="title"/>
          </p:nvPr>
        </p:nvSpPr>
        <p:spPr>
          <a:xfrm>
            <a:off x="311700" y="2143067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Правила за валидация в Ларавел</a:t>
            </a: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0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>
            <a:spLocks noGrp="1"/>
          </p:cNvSpPr>
          <p:nvPr>
            <p:ph type="body" idx="1"/>
          </p:nvPr>
        </p:nvSpPr>
        <p:spPr>
          <a:xfrm>
            <a:off x="311700" y="913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/>
              <a:t>$this-&gt;validate($request, [</a:t>
            </a:r>
            <a:endParaRPr sz="1400"/>
          </a:p>
          <a:p>
            <a:pPr marL="137160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'title' =&gt; 'required|unique:posts|max:255',</a:t>
            </a:r>
            <a:endParaRPr sz="1400"/>
          </a:p>
          <a:p>
            <a:pPr marL="1371600" lvl="0" indent="45720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 b="1">
                <a:solidFill>
                  <a:srgbClr val="673AB7"/>
                </a:solidFill>
              </a:rPr>
              <a:t>Задължителто|уникално:в таблица posts|максимум:255 знака</a:t>
            </a:r>
            <a:endParaRPr sz="1400" b="1">
              <a:solidFill>
                <a:srgbClr val="673AB7"/>
              </a:solidFill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'body' =&gt; 'required',</a:t>
            </a:r>
            <a:endParaRPr sz="1400"/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'publish_at' =&gt; 'nullable|date',</a:t>
            </a:r>
            <a:endParaRPr sz="1400"/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400"/>
              <a:t>		</a:t>
            </a:r>
            <a:r>
              <a:rPr lang="en" sz="1400" b="1">
                <a:solidFill>
                  <a:srgbClr val="673AB7"/>
                </a:solidFill>
              </a:rPr>
              <a:t>		null|валидна дата</a:t>
            </a:r>
            <a:endParaRPr sz="1400" b="1">
              <a:solidFill>
                <a:srgbClr val="673AB7"/>
              </a:solidFill>
            </a:endParaRPr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400"/>
              <a:t>]);</a:t>
            </a:r>
            <a:endParaRPr sz="1400"/>
          </a:p>
          <a:p>
            <a:pPr marL="1371600" marR="0" lvl="0" indent="4572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Подробна информация</a:t>
            </a:r>
            <a:endParaRPr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9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673A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9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r>
              <a:rPr lang="en" sz="30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Правила за валидация в Ларавел</a:t>
            </a: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30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933FF"/>
        </a:solidFill>
        <a:effectLst/>
      </p:bgPr>
    </p:bg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0"/>
          <p:cNvSpPr txBox="1">
            <a:spLocks noGrp="1"/>
          </p:cNvSpPr>
          <p:nvPr>
            <p:ph type="title"/>
          </p:nvPr>
        </p:nvSpPr>
        <p:spPr>
          <a:xfrm>
            <a:off x="311700" y="157583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Validation Еrror messages /</a:t>
            </a:r>
            <a:endParaRPr sz="2400">
              <a:solidFill>
                <a:srgbClr val="FFFFFF"/>
              </a:solidFill>
            </a:endParaRPr>
          </a:p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съобщения след неуспешна валидация </a:t>
            </a:r>
            <a:r>
              <a:rPr lang="en" sz="2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1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41"/>
          <p:cNvSpPr txBox="1">
            <a:spLocks noGrp="1"/>
          </p:cNvSpPr>
          <p:nvPr>
            <p:ph type="body" idx="1"/>
          </p:nvPr>
        </p:nvSpPr>
        <p:spPr>
          <a:xfrm>
            <a:off x="311700" y="108602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Подробна информация</a:t>
            </a:r>
            <a:endParaRPr i="1">
              <a:solidFill>
                <a:srgbClr val="9900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i="1">
              <a:solidFill>
                <a:srgbClr val="9900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При неуспешна валидация Ларавел автоматично пренасочва обратно. 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Всички грешки от валидацията автоматично се добавят към сесията до следващата заявка/</a:t>
            </a:r>
            <a:r>
              <a:rPr lang="en" sz="1100" u="sng">
                <a:solidFill>
                  <a:schemeClr val="hlink"/>
                </a:solidFill>
                <a:hlinkClick r:id="rId4"/>
              </a:rPr>
              <a:t>flashed to the session</a:t>
            </a:r>
            <a:r>
              <a:rPr lang="en" sz="1100">
                <a:solidFill>
                  <a:schemeClr val="dk1"/>
                </a:solidFill>
              </a:rPr>
              <a:t>/.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Ларавел проверява за грешки в данните от сесията и ако има такива, автоматично ги свързва към съответното view.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Извеждаме грешките с променливата $errors /инстанция на Illuminate\Support\MessageBag. </a:t>
            </a:r>
            <a:r>
              <a:rPr lang="en" sz="1100" u="sng">
                <a:solidFill>
                  <a:schemeClr val="accent5"/>
                </a:solidFill>
                <a:hlinkClick r:id="rId5"/>
              </a:rPr>
              <a:t>За повече информация</a:t>
            </a:r>
            <a:r>
              <a:rPr lang="en" sz="1100">
                <a:solidFill>
                  <a:schemeClr val="dk1"/>
                </a:solidFill>
              </a:rPr>
              <a:t>./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250" name="Google Shape;250;p41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Validation Еrror messages</a:t>
            </a:r>
            <a:endParaRPr sz="2400" b="1">
              <a:solidFill>
                <a:schemeClr val="lt1"/>
              </a:solidFill>
            </a:endParaRPr>
          </a:p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2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В нашия пример, потребителя ще бъде върнат обратно към метода create в случай, че валидацията е неуспешна и имаме възможност да отпечатаме съобщенията за грешки в create.bade.php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&lt;!-- </a:t>
            </a:r>
            <a:r>
              <a:rPr lang="en" sz="1100" b="1">
                <a:solidFill>
                  <a:srgbClr val="9933FF"/>
                </a:solidFill>
              </a:rPr>
              <a:t>/resources/views/lecture/create.blade.php</a:t>
            </a:r>
            <a:r>
              <a:rPr lang="en" sz="1100">
                <a:solidFill>
                  <a:schemeClr val="dk1"/>
                </a:solidFill>
              </a:rPr>
              <a:t> --&gt;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&lt;h1&gt;Create Lecture&lt;/h1&gt;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@if ($errors-&gt;any())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&lt;div class="alert alert-danger"&gt;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&lt;ul&gt;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   @foreach (</a:t>
            </a:r>
            <a:r>
              <a:rPr lang="en" sz="1100" b="1">
                <a:solidFill>
                  <a:srgbClr val="9933FF"/>
                </a:solidFill>
              </a:rPr>
              <a:t>$errors-&gt;all() as $error</a:t>
            </a:r>
            <a:r>
              <a:rPr lang="en" sz="1100">
                <a:solidFill>
                  <a:schemeClr val="dk1"/>
                </a:solidFill>
              </a:rPr>
              <a:t>)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       &lt;li&gt;{{ </a:t>
            </a:r>
            <a:r>
              <a:rPr lang="en" sz="1100" b="1">
                <a:solidFill>
                  <a:srgbClr val="9933FF"/>
                </a:solidFill>
              </a:rPr>
              <a:t>$error</a:t>
            </a:r>
            <a:r>
              <a:rPr lang="en" sz="1100">
                <a:solidFill>
                  <a:schemeClr val="dk1"/>
                </a:solidFill>
              </a:rPr>
              <a:t> }}&lt;/li&gt;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    @endforeach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    &lt;/ul&gt;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   &lt;/div&gt;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@endif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/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&lt;!-- Create Lecture Form --&gt;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100">
              <a:solidFill>
                <a:schemeClr val="dk1"/>
              </a:solidFill>
            </a:endParaRPr>
          </a:p>
        </p:txBody>
      </p:sp>
      <p:sp>
        <p:nvSpPr>
          <p:cNvPr id="257" name="Google Shape;257;p42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9933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Validation Еrror messages</a:t>
            </a:r>
            <a:endParaRPr sz="24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96F3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>
            <a:spLocks noGrp="1"/>
          </p:cNvSpPr>
          <p:nvPr>
            <p:ph type="title"/>
          </p:nvPr>
        </p:nvSpPr>
        <p:spPr>
          <a:xfrm>
            <a:off x="311700" y="1999051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Custom Error Messages</a:t>
            </a:r>
            <a:endParaRPr sz="24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4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434343"/>
                </a:solidFill>
              </a:rPr>
              <a:t>Промяна на съобщенията за грешки в Request класовете, които създаваме</a:t>
            </a:r>
            <a:endParaRPr sz="1300" b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rgbClr val="434343"/>
                </a:solidFill>
              </a:rPr>
              <a:t>Презаписваме </a:t>
            </a:r>
            <a:r>
              <a:rPr lang="en" sz="1100">
                <a:solidFill>
                  <a:srgbClr val="434343"/>
                </a:solidFill>
              </a:rPr>
              <a:t>messages метода.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Този метод трябва да върне масив от 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атрибут/правило двойки и съобщенията за грешки, които им принадлежат.</a:t>
            </a:r>
            <a:endParaRPr sz="1100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>
              <a:solidFill>
                <a:srgbClr val="434343"/>
              </a:solidFill>
            </a:endParaRPr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u="sng">
                <a:solidFill>
                  <a:schemeClr val="accent5"/>
                </a:solidFill>
                <a:hlinkClick r:id="rId3"/>
              </a:rPr>
              <a:t>Работа с custom error messages</a:t>
            </a:r>
            <a:endParaRPr>
              <a:solidFill>
                <a:srgbClr val="434343"/>
              </a:solidFill>
            </a:endParaRPr>
          </a:p>
        </p:txBody>
      </p:sp>
      <p:sp>
        <p:nvSpPr>
          <p:cNvPr id="268" name="Google Shape;268;p44"/>
          <p:cNvSpPr/>
          <p:nvPr/>
        </p:nvSpPr>
        <p:spPr>
          <a:xfrm>
            <a:off x="0" y="0"/>
            <a:ext cx="9144000" cy="7643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44"/>
          <p:cNvSpPr txBox="1"/>
          <p:nvPr/>
        </p:nvSpPr>
        <p:spPr>
          <a:xfrm>
            <a:off x="0" y="30300"/>
            <a:ext cx="6805500" cy="703799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114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r>
              <a:rPr lang="en" sz="2400" b="1">
                <a:solidFill>
                  <a:srgbClr val="FFFFFF"/>
                </a:solidFill>
              </a:rPr>
              <a:t>Custom Error Messages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4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/**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* Get the error messages for the defined validation rules.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*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* @return array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*/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public function </a:t>
            </a:r>
            <a:r>
              <a:rPr lang="en" sz="1100" b="1">
                <a:solidFill>
                  <a:srgbClr val="03A9F4"/>
                </a:solidFill>
              </a:rPr>
              <a:t>messages()</a:t>
            </a:r>
            <a:br>
              <a:rPr lang="en" sz="1100" b="1">
                <a:solidFill>
                  <a:srgbClr val="03A9F4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{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return [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   '</a:t>
            </a:r>
            <a:r>
              <a:rPr lang="en" sz="1100">
                <a:solidFill>
                  <a:srgbClr val="03A9F4"/>
                </a:solidFill>
              </a:rPr>
              <a:t>title.required</a:t>
            </a:r>
            <a:r>
              <a:rPr lang="en" sz="1100">
                <a:solidFill>
                  <a:srgbClr val="434343"/>
                </a:solidFill>
              </a:rPr>
              <a:t>' =&gt; 'A </a:t>
            </a:r>
            <a:r>
              <a:rPr lang="en" sz="1100" b="1">
                <a:solidFill>
                  <a:srgbClr val="03A9F4"/>
                </a:solidFill>
              </a:rPr>
              <a:t>title</a:t>
            </a:r>
            <a:r>
              <a:rPr lang="en" sz="1100">
                <a:solidFill>
                  <a:srgbClr val="434343"/>
                </a:solidFill>
              </a:rPr>
              <a:t> is required',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   '</a:t>
            </a:r>
            <a:r>
              <a:rPr lang="en" sz="1100">
                <a:solidFill>
                  <a:srgbClr val="03A9F4"/>
                </a:solidFill>
              </a:rPr>
              <a:t>body.required</a:t>
            </a:r>
            <a:r>
              <a:rPr lang="en" sz="1100">
                <a:solidFill>
                  <a:srgbClr val="434343"/>
                </a:solidFill>
              </a:rPr>
              <a:t>'  =&gt; 'A message is required',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];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}</a:t>
            </a:r>
            <a:endParaRPr sz="1100">
              <a:solidFill>
                <a:srgbClr val="434343"/>
              </a:solidFill>
            </a:endParaRPr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>
              <a:solidFill>
                <a:srgbClr val="434343"/>
              </a:solidFill>
            </a:endParaRPr>
          </a:p>
          <a:p>
            <a:pPr marL="28575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A9F4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>
            <a:spLocks noGrp="1"/>
          </p:cNvSpPr>
          <p:nvPr>
            <p:ph type="title"/>
          </p:nvPr>
        </p:nvSpPr>
        <p:spPr>
          <a:xfrm>
            <a:off x="311700" y="1767300"/>
            <a:ext cx="8520599" cy="572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Laravel Flash Messages</a:t>
            </a:r>
            <a:endParaRPr sz="24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rgbClr val="FFFFFF"/>
                </a:solidFill>
              </a:rPr>
              <a:t>съобщения след успешна валидация на формите</a:t>
            </a:r>
            <a:endParaRPr sz="240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Calibri"/>
              <a:buNone/>
            </a:pPr>
            <a:endParaRPr sz="2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6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6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Session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6"/>
          <p:cNvSpPr/>
          <p:nvPr/>
        </p:nvSpPr>
        <p:spPr>
          <a:xfrm>
            <a:off x="734000" y="1087125"/>
            <a:ext cx="8024700" cy="34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u="sng">
                <a:solidFill>
                  <a:srgbClr val="434343"/>
                </a:solidFill>
                <a:hlinkClick r:id="rId3"/>
              </a:rPr>
              <a:t>Сесии в Ларавел </a:t>
            </a:r>
            <a:endParaRPr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u="sng">
                <a:solidFill>
                  <a:srgbClr val="434343"/>
                </a:solidFill>
                <a:hlinkClick r:id="rId3"/>
              </a:rPr>
              <a:t>как да запазваме и </a:t>
            </a:r>
            <a:endParaRPr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u="sng">
                <a:solidFill>
                  <a:srgbClr val="434343"/>
                </a:solidFill>
                <a:hlinkClick r:id="rId3"/>
              </a:rPr>
              <a:t>използваме данните, </a:t>
            </a:r>
            <a:endParaRPr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u="sng">
                <a:solidFill>
                  <a:srgbClr val="434343"/>
                </a:solidFill>
                <a:hlinkClick r:id="rId3"/>
              </a:rPr>
              <a:t>записани в сесиите</a:t>
            </a:r>
            <a:endParaRPr b="1" u="sng">
              <a:solidFill>
                <a:srgbClr val="434343"/>
              </a:solidFill>
              <a:hlinkClick r:id="rId3"/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    </a:t>
            </a:r>
            <a:br>
              <a:rPr lang="en" sz="1100">
                <a:solidFill>
                  <a:srgbClr val="434343"/>
                </a:solidFill>
              </a:rPr>
            </a:br>
            <a:endParaRPr sz="1100">
              <a:solidFill>
                <a:srgbClr val="434343"/>
              </a:solidFill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4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434343"/>
                </a:solidFill>
              </a:rPr>
              <a:t>Извеждане на данни</a:t>
            </a:r>
            <a:endParaRPr sz="1300" b="1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Два са основните подхода при работа с данни от сесиите в Ларавел.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1. global session helper 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</a:rPr>
              <a:t>2. Чрез инстанция на Request. </a:t>
            </a: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7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7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r>
              <a:rPr lang="en" sz="3600" b="1">
                <a:solidFill>
                  <a:srgbClr val="FFFFFF"/>
                </a:solidFill>
              </a:rPr>
              <a:t>Laravel Session</a:t>
            </a:r>
            <a:endParaRPr sz="36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7"/>
          <p:cNvSpPr/>
          <p:nvPr/>
        </p:nvSpPr>
        <p:spPr>
          <a:xfrm>
            <a:off x="5177275" y="1112050"/>
            <a:ext cx="429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namespace App\Http\Controllers;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/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use Illuminate\Http\Request;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use App\Http\Controllers\Controller;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/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class UserController extends Controller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{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/**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* Show the profile for the given user.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*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* @param  Request  $request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* @param  int  $id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* @return Response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*/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public function show(</a:t>
            </a:r>
            <a:r>
              <a:rPr lang="en" sz="1100" b="1">
                <a:solidFill>
                  <a:srgbClr val="0099FF"/>
                </a:solidFill>
              </a:rPr>
              <a:t>Request</a:t>
            </a:r>
            <a:r>
              <a:rPr lang="en" sz="1100">
                <a:solidFill>
                  <a:srgbClr val="434343"/>
                </a:solidFill>
              </a:rPr>
              <a:t> $request, $id)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{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   $value = $request-</a:t>
            </a:r>
            <a:r>
              <a:rPr lang="en" sz="1100" b="1">
                <a:solidFill>
                  <a:srgbClr val="0099FF"/>
                </a:solidFill>
              </a:rPr>
              <a:t>&gt;session()-&gt;get('ke</a:t>
            </a:r>
            <a:r>
              <a:rPr lang="en" sz="1100">
                <a:solidFill>
                  <a:srgbClr val="434343"/>
                </a:solidFill>
              </a:rPr>
              <a:t>y');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/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   //</a:t>
            </a:r>
            <a:br>
              <a:rPr lang="en" sz="1100">
                <a:solidFill>
                  <a:srgbClr val="434343"/>
                </a:solidFill>
              </a:rPr>
            </a:br>
            <a:r>
              <a:rPr lang="en" sz="1100">
                <a:solidFill>
                  <a:srgbClr val="434343"/>
                </a:solidFill>
              </a:rPr>
              <a:t>    }</a:t>
            </a:r>
            <a:br>
              <a:rPr lang="en" sz="1100">
                <a:solidFill>
                  <a:srgbClr val="434343"/>
                </a:solidFill>
              </a:rPr>
            </a:br>
            <a:endParaRPr sz="1100">
              <a:solidFill>
                <a:srgbClr val="434343"/>
              </a:solidFill>
            </a:endParaRPr>
          </a:p>
          <a:p>
            <a:pPr marL="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47"/>
          <p:cNvSpPr txBox="1">
            <a:spLocks noGrp="1"/>
          </p:cNvSpPr>
          <p:nvPr>
            <p:ph type="body" idx="2"/>
          </p:nvPr>
        </p:nvSpPr>
        <p:spPr>
          <a:xfrm>
            <a:off x="688125" y="120232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</a:rPr>
              <a:t>Достъп до данните от сесията чрез </a:t>
            </a: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</a:rPr>
              <a:t>инстанция на Request класа, </a:t>
            </a: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</a:rPr>
              <a:t>която посочваме в метода на контролера./type-hint/</a:t>
            </a: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</a:rPr>
              <a:t>Зависимостите на методите в контролера се инжектират автоматично от Laravel</a:t>
            </a:r>
            <a:r>
              <a:rPr lang="en" sz="1200">
                <a:solidFill>
                  <a:srgbClr val="434343"/>
                </a:solidFill>
                <a:uFill>
                  <a:noFill/>
                </a:uFill>
                <a:hlinkClick r:id="rId3"/>
              </a:rPr>
              <a:t> </a:t>
            </a:r>
            <a:r>
              <a:rPr lang="en" sz="1200" u="sng">
                <a:solidFill>
                  <a:srgbClr val="434343"/>
                </a:solidFill>
                <a:hlinkClick r:id="rId3"/>
              </a:rPr>
              <a:t>service container</a:t>
            </a:r>
            <a:r>
              <a:rPr lang="en" sz="1200">
                <a:solidFill>
                  <a:srgbClr val="434343"/>
                </a:solidFill>
              </a:rPr>
              <a:t>:</a:t>
            </a:r>
            <a:endParaRPr sz="12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 i="0" u="none" strike="noStrike" cap="none">
              <a:solidFill>
                <a:srgbClr val="434343"/>
              </a:solidFill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i="0" u="none" strike="noStrike" cap="none">
              <a:solidFill>
                <a:srgbClr val="434343"/>
              </a:solidFill>
            </a:endParaRPr>
          </a:p>
        </p:txBody>
      </p:sp>
      <p:sp>
        <p:nvSpPr>
          <p:cNvPr id="299" name="Google Shape;299;p48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i="0" u="none" strike="noStrike" cap="none">
              <a:solidFill>
                <a:srgbClr val="434343"/>
              </a:solidFill>
            </a:endParaRPr>
          </a:p>
        </p:txBody>
      </p:sp>
      <p:sp>
        <p:nvSpPr>
          <p:cNvPr id="300" name="Google Shape;300;p48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>
                <a:solidFill>
                  <a:srgbClr val="FFFFFF"/>
                </a:solidFill>
              </a:rPr>
              <a:t>Laravel Session</a:t>
            </a:r>
            <a:endParaRPr sz="3600">
              <a:solidFill>
                <a:srgbClr val="FFFFFF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>
              <a:solidFill>
                <a:srgbClr val="434343"/>
              </a:solidFill>
            </a:endParaRPr>
          </a:p>
        </p:txBody>
      </p:sp>
      <p:sp>
        <p:nvSpPr>
          <p:cNvPr id="301" name="Google Shape;301;p48"/>
          <p:cNvSpPr/>
          <p:nvPr/>
        </p:nvSpPr>
        <p:spPr>
          <a:xfrm>
            <a:off x="734000" y="1087125"/>
            <a:ext cx="3858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434343"/>
                </a:solidFill>
              </a:rPr>
              <a:t>Проверка дали конкретни данни съществуват в сесията</a:t>
            </a:r>
            <a:endParaRPr sz="1100" b="1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За да определим дали дадена стойност съществува в сесията използваме метода </a:t>
            </a:r>
            <a:r>
              <a:rPr lang="en" sz="1100" b="1">
                <a:solidFill>
                  <a:srgbClr val="0099FF"/>
                </a:solidFill>
              </a:rPr>
              <a:t>has().</a:t>
            </a:r>
            <a:endParaRPr sz="1100" b="1">
              <a:solidFill>
                <a:srgbClr val="0099FF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Той връща </a:t>
            </a:r>
            <a:r>
              <a:rPr lang="en" sz="1100" b="1">
                <a:solidFill>
                  <a:srgbClr val="0099FF"/>
                </a:solidFill>
              </a:rPr>
              <a:t>true</a:t>
            </a:r>
            <a:r>
              <a:rPr lang="en" sz="1100">
                <a:solidFill>
                  <a:srgbClr val="434343"/>
                </a:solidFill>
              </a:rPr>
              <a:t> ако стойността съществува и не е </a:t>
            </a:r>
            <a:r>
              <a:rPr lang="en" sz="1100" b="1">
                <a:solidFill>
                  <a:srgbClr val="0099FF"/>
                </a:solidFill>
              </a:rPr>
              <a:t>null</a:t>
            </a:r>
            <a:r>
              <a:rPr lang="en" sz="1100">
                <a:solidFill>
                  <a:srgbClr val="434343"/>
                </a:solidFill>
              </a:rPr>
              <a:t>:</a:t>
            </a:r>
            <a:endParaRPr sz="1100">
              <a:solidFill>
                <a:srgbClr val="434343"/>
              </a:solidFill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 b="1">
                <a:solidFill>
                  <a:srgbClr val="434343"/>
                </a:solidFill>
              </a:rPr>
              <a:t>if ($request-&gt;session()-&gt;</a:t>
            </a:r>
            <a:r>
              <a:rPr lang="en" sz="1100" b="1">
                <a:solidFill>
                  <a:srgbClr val="03A9F4"/>
                </a:solidFill>
              </a:rPr>
              <a:t>has('users')</a:t>
            </a:r>
            <a:r>
              <a:rPr lang="en" sz="1100" b="1">
                <a:solidFill>
                  <a:srgbClr val="434343"/>
                </a:solidFill>
              </a:rPr>
              <a:t>) {</a:t>
            </a:r>
            <a:br>
              <a:rPr lang="en" sz="1100" b="1">
                <a:solidFill>
                  <a:srgbClr val="434343"/>
                </a:solidFill>
              </a:rPr>
            </a:br>
            <a:r>
              <a:rPr lang="en" sz="1100" b="1">
                <a:solidFill>
                  <a:srgbClr val="434343"/>
                </a:solidFill>
              </a:rPr>
              <a:t>   //</a:t>
            </a:r>
            <a:br>
              <a:rPr lang="en" sz="1100" b="1">
                <a:solidFill>
                  <a:srgbClr val="434343"/>
                </a:solidFill>
              </a:rPr>
            </a:br>
            <a:r>
              <a:rPr lang="en" sz="1100" b="1">
                <a:solidFill>
                  <a:srgbClr val="434343"/>
                </a:solidFill>
              </a:rPr>
              <a:t>}</a:t>
            </a:r>
            <a:endParaRPr sz="1100" b="1">
              <a:solidFill>
                <a:srgbClr val="434343"/>
              </a:solidFill>
            </a:endParaRPr>
          </a:p>
          <a:p>
            <a:pPr marL="13716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00"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9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49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Laravel Session</a:t>
            </a:r>
            <a:endParaRPr sz="3600" b="1">
              <a:solidFill>
                <a:schemeClr val="lt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10" name="Google Shape;310;p49"/>
          <p:cNvSpPr/>
          <p:nvPr/>
        </p:nvSpPr>
        <p:spPr>
          <a:xfrm>
            <a:off x="734000" y="1087125"/>
            <a:ext cx="3825600" cy="3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 b="1">
                <a:solidFill>
                  <a:srgbClr val="434343"/>
                </a:solidFill>
              </a:rPr>
              <a:t>Flash Данни - </a:t>
            </a:r>
            <a:r>
              <a:rPr lang="en" sz="1300">
                <a:solidFill>
                  <a:srgbClr val="434343"/>
                </a:solidFill>
              </a:rPr>
              <a:t>запазване на данни в сесията до следващата заявка.</a:t>
            </a:r>
            <a:endParaRPr sz="13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Методът flash() - данните, запазени с този метод в сесията ще бъдат налични само до следващата HTTP заявка, след което ще бъдат изтрити.</a:t>
            </a:r>
            <a:endParaRPr sz="1100">
              <a:solidFill>
                <a:srgbClr val="434343"/>
              </a:solidFill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  <p:sp>
        <p:nvSpPr>
          <p:cNvPr id="311" name="Google Shape;311;p4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$request-&gt;session()-&gt;</a:t>
            </a:r>
            <a:r>
              <a:rPr lang="en" sz="1100" b="1">
                <a:solidFill>
                  <a:srgbClr val="0099FF"/>
                </a:solidFill>
              </a:rPr>
              <a:t>flash('status', 'Task was successful!');</a:t>
            </a:r>
            <a:endParaRPr sz="1100" b="1">
              <a:solidFill>
                <a:srgbClr val="0099FF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return Redirect::to('home');</a:t>
            </a:r>
            <a:endParaRPr sz="11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//отпечатваме съобщението във вюто с</a:t>
            </a:r>
            <a:endParaRPr sz="1100">
              <a:solidFill>
                <a:srgbClr val="434343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434343"/>
                </a:solidFill>
              </a:rPr>
              <a:t>@if(Session::has(‘status’)......</a:t>
            </a:r>
            <a:endParaRPr sz="1100">
              <a:solidFill>
                <a:srgbClr val="434343"/>
              </a:solidFill>
            </a:endParaRPr>
          </a:p>
          <a:p>
            <a:pPr marL="13716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>
              <a:solidFill>
                <a:srgbClr val="434343"/>
              </a:solidFill>
            </a:endParaRPr>
          </a:p>
          <a:p>
            <a:pPr marL="137160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  <p:transition spd="slow"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0"/>
          <p:cNvSpPr/>
          <p:nvPr/>
        </p:nvSpPr>
        <p:spPr>
          <a:xfrm>
            <a:off x="0" y="0"/>
            <a:ext cx="9144000" cy="7644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0"/>
          <p:cNvSpPr txBox="1"/>
          <p:nvPr/>
        </p:nvSpPr>
        <p:spPr>
          <a:xfrm>
            <a:off x="0" y="30300"/>
            <a:ext cx="6805500" cy="703800"/>
          </a:xfrm>
          <a:prstGeom prst="rect">
            <a:avLst/>
          </a:prstGeom>
          <a:solidFill>
            <a:srgbClr val="0099FF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Font typeface="Arial"/>
              <a:buNone/>
            </a:pPr>
            <a:r>
              <a:rPr lang="en" sz="3600" b="1">
                <a:solidFill>
                  <a:schemeClr val="lt1"/>
                </a:solidFill>
              </a:rPr>
              <a:t>Laravel Session</a:t>
            </a:r>
            <a:endParaRPr sz="3600" b="1">
              <a:solidFill>
                <a:schemeClr val="lt1"/>
              </a:solidFill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Arial"/>
              <a:buNone/>
            </a:pPr>
            <a:endParaRPr sz="3600" b="1">
              <a:solidFill>
                <a:srgbClr val="FFFFFF"/>
              </a:solidFill>
            </a:endParaRPr>
          </a:p>
        </p:txBody>
      </p:sp>
      <p:sp>
        <p:nvSpPr>
          <p:cNvPr id="319" name="Google Shape;319;p50"/>
          <p:cNvSpPr/>
          <p:nvPr/>
        </p:nvSpPr>
        <p:spPr>
          <a:xfrm>
            <a:off x="734000" y="1087125"/>
            <a:ext cx="5818800" cy="34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3716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0099FF"/>
                </a:solidFill>
              </a:rPr>
              <a:t>Flash съобщенията</a:t>
            </a:r>
            <a:r>
              <a:rPr lang="en" sz="1100">
                <a:solidFill>
                  <a:srgbClr val="434343"/>
                </a:solidFill>
              </a:rPr>
              <a:t> обикновено се създават на база действията на потребителя </a:t>
            </a:r>
            <a:endParaRPr sz="1100">
              <a:solidFill>
                <a:srgbClr val="43434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-"/>
            </a:pPr>
            <a:r>
              <a:rPr lang="en" sz="1100">
                <a:solidFill>
                  <a:srgbClr val="434343"/>
                </a:solidFill>
              </a:rPr>
              <a:t>За потвърждение от потребителя, че наистина иска да извърши съответното действие.</a:t>
            </a:r>
            <a:endParaRPr sz="1100">
              <a:solidFill>
                <a:srgbClr val="434343"/>
              </a:solidFill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Char char="-"/>
            </a:pPr>
            <a:r>
              <a:rPr lang="en" sz="1100">
                <a:solidFill>
                  <a:srgbClr val="434343"/>
                </a:solidFill>
              </a:rPr>
              <a:t>отпечатване на съобщения за успешно/неуспешно извършено действие от тях</a:t>
            </a:r>
            <a:endParaRPr sz="1100">
              <a:solidFill>
                <a:srgbClr val="434343"/>
              </a:solidFill>
            </a:endParaRPr>
          </a:p>
          <a:p>
            <a:pPr marL="13716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1494</Words>
  <Application>Microsoft Office PowerPoint</Application>
  <PresentationFormat>Презентация на цял екран (16:9)</PresentationFormat>
  <Paragraphs>266</Paragraphs>
  <Slides>38</Slides>
  <Notes>38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38</vt:i4>
      </vt:variant>
    </vt:vector>
  </HeadingPairs>
  <TitlesOfParts>
    <vt:vector size="42" baseType="lpstr">
      <vt:lpstr>Arial</vt:lpstr>
      <vt:lpstr>Calibri</vt:lpstr>
      <vt:lpstr>Syncopate</vt:lpstr>
      <vt:lpstr>simple-light-2</vt:lpstr>
      <vt:lpstr>web разработка</vt:lpstr>
      <vt:lpstr>Презентация на PowerPoint</vt:lpstr>
      <vt:lpstr>Презентация на PowerPoint</vt:lpstr>
      <vt:lpstr>Requests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Валидация на данни в контролера</vt:lpstr>
      <vt:lpstr>Презентация на PowerPoint</vt:lpstr>
      <vt:lpstr>Презентация на PowerPoint</vt:lpstr>
      <vt:lpstr>Custom Requests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Правила за валидация в Ларавел </vt:lpstr>
      <vt:lpstr>Презентация на PowerPoint</vt:lpstr>
      <vt:lpstr>Validation Еrror messages / съобщения след неуспешна валидация  </vt:lpstr>
      <vt:lpstr>Презентация на PowerPoint</vt:lpstr>
      <vt:lpstr>Презентация на PowerPoint</vt:lpstr>
      <vt:lpstr>Custom Error Messages</vt:lpstr>
      <vt:lpstr>Презентация на PowerPoint</vt:lpstr>
      <vt:lpstr>Laravel Flash Messages съобщения след успешна валидация на формите 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  <vt:lpstr>Презентация на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разработка</dc:title>
  <dc:creator>Milena</dc:creator>
  <cp:lastModifiedBy>Ariel</cp:lastModifiedBy>
  <cp:revision>1</cp:revision>
  <dcterms:modified xsi:type="dcterms:W3CDTF">2019-10-13T08:33:53Z</dcterms:modified>
</cp:coreProperties>
</file>