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77" r:id="rId5"/>
    <p:sldId id="278" r:id="rId6"/>
    <p:sldId id="279" r:id="rId7"/>
    <p:sldId id="280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304" r:id="rId19"/>
    <p:sldId id="292" r:id="rId20"/>
    <p:sldId id="293" r:id="rId21"/>
    <p:sldId id="30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5" r:id="rId30"/>
    <p:sldId id="306" r:id="rId31"/>
  </p:sldIdLst>
  <p:sldSz cx="9144000" cy="5143500" type="screen16x9"/>
  <p:notesSz cx="6858000" cy="9144000"/>
  <p:embeddedFontLst>
    <p:embeddedFont>
      <p:font typeface="Syncopate" panose="020B0604020202020204" charset="0"/>
      <p:regular r:id="rId33"/>
      <p:bold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riel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096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63548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e5cded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4e5cded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36e22502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236e22502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37403e67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237403e67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36e22502e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236e22502e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37403e67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237403e67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4df0a5d2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24df0a5d2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36e22502e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g236e22502e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6e22502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36e22502e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37403e67d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37403e67d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36e22502e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236e22502e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36e22502e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236e22502e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6e22502e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36e22502e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37403e67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237403e67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37403e67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237403e67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36e22502e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g236e22502e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37531641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g237531641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36e22502e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236e22502e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37531641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237531641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36e22502e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36e22502e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37531641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237531641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37531641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g237531641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7403e67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237403e67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7403e67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237403e67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database#configura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5/migrat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laravel.com/docs/5.4/eloquent-relationships#many-to-many" TargetMode="External"/><Relationship Id="rId13" Type="http://schemas.openxmlformats.org/officeDocument/2006/relationships/hyperlink" Target="https://laravel.com/docs/5.5/eloquent-relationships#many-to-many-polymorphic-relations" TargetMode="External"/><Relationship Id="rId3" Type="http://schemas.openxmlformats.org/officeDocument/2006/relationships/hyperlink" Target="https://laravel.com/docs/5.5/eloquent-relationships#one-to-one" TargetMode="External"/><Relationship Id="rId7" Type="http://schemas.openxmlformats.org/officeDocument/2006/relationships/hyperlink" Target="https://laravel.com/docs/5.5/eloquent-relationships#many-to-many" TargetMode="External"/><Relationship Id="rId12" Type="http://schemas.openxmlformats.org/officeDocument/2006/relationships/hyperlink" Target="https://laravel.com/docs/5.4/eloquent-relationships#polymorphic-relatio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ravel.com/docs/5.4/eloquent-relationships#one-to-many" TargetMode="External"/><Relationship Id="rId11" Type="http://schemas.openxmlformats.org/officeDocument/2006/relationships/hyperlink" Target="https://laravel.com/docs/5.5/eloquent-relationships#polymorphic-relations" TargetMode="External"/><Relationship Id="rId5" Type="http://schemas.openxmlformats.org/officeDocument/2006/relationships/hyperlink" Target="https://laravel.com/docs/5.5/eloquent-relationships#one-to-many" TargetMode="External"/><Relationship Id="rId10" Type="http://schemas.openxmlformats.org/officeDocument/2006/relationships/hyperlink" Target="https://laravel.com/docs/5.4/eloquent-relationships#has-many-through" TargetMode="External"/><Relationship Id="rId4" Type="http://schemas.openxmlformats.org/officeDocument/2006/relationships/hyperlink" Target="https://laravel.com/docs/5.4/eloquent-relationships#one-to-one" TargetMode="External"/><Relationship Id="rId9" Type="http://schemas.openxmlformats.org/officeDocument/2006/relationships/hyperlink" Target="https://laravel.com/docs/5.5/eloquent-relationships#has-many-through" TargetMode="External"/><Relationship Id="rId14" Type="http://schemas.openxmlformats.org/officeDocument/2006/relationships/hyperlink" Target="https://laravel.com/docs/5.4/eloquent-relationships#many-to-many-polymorphic-relation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 dirty="0" smtClean="0">
                <a:solidFill>
                  <a:srgbClr val="FFFFFF"/>
                </a:solidFill>
              </a:rPr>
              <a:t>Models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 dirty="0" smtClean="0">
                <a:solidFill>
                  <a:srgbClr val="FFFFFF"/>
                </a:solidFill>
              </a:rPr>
              <a:t>Eloquent</a:t>
            </a:r>
            <a:endParaRPr sz="3600" b="1" dirty="0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Laravel </a:t>
            </a:r>
            <a:r>
              <a:rPr lang="en" dirty="0"/>
              <a:t>Eloquent</a:t>
            </a:r>
            <a:endParaRPr dirty="0"/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one-to-one</a:t>
            </a:r>
            <a:endParaRPr dirty="0"/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one-to-many</a:t>
            </a:r>
            <a:endParaRPr dirty="0"/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many-to-many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ⱱ"/>
            </a:pPr>
            <a:r>
              <a:rPr lang="en" dirty="0">
                <a:solidFill>
                  <a:srgbClr val="0070C0"/>
                </a:solidFill>
              </a:rPr>
              <a:t>Направете проект на база данни за проекта </a:t>
            </a:r>
            <a:endParaRPr lang="en" dirty="0" smtClean="0">
              <a:solidFill>
                <a:srgbClr val="0070C0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Char char="ⱱ"/>
            </a:pPr>
            <a:r>
              <a:rPr lang="bg-BG" dirty="0" smtClean="0">
                <a:solidFill>
                  <a:srgbClr val="0070C0"/>
                </a:solidFill>
              </a:rPr>
              <a:t>Добавете базата данни в </a:t>
            </a:r>
            <a:r>
              <a:rPr lang="en-US" dirty="0" err="1" smtClean="0">
                <a:solidFill>
                  <a:srgbClr val="0070C0"/>
                </a:solidFill>
              </a:rPr>
              <a:t>phpMyAdmin</a:t>
            </a:r>
            <a:endParaRPr dirty="0">
              <a:solidFill>
                <a:srgbClr val="0070C0"/>
              </a:solidFill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Създайте два вида потребители - Администратор и Ученик.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Отпечатайте профила на потребителя на страница Профил.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Отпечатайте поставените теми за домашно, които Администраторът на сайта е добавил.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Добавете функционалност за регистрация/логин на потребителя.</a:t>
            </a:r>
            <a:endParaRPr dirty="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Всички потребители по подразбиране се добавят като ученици. Има един администратор на сайта, чиято роля е посочена директно в базата данни.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>
            <a:spLocks noGrp="1"/>
          </p:cNvSpPr>
          <p:nvPr>
            <p:ph type="title"/>
          </p:nvPr>
        </p:nvSpPr>
        <p:spPr>
          <a:xfrm>
            <a:off x="246350" y="18723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Laravel Eloquent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Eloquent ORM/object relational mapping/, включен в Ларавел, предоставя елегантен и лесен начин за работа с базата данни. 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Всяка таблица от базата данни притежава свой Модел, който се използва за взаимодействие с нея.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Моделите ви позволват да четете, променяте и добавяте нова информация в таблиците в БД.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 dirty="0">
                <a:solidFill>
                  <a:schemeClr val="dk1"/>
                </a:solidFill>
              </a:rPr>
              <a:t>Преди всичко се уверете, че сте конфигурирали връзката с базата данни в config/database.php. </a:t>
            </a:r>
            <a:endParaRPr sz="1200" i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 dirty="0">
                <a:solidFill>
                  <a:schemeClr val="dk1"/>
                </a:solidFill>
              </a:rPr>
              <a:t>За повече информация относно конфигурирането на вашата база данни направете справка с </a:t>
            </a:r>
            <a:r>
              <a:rPr lang="en" sz="1200" i="1" u="sng" dirty="0">
                <a:solidFill>
                  <a:schemeClr val="hlink"/>
                </a:solidFill>
                <a:hlinkClick r:id="rId3"/>
              </a:rPr>
              <a:t>документацията на Ларавел</a:t>
            </a:r>
            <a:r>
              <a:rPr lang="en" sz="1200" i="1" dirty="0">
                <a:solidFill>
                  <a:schemeClr val="dk1"/>
                </a:solidFill>
              </a:rPr>
              <a:t>.</a:t>
            </a:r>
            <a:r>
              <a:rPr lang="en" sz="1200" i="1" dirty="0">
                <a:solidFill>
                  <a:schemeClr val="dk1"/>
                </a:solidFill>
                <a:uFill>
                  <a:noFill/>
                </a:uFill>
                <a:hlinkClick r:id="rId3"/>
              </a:rPr>
              <a:t> </a:t>
            </a:r>
            <a:endParaRPr sz="1200" i="1" dirty="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Eloquent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Като начало да създадем Eloquent модел. 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Моделите обикновено се разполагат в директорията app.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Всички Eloquent модели наследяват lluminate\Database\Eloquent\Model class.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Най-лесния начин да създадете модел е чрез командата 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351C75"/>
                </a:solidFill>
              </a:rPr>
              <a:t>php artisan make:model ИметоНаМодела</a:t>
            </a:r>
            <a:endParaRPr sz="1400" b="1">
              <a:solidFill>
                <a:srgbClr val="351C75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</p:txBody>
      </p:sp>
      <p:sp>
        <p:nvSpPr>
          <p:cNvPr id="212" name="Google Shape;212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Eloquent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Ако искате да генерирате и файл миграция за базата данни, може да добавите опцията --migration или -m option:</a:t>
            </a:r>
            <a:endParaRPr sz="1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solidFill>
                  <a:srgbClr val="674EA7"/>
                </a:solidFill>
              </a:rPr>
              <a:t>php artisan make:model ИметоНаМодела --migration</a:t>
            </a:r>
            <a:br>
              <a:rPr lang="en" sz="1400" b="1" dirty="0">
                <a:solidFill>
                  <a:srgbClr val="674EA7"/>
                </a:solidFill>
              </a:rPr>
            </a:br>
            <a:r>
              <a:rPr lang="en" sz="1400" b="1" dirty="0">
                <a:solidFill>
                  <a:srgbClr val="674EA7"/>
                </a:solidFill>
              </a:rPr>
              <a:t/>
            </a:r>
            <a:br>
              <a:rPr lang="en" sz="1400" b="1" dirty="0">
                <a:solidFill>
                  <a:srgbClr val="674EA7"/>
                </a:solidFill>
              </a:rPr>
            </a:br>
            <a:r>
              <a:rPr lang="en" sz="1400" b="1" dirty="0">
                <a:solidFill>
                  <a:srgbClr val="674EA7"/>
                </a:solidFill>
              </a:rPr>
              <a:t>php artisan make:model ИметоНаМодела -m</a:t>
            </a:r>
            <a:endParaRPr sz="1400" b="1" dirty="0">
              <a:solidFill>
                <a:srgbClr val="674EA7"/>
              </a:solidFill>
            </a:endParaRPr>
          </a:p>
          <a:p>
            <a:pPr marL="0" lvl="0" indent="0">
              <a:spcBef>
                <a:spcPts val="1600"/>
              </a:spcBef>
              <a:buClr>
                <a:schemeClr val="dk1"/>
              </a:buClr>
              <a:buSzPts val="1100"/>
            </a:pPr>
            <a:r>
              <a:rPr lang="en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За допълнителна информация - </a:t>
            </a:r>
            <a:r>
              <a:rPr lang="en-US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https://laravel.com/docs/5.5/eloquent</a:t>
            </a:r>
            <a:endParaRPr sz="1400" i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Google Shape;219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Eloquent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Като използвате вашия проект за база данни на приложението, създайте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Модел и миграция Lecture, Homework и Profile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Добавете в миграцията нужните колони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Мигрирайте таблицата в базата данни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</a:rPr>
              <a:t>За описание на колоните в миграцията следвайте написаното в CreateUsersTable </a:t>
            </a:r>
            <a:r>
              <a:rPr lang="en" sz="1100" dirty="0" smtClean="0">
                <a:solidFill>
                  <a:schemeClr val="dk1"/>
                </a:solidFill>
              </a:rPr>
              <a:t>миграц</a:t>
            </a:r>
            <a:r>
              <a:rPr lang="bg-BG" sz="1100" dirty="0" smtClean="0">
                <a:solidFill>
                  <a:schemeClr val="dk1"/>
                </a:solidFill>
              </a:rPr>
              <a:t>и</a:t>
            </a:r>
            <a:r>
              <a:rPr lang="en" sz="1100" dirty="0" smtClean="0">
                <a:solidFill>
                  <a:schemeClr val="dk1"/>
                </a:solidFill>
              </a:rPr>
              <a:t>я-файл </a:t>
            </a:r>
            <a:r>
              <a:rPr lang="en" sz="1100" dirty="0">
                <a:solidFill>
                  <a:schemeClr val="dk1"/>
                </a:solidFill>
              </a:rPr>
              <a:t>и правете справка с </a:t>
            </a:r>
            <a:endParaRPr sz="1100" dirty="0">
              <a:solidFill>
                <a:schemeClr val="dk1"/>
              </a:solidFill>
            </a:endParaRPr>
          </a:p>
          <a:p>
            <a:pPr marL="0" lvl="0" indent="0">
              <a:spcBef>
                <a:spcPts val="1600"/>
              </a:spcBef>
            </a:pPr>
            <a:r>
              <a:rPr lang="en-US" sz="1100" u="sng" dirty="0">
                <a:solidFill>
                  <a:schemeClr val="hlink"/>
                </a:solidFill>
                <a:hlinkClick r:id="rId3"/>
              </a:rPr>
              <a:t>https://</a:t>
            </a:r>
            <a:r>
              <a:rPr lang="en-US" sz="1100" u="sng" dirty="0" smtClean="0">
                <a:solidFill>
                  <a:schemeClr val="hlink"/>
                </a:solidFill>
                <a:hlinkClick r:id="rId3"/>
              </a:rPr>
              <a:t>laravel.com/docs/5.5/migrations</a:t>
            </a:r>
            <a:endParaRPr lang="bg-BG" sz="1100" u="sng" dirty="0" smtClean="0">
              <a:solidFill>
                <a:schemeClr val="hlink"/>
              </a:solidFill>
            </a:endParaRPr>
          </a:p>
          <a:p>
            <a:pPr marL="0" lvl="0" indent="0">
              <a:spcBef>
                <a:spcPts val="1600"/>
              </a:spcBef>
            </a:pPr>
            <a:r>
              <a:rPr lang="en" dirty="0" smtClean="0">
                <a:solidFill>
                  <a:schemeClr val="dk1"/>
                </a:solidFill>
              </a:rPr>
              <a:t>Available </a:t>
            </a:r>
            <a:r>
              <a:rPr lang="en" dirty="0">
                <a:solidFill>
                  <a:schemeClr val="dk1"/>
                </a:solidFill>
              </a:rPr>
              <a:t>Column Types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 dirty="0">
                <a:solidFill>
                  <a:schemeClr val="dk1"/>
                </a:solidFill>
              </a:rPr>
              <a:t>Column Modifiers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 dirty="0">
                <a:solidFill>
                  <a:schemeClr val="dk1"/>
                </a:solidFill>
              </a:rPr>
              <a:t>Creating Indexes</a:t>
            </a: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 dirty="0">
                <a:solidFill>
                  <a:schemeClr val="dk1"/>
                </a:solidFill>
              </a:rPr>
              <a:t>Foreign Key Constraints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233" name="Google Shape;233;p3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7D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protected $fillable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Всеки модел има свойство $fillable.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Ако искаме да разрешим на потребителя да работи със записите в определени колони въвеждаме имената на колоните като масив.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Например в модела Users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protected </a:t>
            </a:r>
            <a:r>
              <a:rPr lang="en" dirty="0">
                <a:solidFill>
                  <a:srgbClr val="00717D"/>
                </a:solidFill>
              </a:rPr>
              <a:t>$fillable</a:t>
            </a:r>
            <a:r>
              <a:rPr lang="en" dirty="0"/>
              <a:t> = [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    	</a:t>
            </a:r>
            <a:r>
              <a:rPr lang="en" dirty="0">
                <a:solidFill>
                  <a:srgbClr val="00717D"/>
                </a:solidFill>
              </a:rPr>
              <a:t>'name', 'email', 'password',</a:t>
            </a:r>
            <a:endParaRPr dirty="0">
              <a:solidFill>
                <a:srgbClr val="00717D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dirty="0"/>
              <a:t>	];</a:t>
            </a:r>
            <a:endParaRPr dirty="0"/>
          </a:p>
        </p:txBody>
      </p:sp>
      <p:sp>
        <p:nvSpPr>
          <p:cNvPr id="245" name="Google Shape;245;p4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Protected $fillable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2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600"/>
              </a:spcBef>
            </a:pPr>
            <a:r>
              <a:rPr lang="bg-BG" sz="1100" dirty="0" smtClean="0">
                <a:solidFill>
                  <a:schemeClr val="dk1"/>
                </a:solidFill>
              </a:rPr>
              <a:t>Добавете </a:t>
            </a:r>
            <a:r>
              <a:rPr lang="en" sz="1100" dirty="0"/>
              <a:t>protected </a:t>
            </a:r>
            <a:r>
              <a:rPr lang="en" sz="1100" dirty="0">
                <a:solidFill>
                  <a:srgbClr val="00717D"/>
                </a:solidFill>
              </a:rPr>
              <a:t>$fillable</a:t>
            </a:r>
            <a:r>
              <a:rPr lang="en" sz="1100" dirty="0"/>
              <a:t> </a:t>
            </a:r>
            <a:r>
              <a:rPr lang="bg-BG" sz="1100" dirty="0" smtClean="0"/>
              <a:t>свойство в създадените от вас модели. </a:t>
            </a:r>
            <a:endParaRPr lang="bg-BG" sz="1100" dirty="0"/>
          </a:p>
          <a:p>
            <a:pPr marL="0" lvl="0" indent="0">
              <a:spcBef>
                <a:spcPts val="1600"/>
              </a:spcBef>
            </a:pPr>
            <a:r>
              <a:rPr lang="bg-BG" sz="1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Задайте стойности според това, в кои от колоните на съответните таблици ще записвате или променяте данни.</a:t>
            </a:r>
            <a:endParaRPr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Google Shape;252;p4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3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</a:rPr>
              <a:t>Таблиците в базите данни много често са свързани по между си. </a:t>
            </a: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400" i="1" dirty="0" smtClean="0">
                <a:solidFill>
                  <a:schemeClr val="dk1"/>
                </a:solidFill>
              </a:rPr>
              <a:t>Един </a:t>
            </a:r>
            <a:r>
              <a:rPr lang="en" sz="1400" i="1" dirty="0" smtClean="0">
                <a:solidFill>
                  <a:schemeClr val="dk1"/>
                </a:solidFill>
              </a:rPr>
              <a:t>пост </a:t>
            </a:r>
            <a:r>
              <a:rPr lang="en" sz="1400" i="1" dirty="0">
                <a:solidFill>
                  <a:schemeClr val="dk1"/>
                </a:solidFill>
              </a:rPr>
              <a:t>може да има много коментарии, или една поръчка е свързана с потребителя, който я е направил.</a:t>
            </a:r>
            <a:endParaRPr sz="1400" i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dk1"/>
                </a:solidFill>
              </a:rPr>
              <a:t>Eloquent прави работата със свързаните таблици много лесна и поддържа различните видове връзки -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3"/>
              </a:rPr>
              <a:t>One To One</a:t>
            </a:r>
            <a:endParaRPr sz="1400" u="sng" dirty="0">
              <a:solidFill>
                <a:schemeClr val="hlink"/>
              </a:solidFill>
              <a:hlinkClick r:id="rId4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5"/>
              </a:rPr>
              <a:t>One To Many</a:t>
            </a:r>
            <a:endParaRPr sz="1400" u="sng" dirty="0">
              <a:solidFill>
                <a:schemeClr val="hlink"/>
              </a:solidFill>
              <a:hlinkClick r:id="rId6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7"/>
              </a:rPr>
              <a:t>Many To Many</a:t>
            </a:r>
            <a:endParaRPr sz="1400" u="sng" dirty="0">
              <a:solidFill>
                <a:schemeClr val="hlink"/>
              </a:solidFill>
              <a:hlinkClick r:id="rId8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9"/>
              </a:rPr>
              <a:t>Has Many Through</a:t>
            </a:r>
            <a:endParaRPr sz="1400" u="sng" dirty="0">
              <a:solidFill>
                <a:schemeClr val="hlink"/>
              </a:solidFill>
              <a:hlinkClick r:id="rId10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11"/>
              </a:rPr>
              <a:t>Polymorphic Relations</a:t>
            </a:r>
            <a:endParaRPr sz="1400" u="sng" dirty="0">
              <a:solidFill>
                <a:schemeClr val="hlink"/>
              </a:solidFill>
              <a:hlinkClick r:id="rId12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 u="sng" dirty="0">
                <a:solidFill>
                  <a:schemeClr val="hlink"/>
                </a:solidFill>
                <a:hlinkClick r:id="rId13"/>
              </a:rPr>
              <a:t>Many To Many Polymorphic Relations</a:t>
            </a:r>
            <a:endParaRPr sz="1400" u="sng" dirty="0">
              <a:solidFill>
                <a:schemeClr val="hlink"/>
              </a:solidFill>
              <a:hlinkClick r:id="rId1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sp>
        <p:nvSpPr>
          <p:cNvPr id="265" name="Google Shape;265;p4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Връзките се декларират като методи в класовете на Eloquent model. 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Също както и моделите, тези връзки са мощно средство за генериране на заявки към базата данни. Дефинирането на връзките като методи ни позволява и да навързваме методи - да прилагаме метод върху резултата от предишния метод във веригата.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9933FF"/>
                </a:solidFill>
              </a:rPr>
              <a:t>$user-&gt;posts()-&gt;where('active', 1)-&gt;get();</a:t>
            </a:r>
            <a:endParaRPr b="1" dirty="0">
              <a:solidFill>
                <a:srgbClr val="9933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dirty="0">
                <a:solidFill>
                  <a:srgbClr val="434343"/>
                </a:solidFill>
              </a:rPr>
              <a:t>//кодът ще върне постовете на конкретния потребител, за които стойността в колоната active е 1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272" name="Google Shape;272;p4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34343"/>
                </a:solidFill>
              </a:rPr>
              <a:t>One To One</a:t>
            </a:r>
            <a:endParaRPr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Пример за такава връзка в нашето приложение е - всеки потребител има по един профил. 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Информацията е разпределена в две таблици - Users и Profile.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user_id </a:t>
            </a: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в Profile отговаря на id в Users.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 да дефинираме тази връзка разполагаме </a:t>
            </a:r>
            <a:r>
              <a:rPr lang="en" sz="1400" b="1" dirty="0">
                <a:solidFill>
                  <a:srgbClr val="6600FF"/>
                </a:solidFill>
              </a:rPr>
              <a:t>profile()</a:t>
            </a: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метод в модела User Методът profile() тряба да извика </a:t>
            </a:r>
            <a:r>
              <a:rPr lang="en" sz="1400" b="1" dirty="0">
                <a:solidFill>
                  <a:srgbClr val="6600FF"/>
                </a:solidFill>
              </a:rPr>
              <a:t>hasOne</a:t>
            </a:r>
            <a:r>
              <a:rPr lang="e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функцията и да върне резултатът от нея.</a:t>
            </a:r>
            <a:endParaRPr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dirty="0">
              <a:solidFill>
                <a:srgbClr val="434343"/>
              </a:solidFill>
            </a:endParaRPr>
          </a:p>
        </p:txBody>
      </p:sp>
      <p:sp>
        <p:nvSpPr>
          <p:cNvPr id="279" name="Google Shape;279;p4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namespace App;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use Illuminate\Database\Eloquent\Model;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class User extends Model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{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/**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* Get the profile record associated with the user.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*/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public function </a:t>
            </a:r>
            <a:r>
              <a:rPr lang="en" sz="1400" b="1">
                <a:solidFill>
                  <a:srgbClr val="674EA7"/>
                </a:solidFill>
              </a:rPr>
              <a:t>profile</a:t>
            </a:r>
            <a:r>
              <a:rPr lang="en" sz="1400">
                <a:solidFill>
                  <a:schemeClr val="dk1"/>
                </a:solidFill>
              </a:rPr>
              <a:t>()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{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   return $this-&gt;hasOne('</a:t>
            </a:r>
            <a:r>
              <a:rPr lang="en" sz="1400" b="1">
                <a:solidFill>
                  <a:srgbClr val="8E7CC3"/>
                </a:solidFill>
              </a:rPr>
              <a:t>App\Profile</a:t>
            </a:r>
            <a:r>
              <a:rPr lang="en" sz="1400">
                <a:solidFill>
                  <a:schemeClr val="dk1"/>
                </a:solidFill>
              </a:rPr>
              <a:t>');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}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}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86" name="Google Shape;286;p4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666666"/>
                </a:solidFill>
              </a:rPr>
              <a:t>Аргументът подаден на hasOne е името на свързания модел.</a:t>
            </a: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666666"/>
                </a:solidFill>
              </a:rPr>
              <a:t>След като връзката между моделите е дефинирана извикваме съответния </a:t>
            </a:r>
            <a:r>
              <a:rPr lang="en" dirty="0" smtClean="0">
                <a:solidFill>
                  <a:srgbClr val="666666"/>
                </a:solidFill>
              </a:rPr>
              <a:t>запи</a:t>
            </a:r>
            <a:r>
              <a:rPr lang="bg-BG" dirty="0" smtClean="0">
                <a:solidFill>
                  <a:srgbClr val="666666"/>
                </a:solidFill>
              </a:rPr>
              <a:t>с</a:t>
            </a:r>
            <a:r>
              <a:rPr lang="en" dirty="0" smtClean="0">
                <a:solidFill>
                  <a:srgbClr val="666666"/>
                </a:solidFill>
              </a:rPr>
              <a:t> </a:t>
            </a:r>
            <a:r>
              <a:rPr lang="en" dirty="0">
                <a:solidFill>
                  <a:srgbClr val="666666"/>
                </a:solidFill>
              </a:rPr>
              <a:t>от базата данни, използвайки динамичните свойства на Eloquent.</a:t>
            </a: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666666"/>
                </a:solidFill>
              </a:rPr>
              <a:t>Тези динамични свойства позволяват да извикваме методите </a:t>
            </a:r>
            <a:r>
              <a:rPr lang="en" dirty="0" smtClean="0">
                <a:solidFill>
                  <a:srgbClr val="666666"/>
                </a:solidFill>
              </a:rPr>
              <a:t>като</a:t>
            </a:r>
            <a:endParaRPr lang="bg-BG" dirty="0" smtClean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>
                <a:solidFill>
                  <a:srgbClr val="666666"/>
                </a:solidFill>
              </a:rPr>
              <a:t> </a:t>
            </a:r>
            <a:r>
              <a:rPr lang="en" i="1" dirty="0">
                <a:solidFill>
                  <a:srgbClr val="666666"/>
                </a:solidFill>
              </a:rPr>
              <a:t>свойства </a:t>
            </a:r>
            <a:r>
              <a:rPr lang="en" i="1" dirty="0" smtClean="0">
                <a:solidFill>
                  <a:srgbClr val="666666"/>
                </a:solidFill>
              </a:rPr>
              <a:t>дек</a:t>
            </a:r>
            <a:r>
              <a:rPr lang="bg-BG" i="1" dirty="0" smtClean="0">
                <a:solidFill>
                  <a:srgbClr val="666666"/>
                </a:solidFill>
              </a:rPr>
              <a:t>л</a:t>
            </a:r>
            <a:r>
              <a:rPr lang="en" i="1" dirty="0" smtClean="0">
                <a:solidFill>
                  <a:srgbClr val="666666"/>
                </a:solidFill>
              </a:rPr>
              <a:t>арирани </a:t>
            </a:r>
            <a:r>
              <a:rPr lang="en" i="1" dirty="0">
                <a:solidFill>
                  <a:srgbClr val="666666"/>
                </a:solidFill>
              </a:rPr>
              <a:t>в съответния модел.</a:t>
            </a:r>
            <a:endParaRPr i="1"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666666"/>
                </a:solidFill>
              </a:rPr>
              <a:t>$profile = User::find(1)-&gt;profile</a:t>
            </a:r>
            <a:r>
              <a:rPr lang="en" dirty="0" smtClean="0">
                <a:solidFill>
                  <a:srgbClr val="666666"/>
                </a:solidFill>
              </a:rPr>
              <a:t>; //</a:t>
            </a:r>
            <a:r>
              <a:rPr lang="bg-BG" dirty="0" smtClean="0">
                <a:solidFill>
                  <a:srgbClr val="666666"/>
                </a:solidFill>
              </a:rPr>
              <a:t>обект от клас </a:t>
            </a:r>
            <a:r>
              <a:rPr lang="en-US" dirty="0" smtClean="0">
                <a:solidFill>
                  <a:srgbClr val="666666"/>
                </a:solidFill>
              </a:rPr>
              <a:t>… </a:t>
            </a:r>
            <a:r>
              <a:rPr lang="bg-BG" dirty="0" smtClean="0">
                <a:solidFill>
                  <a:srgbClr val="666666"/>
                </a:solidFill>
              </a:rPr>
              <a:t>да проверим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bg-BG"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dirty="0" smtClean="0">
                <a:solidFill>
                  <a:srgbClr val="666666"/>
                </a:solidFill>
              </a:rPr>
              <a:t>Или извикан като метод </a:t>
            </a:r>
            <a:r>
              <a:rPr lang="en-US" dirty="0" smtClean="0">
                <a:solidFill>
                  <a:srgbClr val="666666"/>
                </a:solidFill>
              </a:rPr>
              <a:t>profile()</a:t>
            </a:r>
            <a:r>
              <a:rPr lang="bg-BG" dirty="0" smtClean="0">
                <a:solidFill>
                  <a:srgbClr val="666666"/>
                </a:solidFill>
              </a:rPr>
              <a:t> – да </a:t>
            </a:r>
            <a:r>
              <a:rPr lang="bg-BG" dirty="0" err="1" smtClean="0">
                <a:solidFill>
                  <a:srgbClr val="666666"/>
                </a:solidFill>
              </a:rPr>
              <a:t>достъпим</a:t>
            </a:r>
            <a:r>
              <a:rPr lang="bg-BG" dirty="0" smtClean="0">
                <a:solidFill>
                  <a:srgbClr val="666666"/>
                </a:solidFill>
              </a:rPr>
              <a:t> свойствата на свързания клас </a:t>
            </a:r>
            <a:r>
              <a:rPr lang="en-US" dirty="0" smtClean="0">
                <a:solidFill>
                  <a:srgbClr val="666666"/>
                </a:solidFill>
              </a:rPr>
              <a:t>Profile.</a:t>
            </a:r>
            <a:endParaRPr i="1"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666666"/>
                </a:solidFill>
              </a:rPr>
              <a:t>$profile = User::find(1)-&gt;</a:t>
            </a:r>
            <a:r>
              <a:rPr lang="en" dirty="0" smtClean="0">
                <a:solidFill>
                  <a:srgbClr val="666666"/>
                </a:solidFill>
              </a:rPr>
              <a:t>profile</a:t>
            </a:r>
            <a:r>
              <a:rPr lang="en-US" dirty="0" smtClean="0">
                <a:solidFill>
                  <a:srgbClr val="666666"/>
                </a:solidFill>
              </a:rPr>
              <a:t>()-&gt;</a:t>
            </a:r>
            <a:r>
              <a:rPr lang="en-US" dirty="0" err="1" smtClean="0">
                <a:solidFill>
                  <a:srgbClr val="666666"/>
                </a:solidFill>
              </a:rPr>
              <a:t>first_name</a:t>
            </a:r>
            <a:r>
              <a:rPr lang="en" dirty="0" smtClean="0">
                <a:solidFill>
                  <a:srgbClr val="666666"/>
                </a:solidFill>
              </a:rPr>
              <a:t>;</a:t>
            </a:r>
            <a:endParaRPr lang="bg-BG"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dirty="0">
              <a:solidFill>
                <a:srgbClr val="666666"/>
              </a:solidFill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243181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Дефиниране на обратната връзка между моделите</a:t>
            </a:r>
            <a:endParaRPr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Съществува възможност </a:t>
            </a:r>
            <a:r>
              <a:rPr lang="e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да 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достъпим профила на конкретния потребител /например, който е логнат в приложението/. </a:t>
            </a:r>
            <a:endParaRPr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-BG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За целта нека</a:t>
            </a:r>
            <a:r>
              <a:rPr lang="en" sz="1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дефинираме и връзка в </a:t>
            </a:r>
            <a:r>
              <a:rPr lang="en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Profile</a:t>
            </a:r>
            <a:r>
              <a:rPr lang="e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модела, която да сочи към потребителя, който притежава този профил</a:t>
            </a:r>
            <a:r>
              <a:rPr lang="en" sz="1400" dirty="0">
                <a:solidFill>
                  <a:schemeClr val="dk1"/>
                </a:solidFill>
              </a:rPr>
              <a:t>. 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b="1" dirty="0">
              <a:solidFill>
                <a:schemeClr val="dk1"/>
              </a:solidFill>
            </a:endParaRPr>
          </a:p>
        </p:txBody>
      </p:sp>
      <p:sp>
        <p:nvSpPr>
          <p:cNvPr id="300" name="Google Shape;300;p4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Дефинираме обратната връзка чрез методът </a:t>
            </a:r>
            <a:r>
              <a:rPr lang="en" sz="1400">
                <a:solidFill>
                  <a:srgbClr val="9933FF"/>
                </a:solidFill>
              </a:rPr>
              <a:t>belongsTo</a:t>
            </a:r>
            <a:r>
              <a:rPr lang="en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namespace App;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use Illuminate\Database\Eloquent\Model;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/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class Profile extends Model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{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/**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* Get the user that owns the profile.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*/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public function user()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{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    return $this-&gt;belongsTo('App\User');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   }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}</a:t>
            </a:r>
            <a:endParaRPr sz="14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b="1">
              <a:solidFill>
                <a:schemeClr val="dk1"/>
              </a:solidFill>
            </a:endParaRPr>
          </a:p>
        </p:txBody>
      </p:sp>
      <p:sp>
        <p:nvSpPr>
          <p:cNvPr id="307" name="Google Shape;307;p5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bg-BG" sz="1400" dirty="0" smtClean="0">
                <a:solidFill>
                  <a:schemeClr val="dk1"/>
                </a:solidFill>
              </a:rPr>
              <a:t>Получаваме възможност да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bg-BG" sz="1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-US" sz="1400" dirty="0" smtClean="0">
                <a:solidFill>
                  <a:srgbClr val="6600FF"/>
                </a:solidFill>
              </a:rPr>
              <a:t>$</a:t>
            </a:r>
            <a:r>
              <a:rPr lang="en-US" sz="1400" dirty="0" err="1" smtClean="0">
                <a:solidFill>
                  <a:srgbClr val="6600FF"/>
                </a:solidFill>
              </a:rPr>
              <a:t>profile_user</a:t>
            </a:r>
            <a:r>
              <a:rPr lang="en-US" sz="1400" dirty="0" smtClean="0">
                <a:solidFill>
                  <a:srgbClr val="6600FF"/>
                </a:solidFill>
              </a:rPr>
              <a:t> = Profile::find($id)-&gt;user()-&gt;username;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en-US" sz="1400" dirty="0">
              <a:solidFill>
                <a:srgbClr val="6600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bg-BG" sz="1400" dirty="0" err="1" smtClean="0">
                <a:solidFill>
                  <a:schemeClr val="dk1"/>
                </a:solidFill>
              </a:rPr>
              <a:t>достъпим</a:t>
            </a:r>
            <a:r>
              <a:rPr lang="bg-BG" sz="1400" dirty="0" smtClean="0">
                <a:solidFill>
                  <a:schemeClr val="dk1"/>
                </a:solidFill>
              </a:rPr>
              <a:t> всяко от свойствата на класа обекта от клас </a:t>
            </a:r>
            <a:r>
              <a:rPr lang="en-US" sz="1400" dirty="0" smtClean="0">
                <a:solidFill>
                  <a:schemeClr val="dk1"/>
                </a:solidFill>
              </a:rPr>
              <a:t>User </a:t>
            </a:r>
            <a:r>
              <a:rPr lang="bg-BG" sz="1400" dirty="0" smtClean="0">
                <a:solidFill>
                  <a:schemeClr val="dk1"/>
                </a:solidFill>
              </a:rPr>
              <a:t>през свързания обект от клас </a:t>
            </a:r>
            <a:r>
              <a:rPr lang="en-US" sz="1400" dirty="0" smtClean="0">
                <a:solidFill>
                  <a:schemeClr val="dk1"/>
                </a:solidFill>
              </a:rPr>
              <a:t>Profile.</a:t>
            </a:r>
            <a:r>
              <a:rPr lang="bg-BG" sz="1400" dirty="0" smtClean="0">
                <a:solidFill>
                  <a:schemeClr val="dk1"/>
                </a:solidFill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bg-BG" sz="14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-US" sz="1400" dirty="0" smtClean="0">
                <a:solidFill>
                  <a:srgbClr val="6600FF"/>
                </a:solidFill>
              </a:rPr>
              <a:t>$</a:t>
            </a:r>
            <a:r>
              <a:rPr lang="en-US" sz="1400" dirty="0" err="1" smtClean="0">
                <a:solidFill>
                  <a:srgbClr val="6600FF"/>
                </a:solidFill>
              </a:rPr>
              <a:t>user_first_name</a:t>
            </a:r>
            <a:r>
              <a:rPr lang="en-US" sz="1400" dirty="0" smtClean="0">
                <a:solidFill>
                  <a:srgbClr val="6600FF"/>
                </a:solidFill>
              </a:rPr>
              <a:t> = User::find($id)-&gt;profile()-&gt;</a:t>
            </a:r>
            <a:r>
              <a:rPr lang="en-US" sz="1400" dirty="0" err="1" smtClean="0">
                <a:solidFill>
                  <a:srgbClr val="6600FF"/>
                </a:solidFill>
              </a:rPr>
              <a:t>first_name</a:t>
            </a:r>
            <a:endParaRPr lang="bg-BG" sz="1400" dirty="0" smtClean="0">
              <a:solidFill>
                <a:srgbClr val="6600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bg-BG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bg-BG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Достъпим</a:t>
            </a:r>
            <a:r>
              <a:rPr lang="bg-BG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всяко от свойствата на обекта от клас </a:t>
            </a: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Profile </a:t>
            </a:r>
            <a:r>
              <a:rPr lang="bg-BG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през свързания обект от клас </a:t>
            </a:r>
            <a:r>
              <a:rPr 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User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7" name="Google Shape;307;p5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434236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 i="1" dirty="0">
                <a:solidFill>
                  <a:srgbClr val="434343"/>
                </a:solidFill>
              </a:rPr>
              <a:t>One To </a:t>
            </a:r>
            <a:r>
              <a:rPr lang="en" sz="1400" b="1" i="1" dirty="0" smtClean="0">
                <a:solidFill>
                  <a:srgbClr val="434343"/>
                </a:solidFill>
              </a:rPr>
              <a:t>Many</a:t>
            </a: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434343"/>
                </a:solidFill>
              </a:rPr>
              <a:t>Един модел е свързан/притежава/ неограничен брой други модели. </a:t>
            </a:r>
            <a:endParaRPr sz="1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434343"/>
                </a:solidFill>
              </a:rPr>
              <a:t>Например </a:t>
            </a:r>
            <a:r>
              <a:rPr lang="en" sz="1400" dirty="0" smtClean="0">
                <a:solidFill>
                  <a:srgbClr val="434343"/>
                </a:solidFill>
              </a:rPr>
              <a:t>–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 smtClean="0">
                <a:solidFill>
                  <a:srgbClr val="434343"/>
                </a:solidFill>
              </a:rPr>
              <a:t>Eдин </a:t>
            </a:r>
            <a:r>
              <a:rPr lang="en" sz="1400" dirty="0">
                <a:solidFill>
                  <a:srgbClr val="434343"/>
                </a:solidFill>
              </a:rPr>
              <a:t>пост има неограничен брой коментари. </a:t>
            </a:r>
            <a:endParaRPr sz="1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>
                <a:solidFill>
                  <a:srgbClr val="434343"/>
                </a:solidFill>
              </a:rPr>
              <a:t>Една </a:t>
            </a:r>
            <a:r>
              <a:rPr lang="en" sz="1400" dirty="0" smtClean="0">
                <a:solidFill>
                  <a:srgbClr val="434343"/>
                </a:solidFill>
              </a:rPr>
              <a:t>лекция </a:t>
            </a:r>
            <a:r>
              <a:rPr lang="en" sz="1400" dirty="0">
                <a:solidFill>
                  <a:srgbClr val="434343"/>
                </a:solidFill>
              </a:rPr>
              <a:t>има много домашни.</a:t>
            </a:r>
            <a:endParaRPr sz="1400" dirty="0">
              <a:solidFill>
                <a:srgbClr val="434343"/>
              </a:solidFill>
            </a:endParaRPr>
          </a:p>
        </p:txBody>
      </p:sp>
      <p:sp>
        <p:nvSpPr>
          <p:cNvPr id="314" name="Google Shape;314;p5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2"/>
          <p:cNvSpPr txBox="1">
            <a:spLocks noGrp="1"/>
          </p:cNvSpPr>
          <p:nvPr>
            <p:ph type="body" idx="1"/>
          </p:nvPr>
        </p:nvSpPr>
        <p:spPr>
          <a:xfrm>
            <a:off x="311700" y="1134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dirty="0">
                <a:solidFill>
                  <a:srgbClr val="434343"/>
                </a:solidFill>
              </a:rPr>
              <a:t>Дефинираме връзката чрез съответната функция в модела </a:t>
            </a:r>
            <a:r>
              <a:rPr lang="en" sz="1100" i="1" dirty="0" smtClean="0">
                <a:solidFill>
                  <a:srgbClr val="434343"/>
                </a:solidFill>
              </a:rPr>
              <a:t>- </a:t>
            </a: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class Lecture extends Model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/**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* Get the homeworks for the lecture.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*/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public function homework</a:t>
            </a:r>
            <a:r>
              <a:rPr lang="en" sz="1100" dirty="0">
                <a:solidFill>
                  <a:srgbClr val="FF0000"/>
                </a:solidFill>
              </a:rPr>
              <a:t>s</a:t>
            </a:r>
            <a:r>
              <a:rPr lang="en" sz="1100" dirty="0">
                <a:solidFill>
                  <a:srgbClr val="434343"/>
                </a:solidFill>
              </a:rPr>
              <a:t>()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{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    return $this-&gt;</a:t>
            </a:r>
            <a:r>
              <a:rPr lang="en" sz="1100" b="1" dirty="0">
                <a:solidFill>
                  <a:srgbClr val="9933FF"/>
                </a:solidFill>
              </a:rPr>
              <a:t>hasMany('App\Homework')</a:t>
            </a:r>
            <a:r>
              <a:rPr lang="en" sz="1100" dirty="0">
                <a:solidFill>
                  <a:srgbClr val="434343"/>
                </a:solidFill>
              </a:rPr>
              <a:t>;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    }</a:t>
            </a:r>
            <a:br>
              <a:rPr lang="en" sz="1100" dirty="0">
                <a:solidFill>
                  <a:srgbClr val="434343"/>
                </a:solidFill>
              </a:rPr>
            </a:br>
            <a:r>
              <a:rPr lang="en" sz="1100" dirty="0">
                <a:solidFill>
                  <a:srgbClr val="434343"/>
                </a:solidFill>
              </a:rPr>
              <a:t>}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solidFill>
                  <a:srgbClr val="9933FF"/>
                </a:solidFill>
              </a:rPr>
              <a:t>Запомнете -</a:t>
            </a:r>
            <a:r>
              <a:rPr lang="en" sz="1100" dirty="0">
                <a:solidFill>
                  <a:srgbClr val="434343"/>
                </a:solidFill>
              </a:rPr>
              <a:t> Eloquent автоматично ще определи колоната с външен ключ в модела Homework. По конвенция, Eloquent ще </a:t>
            </a:r>
            <a:r>
              <a:rPr lang="bg-BG" sz="1100" dirty="0" smtClean="0">
                <a:solidFill>
                  <a:srgbClr val="434343"/>
                </a:solidFill>
              </a:rPr>
              <a:t>вземе </a:t>
            </a:r>
            <a:r>
              <a:rPr lang="en" sz="1100" dirty="0" smtClean="0">
                <a:solidFill>
                  <a:srgbClr val="434343"/>
                </a:solidFill>
              </a:rPr>
              <a:t>името </a:t>
            </a:r>
            <a:r>
              <a:rPr lang="en" sz="1100" dirty="0">
                <a:solidFill>
                  <a:srgbClr val="434343"/>
                </a:solidFill>
              </a:rPr>
              <a:t>на съотвения модели </a:t>
            </a:r>
            <a:r>
              <a:rPr lang="bg-BG" sz="1100" dirty="0" smtClean="0">
                <a:solidFill>
                  <a:srgbClr val="434343"/>
                </a:solidFill>
              </a:rPr>
              <a:t>и </a:t>
            </a:r>
            <a:r>
              <a:rPr lang="en" sz="1100" dirty="0" smtClean="0">
                <a:solidFill>
                  <a:srgbClr val="434343"/>
                </a:solidFill>
              </a:rPr>
              <a:t>ще </a:t>
            </a:r>
            <a:r>
              <a:rPr lang="en" sz="1100" dirty="0">
                <a:solidFill>
                  <a:srgbClr val="434343"/>
                </a:solidFill>
              </a:rPr>
              <a:t>добави _id </a:t>
            </a:r>
            <a:r>
              <a:rPr lang="bg-BG" sz="1100" dirty="0" smtClean="0">
                <a:solidFill>
                  <a:srgbClr val="434343"/>
                </a:solidFill>
              </a:rPr>
              <a:t>-</a:t>
            </a:r>
            <a:r>
              <a:rPr lang="en" sz="1100" dirty="0" smtClean="0">
                <a:solidFill>
                  <a:srgbClr val="434343"/>
                </a:solidFill>
              </a:rPr>
              <a:t> </a:t>
            </a:r>
            <a:r>
              <a:rPr lang="en" sz="1100" dirty="0">
                <a:solidFill>
                  <a:srgbClr val="434343"/>
                </a:solidFill>
              </a:rPr>
              <a:t>ще търси </a:t>
            </a:r>
            <a:r>
              <a:rPr lang="en" sz="1100" dirty="0" smtClean="0">
                <a:solidFill>
                  <a:srgbClr val="434343"/>
                </a:solidFill>
              </a:rPr>
              <a:t>колона </a:t>
            </a:r>
            <a:r>
              <a:rPr lang="bg-BG" sz="1100" dirty="0" smtClean="0">
                <a:solidFill>
                  <a:srgbClr val="434343"/>
                </a:solidFill>
              </a:rPr>
              <a:t>с такова име </a:t>
            </a:r>
            <a:r>
              <a:rPr lang="en" sz="1100" dirty="0" smtClean="0">
                <a:solidFill>
                  <a:srgbClr val="434343"/>
                </a:solidFill>
              </a:rPr>
              <a:t>за </a:t>
            </a:r>
            <a:r>
              <a:rPr lang="en" sz="1100" dirty="0">
                <a:solidFill>
                  <a:srgbClr val="434343"/>
                </a:solidFill>
              </a:rPr>
              <a:t>външен ключ. 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434343"/>
                </a:solidFill>
              </a:rPr>
              <a:t>В нашия случай ще търси колоната </a:t>
            </a:r>
            <a:r>
              <a:rPr lang="en" sz="1100" b="1" dirty="0">
                <a:solidFill>
                  <a:srgbClr val="9933FF"/>
                </a:solidFill>
              </a:rPr>
              <a:t>homework_id</a:t>
            </a:r>
            <a:r>
              <a:rPr lang="en" sz="1100" dirty="0">
                <a:solidFill>
                  <a:srgbClr val="434343"/>
                </a:solidFill>
              </a:rPr>
              <a:t>.</a:t>
            </a: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i="1" dirty="0">
                <a:solidFill>
                  <a:srgbClr val="9933FF"/>
                </a:solidFill>
              </a:rPr>
              <a:t>Ако се налага да използвате имена на колони и таблици, различни от тези по подразбиране, направете справка с документацията как да направите това, така че Eloquent да разбере правилно различията!</a:t>
            </a:r>
            <a:endParaRPr sz="1100" i="1" dirty="0">
              <a:solidFill>
                <a:srgbClr val="9933FF"/>
              </a:solidFill>
            </a:endParaRPr>
          </a:p>
        </p:txBody>
      </p:sp>
      <p:sp>
        <p:nvSpPr>
          <p:cNvPr id="321" name="Google Shape;321;p5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След като сме дефинирали връзката, можем да достъпим колекцията от домашни чрез </a:t>
            </a:r>
            <a:r>
              <a:rPr lang="en" sz="1300" b="1">
                <a:solidFill>
                  <a:srgbClr val="9933FF"/>
                </a:solidFill>
              </a:rPr>
              <a:t>homeworks </a:t>
            </a:r>
            <a:r>
              <a:rPr lang="en" sz="1300">
                <a:solidFill>
                  <a:srgbClr val="434343"/>
                </a:solidFill>
              </a:rPr>
              <a:t>свойството на модела.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Благодарение на динамичните свойства на Eloquent - достъпваме методите, дефиниращи връзката като свойства на съответните модели.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9933FF"/>
                </a:solidFill>
              </a:rPr>
              <a:t>$homeworks = App\Lecture::find(1)-&gt;homeworks;</a:t>
            </a:r>
            <a:r>
              <a:rPr lang="en" sz="1300">
                <a:solidFill>
                  <a:srgbClr val="434343"/>
                </a:solidFill>
              </a:rPr>
              <a:t/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/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foreach ($homeworks as $homework) {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  //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}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328" name="Google Shape;328;p5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434343"/>
                </a:solidFill>
              </a:rPr>
              <a:t>И тъй като връзките между моделите служат за формиране на заявки, може да продължите веригата от функции като добавите ограничения към колекцията домашни, които искате да получите -</a:t>
            </a:r>
            <a:endParaRPr sz="1300"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rgbClr val="9933FF"/>
                </a:solidFill>
              </a:rPr>
              <a:t>$homeworks = App\Lecture::find(1)-&gt;homeworks()-&gt;where('column_name', 'foo')-&gt;first();</a:t>
            </a:r>
            <a:endParaRPr sz="1300" b="1" dirty="0">
              <a:solidFill>
                <a:srgbClr val="9933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300" b="1" dirty="0">
                <a:solidFill>
                  <a:schemeClr val="dk1"/>
                </a:solidFill>
              </a:rPr>
              <a:t>//</a:t>
            </a:r>
            <a:r>
              <a:rPr lang="en" sz="1300" dirty="0">
                <a:solidFill>
                  <a:srgbClr val="434343"/>
                </a:solidFill>
              </a:rPr>
              <a:t>where('column_name', 'foo') съответства на  where </a:t>
            </a:r>
            <a:r>
              <a:rPr lang="en" sz="1300" dirty="0" smtClean="0">
                <a:solidFill>
                  <a:srgbClr val="434343"/>
                </a:solidFill>
              </a:rPr>
              <a:t>column_name=foo</a:t>
            </a:r>
            <a:endParaRPr lang="bg-BG" sz="1300" dirty="0" smtClean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lang="bg-BG" sz="1300" b="1" dirty="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bg-BG" sz="1300" dirty="0" smtClean="0">
                <a:solidFill>
                  <a:srgbClr val="434343"/>
                </a:solidFill>
              </a:rPr>
              <a:t>//</a:t>
            </a:r>
            <a:r>
              <a:rPr lang="en-US" sz="1300" dirty="0" smtClean="0">
                <a:solidFill>
                  <a:srgbClr val="434343"/>
                </a:solidFill>
              </a:rPr>
              <a:t>first() </a:t>
            </a:r>
            <a:r>
              <a:rPr lang="bg-BG" sz="1300" dirty="0" smtClean="0">
                <a:solidFill>
                  <a:srgbClr val="434343"/>
                </a:solidFill>
              </a:rPr>
              <a:t>съответства на </a:t>
            </a:r>
            <a:r>
              <a:rPr lang="en-US" sz="1300" dirty="0" smtClean="0">
                <a:solidFill>
                  <a:srgbClr val="434343"/>
                </a:solidFill>
              </a:rPr>
              <a:t>LIMIT 1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335" name="Google Shape;335;p5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One To Many (обратна връзка)</a:t>
            </a:r>
            <a:endParaRPr sz="13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Вече имаме достъп до домашните на всяка лекция. Следва да дефинираме обратната връзка - да позволим достъпа до лекцията, към която всяко домашно е свързано.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За да дефинираме обратната на hasMany връзка, извикваме метода belongsTo в модела, който искаме да свържем /Homework/:</a:t>
            </a:r>
            <a:endParaRPr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342" name="Google Shape;342;p5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6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namespace App;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/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use Illuminate\Database\Eloquent\Model;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/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class Homework extends Model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{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/**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* Get the lecture that owns the homework.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*/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public function </a:t>
            </a:r>
            <a:r>
              <a:rPr lang="en" sz="1100" dirty="0">
                <a:solidFill>
                  <a:srgbClr val="FF0000"/>
                </a:solidFill>
              </a:rPr>
              <a:t>lecture()//в единствено число!!</a:t>
            </a:r>
            <a:r>
              <a:rPr lang="en" sz="1100" dirty="0">
                <a:solidFill>
                  <a:schemeClr val="dk1"/>
                </a:solidFill>
              </a:rPr>
              <a:t/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{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    return $this-&gt;belongsTo(</a:t>
            </a:r>
            <a:r>
              <a:rPr lang="en" sz="1100" dirty="0" smtClean="0">
                <a:solidFill>
                  <a:schemeClr val="dk1"/>
                </a:solidFill>
              </a:rPr>
              <a:t>'App\Lecture');</a:t>
            </a:r>
            <a:r>
              <a:rPr lang="en" sz="1100" dirty="0">
                <a:solidFill>
                  <a:schemeClr val="dk1"/>
                </a:solidFill>
              </a:rPr>
              <a:t/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    }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}</a:t>
            </a:r>
            <a:endParaRPr sz="11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</p:txBody>
      </p:sp>
      <p:sp>
        <p:nvSpPr>
          <p:cNvPr id="349" name="Google Shape;349;p5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Сега </a:t>
            </a:r>
            <a:r>
              <a:rPr lang="en" sz="1100" dirty="0" smtClean="0">
                <a:solidFill>
                  <a:schemeClr val="dk1"/>
                </a:solidFill>
              </a:rPr>
              <a:t>имаме достъп </a:t>
            </a:r>
            <a:r>
              <a:rPr lang="bg-BG" sz="1100" dirty="0" smtClean="0">
                <a:solidFill>
                  <a:schemeClr val="dk1"/>
                </a:solidFill>
              </a:rPr>
              <a:t>и</a:t>
            </a:r>
            <a:r>
              <a:rPr lang="en" sz="1100" dirty="0" smtClean="0">
                <a:solidFill>
                  <a:schemeClr val="dk1"/>
                </a:solidFill>
              </a:rPr>
              <a:t> </a:t>
            </a:r>
            <a:r>
              <a:rPr lang="en" sz="1100" dirty="0">
                <a:solidFill>
                  <a:schemeClr val="dk1"/>
                </a:solidFill>
              </a:rPr>
              <a:t>до лекцията, чрез lecture динамичното свойство на homework.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$homework = App\Homework::find(1);</a:t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/>
            </a:r>
            <a:br>
              <a:rPr lang="en" sz="1100" dirty="0">
                <a:solidFill>
                  <a:schemeClr val="dk1"/>
                </a:solidFill>
              </a:rPr>
            </a:br>
            <a:r>
              <a:rPr lang="en" sz="1100" dirty="0">
                <a:solidFill>
                  <a:schemeClr val="dk1"/>
                </a:solidFill>
              </a:rPr>
              <a:t>echo $homework-&gt;</a:t>
            </a:r>
            <a:r>
              <a:rPr lang="en" sz="1100" dirty="0" smtClean="0">
                <a:solidFill>
                  <a:schemeClr val="dk1"/>
                </a:solidFill>
              </a:rPr>
              <a:t>lecture</a:t>
            </a:r>
            <a:r>
              <a:rPr lang="en-US" sz="1100" dirty="0" smtClean="0">
                <a:solidFill>
                  <a:schemeClr val="dk1"/>
                </a:solidFill>
              </a:rPr>
              <a:t>()</a:t>
            </a:r>
            <a:r>
              <a:rPr lang="en" sz="1100" dirty="0" smtClean="0">
                <a:solidFill>
                  <a:schemeClr val="dk1"/>
                </a:solidFill>
              </a:rPr>
              <a:t>-&gt;</a:t>
            </a:r>
            <a:r>
              <a:rPr lang="en" sz="1100" dirty="0">
                <a:solidFill>
                  <a:schemeClr val="dk1"/>
                </a:solidFill>
              </a:rPr>
              <a:t>name;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Eloquent ще свърже lecture_id от Homework модела с id от Lecture модела.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</a:rPr>
              <a:t>Eloquent определя външния ключ като добавя към името на модела посочен във връзката-метод _id - 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 b="1" dirty="0">
                <a:solidFill>
                  <a:srgbClr val="9933FF"/>
                </a:solidFill>
              </a:rPr>
              <a:t>Lecture -&gt; lecture + _id = lecture_id</a:t>
            </a:r>
            <a:endParaRPr sz="1100" b="1" dirty="0">
              <a:solidFill>
                <a:srgbClr val="9933FF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300" b="1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356" name="Google Shape;356;p5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Eloquent Relationships</a:t>
            </a:r>
            <a:endParaRPr sz="30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Допълнете липсващите методи дефиниращи всички връзки между моделите 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 dirty="0">
                <a:solidFill>
                  <a:schemeClr val="dk1"/>
                </a:solidFill>
              </a:rPr>
              <a:t>User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 dirty="0">
                <a:solidFill>
                  <a:schemeClr val="dk1"/>
                </a:solidFill>
              </a:rPr>
              <a:t>Profile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 dirty="0" smtClean="0">
                <a:solidFill>
                  <a:schemeClr val="dk1"/>
                </a:solidFill>
              </a:rPr>
              <a:t>Module</a:t>
            </a:r>
            <a:endParaRPr sz="1300" dirty="0">
              <a:solidFill>
                <a:schemeClr val="dk1"/>
              </a:solidFill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 dirty="0">
                <a:solidFill>
                  <a:schemeClr val="dk1"/>
                </a:solidFill>
              </a:rPr>
              <a:t>L</a:t>
            </a:r>
            <a:r>
              <a:rPr lang="en" sz="1300" dirty="0" smtClean="0">
                <a:solidFill>
                  <a:schemeClr val="dk1"/>
                </a:solidFill>
              </a:rPr>
              <a:t>ecture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Разрешете колоните, в които потребителите ще работят със записите</a:t>
            </a:r>
            <a:r>
              <a:rPr lang="en" sz="1300" dirty="0" smtClean="0">
                <a:solidFill>
                  <a:schemeClr val="dk1"/>
                </a:solidFill>
              </a:rPr>
              <a:t>.</a:t>
            </a: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bg-BG" sz="1300" dirty="0" smtClean="0">
                <a:solidFill>
                  <a:schemeClr val="dk1"/>
                </a:solidFill>
              </a:rPr>
              <a:t>Приложението ви трябва да притежава страници </a:t>
            </a: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sz="1200" dirty="0">
                <a:solidFill>
                  <a:schemeClr val="dk1"/>
                </a:solidFill>
              </a:rPr>
              <a:t>Профил на потребителя</a:t>
            </a: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sz="1200" dirty="0">
                <a:solidFill>
                  <a:schemeClr val="dk1"/>
                </a:solidFill>
              </a:rPr>
              <a:t>Списък с </a:t>
            </a:r>
            <a:r>
              <a:rPr lang="bg-BG" sz="1200" dirty="0" smtClean="0">
                <a:solidFill>
                  <a:schemeClr val="dk1"/>
                </a:solidFill>
              </a:rPr>
              <a:t>модули</a:t>
            </a:r>
            <a:endParaRPr lang="bg-BG" sz="1200" dirty="0">
              <a:solidFill>
                <a:schemeClr val="dk1"/>
              </a:solidFill>
            </a:endParaRP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sz="1200" dirty="0">
                <a:solidFill>
                  <a:schemeClr val="dk1"/>
                </a:solidFill>
              </a:rPr>
              <a:t>Списък с </a:t>
            </a:r>
            <a:r>
              <a:rPr lang="bg-BG" sz="1200" dirty="0" smtClean="0">
                <a:solidFill>
                  <a:schemeClr val="dk1"/>
                </a:solidFill>
              </a:rPr>
              <a:t>лекции към всеки модул</a:t>
            </a:r>
            <a:endParaRPr lang="bg-BG" sz="900" dirty="0">
              <a:solidFill>
                <a:schemeClr val="dk1"/>
              </a:solidFill>
            </a:endParaRPr>
          </a:p>
          <a:p>
            <a:pPr marL="603250" lvl="1" indent="0">
              <a:spcBef>
                <a:spcPts val="0"/>
              </a:spcBef>
              <a:buClr>
                <a:schemeClr val="dk1"/>
              </a:buClr>
              <a:buSzPts val="1300"/>
            </a:pPr>
            <a:r>
              <a:rPr lang="bg-BG" dirty="0">
                <a:solidFill>
                  <a:schemeClr val="dk1"/>
                </a:solidFill>
              </a:rPr>
              <a:t>Допълнете липсващите </a:t>
            </a:r>
            <a:r>
              <a:rPr lang="bg-BG" dirty="0" err="1">
                <a:solidFill>
                  <a:schemeClr val="dk1"/>
                </a:solidFill>
              </a:rPr>
              <a:t>вюта</a:t>
            </a:r>
            <a:r>
              <a:rPr lang="bg-BG" dirty="0">
                <a:solidFill>
                  <a:schemeClr val="dk1"/>
                </a:solidFill>
              </a:rPr>
              <a:t> и методи в контролерите /ако има такива</a:t>
            </a:r>
            <a:r>
              <a:rPr lang="bg-BG" dirty="0" smtClean="0">
                <a:solidFill>
                  <a:schemeClr val="dk1"/>
                </a:solidFill>
              </a:rPr>
              <a:t>/</a:t>
            </a:r>
            <a:endParaRPr lang="bg-BG" sz="1300" dirty="0" smtClean="0">
              <a:solidFill>
                <a:schemeClr val="dk1"/>
              </a:solidFill>
            </a:endParaRPr>
          </a:p>
          <a:p>
            <a: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bg-BG" sz="1300" dirty="0" smtClean="0">
                <a:solidFill>
                  <a:schemeClr val="dk1"/>
                </a:solidFill>
              </a:rPr>
              <a:t>Отпечатайте информация на съответните страници</a:t>
            </a: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dirty="0">
                <a:solidFill>
                  <a:schemeClr val="dk1"/>
                </a:solidFill>
              </a:rPr>
              <a:t>Профил на </a:t>
            </a:r>
            <a:r>
              <a:rPr lang="bg-BG" dirty="0" smtClean="0">
                <a:solidFill>
                  <a:schemeClr val="dk1"/>
                </a:solidFill>
              </a:rPr>
              <a:t>потребителя</a:t>
            </a: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dirty="0" smtClean="0">
                <a:solidFill>
                  <a:schemeClr val="dk1"/>
                </a:solidFill>
              </a:rPr>
              <a:t>Списък с модулите</a:t>
            </a:r>
            <a:endParaRPr lang="bg-BG" dirty="0">
              <a:solidFill>
                <a:schemeClr val="dk1"/>
              </a:solidFill>
            </a:endParaRP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Font typeface="Wingdings" panose="05000000000000000000" pitchFamily="2" charset="2"/>
              <a:buChar char="§"/>
            </a:pPr>
            <a:r>
              <a:rPr lang="bg-BG" dirty="0">
                <a:solidFill>
                  <a:schemeClr val="dk1"/>
                </a:solidFill>
              </a:rPr>
              <a:t>Списък с </a:t>
            </a:r>
            <a:r>
              <a:rPr lang="bg-BG" dirty="0" smtClean="0">
                <a:solidFill>
                  <a:schemeClr val="dk1"/>
                </a:solidFill>
              </a:rPr>
              <a:t>лекции към модул с </a:t>
            </a:r>
            <a:r>
              <a:rPr lang="bg-BG" dirty="0" err="1" smtClean="0">
                <a:solidFill>
                  <a:schemeClr val="dk1"/>
                </a:solidFill>
              </a:rPr>
              <a:t>ид</a:t>
            </a:r>
            <a:r>
              <a:rPr lang="bg-BG" dirty="0" smtClean="0">
                <a:solidFill>
                  <a:schemeClr val="dk1"/>
                </a:solidFill>
              </a:rPr>
              <a:t> 1</a:t>
            </a:r>
            <a:endParaRPr lang="bg-BG" dirty="0">
              <a:solidFill>
                <a:schemeClr val="dk1"/>
              </a:solidFill>
            </a:endParaRP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AutoNum type="arabicPeriod"/>
            </a:pPr>
            <a:endParaRPr lang="bg-BG" sz="900" dirty="0" smtClean="0">
              <a:solidFill>
                <a:schemeClr val="dk1"/>
              </a:solidFill>
            </a:endParaRPr>
          </a:p>
          <a:p>
            <a:pPr lvl="1" indent="-311150">
              <a:spcBef>
                <a:spcPts val="0"/>
              </a:spcBef>
              <a:buClr>
                <a:schemeClr val="dk1"/>
              </a:buClr>
              <a:buSzPts val="1300"/>
              <a:buAutoNum type="arabicPeriod"/>
            </a:pPr>
            <a:endParaRPr sz="9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369" name="Google Shape;369;p5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744589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9"/>
          <p:cNvSpPr txBox="1">
            <a:spLocks noGrp="1"/>
          </p:cNvSpPr>
          <p:nvPr>
            <p:ph type="body" idx="1"/>
          </p:nvPr>
        </p:nvSpPr>
        <p:spPr>
          <a:xfrm>
            <a:off x="1095825" y="960375"/>
            <a:ext cx="75762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lvl="0" indent="0">
              <a:buClr>
                <a:schemeClr val="dk1"/>
              </a:buClr>
              <a:buSzPts val="1300"/>
            </a:pPr>
            <a:r>
              <a:rPr lang="en-US" sz="1300" dirty="0" smtClean="0">
                <a:solidFill>
                  <a:schemeClr val="dk1"/>
                </a:solidFill>
              </a:rPr>
              <a:t>6</a:t>
            </a:r>
            <a:r>
              <a:rPr lang="en-US" sz="1300" dirty="0" smtClean="0">
                <a:solidFill>
                  <a:schemeClr val="dk1"/>
                </a:solidFill>
              </a:rPr>
              <a:t>. </a:t>
            </a:r>
            <a:r>
              <a:rPr lang="bg-BG" sz="1300" dirty="0" smtClean="0">
                <a:solidFill>
                  <a:schemeClr val="dk1"/>
                </a:solidFill>
              </a:rPr>
              <a:t>Добавете модел и миграция за Курс. Приемаме, че в нашите курсове няма модули, принадлежащи на няколко курса.</a:t>
            </a: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dirty="0" smtClean="0">
                <a:solidFill>
                  <a:schemeClr val="dk1"/>
                </a:solidFill>
              </a:rPr>
              <a:t>7. Дефинирайте връзките между Курс и Модул.</a:t>
            </a: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dirty="0" smtClean="0">
                <a:solidFill>
                  <a:schemeClr val="dk1"/>
                </a:solidFill>
              </a:rPr>
              <a:t>8. Създайте контролер за Курс и отпечатайте във вю списък с наличните курсове.</a:t>
            </a: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dirty="0" smtClean="0">
                <a:solidFill>
                  <a:schemeClr val="dk1"/>
                </a:solidFill>
              </a:rPr>
              <a:t>9. </a:t>
            </a:r>
            <a:r>
              <a:rPr lang="bg-BG" sz="1300" dirty="0" smtClean="0">
                <a:solidFill>
                  <a:schemeClr val="dk1"/>
                </a:solidFill>
              </a:rPr>
              <a:t>Отпечатайте модулите, които принадлежат на курс с </a:t>
            </a:r>
            <a:r>
              <a:rPr lang="bg-BG" sz="1300" dirty="0" err="1" smtClean="0">
                <a:solidFill>
                  <a:schemeClr val="dk1"/>
                </a:solidFill>
              </a:rPr>
              <a:t>ид</a:t>
            </a:r>
            <a:r>
              <a:rPr lang="bg-BG" sz="1300" dirty="0" smtClean="0">
                <a:solidFill>
                  <a:schemeClr val="dk1"/>
                </a:solidFill>
              </a:rPr>
              <a:t>=1</a:t>
            </a: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dirty="0" smtClean="0">
                <a:solidFill>
                  <a:schemeClr val="dk1"/>
                </a:solidFill>
              </a:rPr>
              <a:t>10. Списъците – курсове, модули, лекции да се достъпват с бутони.</a:t>
            </a:r>
            <a:r>
              <a:rPr lang="en-US" sz="1300" dirty="0" smtClean="0">
                <a:solidFill>
                  <a:schemeClr val="dk1"/>
                </a:solidFill>
              </a:rPr>
              <a:t> </a:t>
            </a:r>
            <a:endParaRPr lang="bg-BG" sz="1300" dirty="0" smtClean="0">
              <a:solidFill>
                <a:schemeClr val="dk1"/>
              </a:solidFill>
            </a:endParaRP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dirty="0" smtClean="0">
                <a:solidFill>
                  <a:schemeClr val="dk1"/>
                </a:solidFill>
              </a:rPr>
              <a:t>11. </a:t>
            </a:r>
            <a:r>
              <a:rPr lang="bg-BG" sz="1300" dirty="0" smtClean="0">
                <a:solidFill>
                  <a:schemeClr val="dk1"/>
                </a:solidFill>
              </a:rPr>
              <a:t>Каква </a:t>
            </a:r>
            <a:r>
              <a:rPr lang="bg-BG" sz="1300" dirty="0" smtClean="0">
                <a:solidFill>
                  <a:schemeClr val="dk1"/>
                </a:solidFill>
              </a:rPr>
              <a:t>е връзката ниво-курсист. Дефинирайте в съответните модели с помощта на </a:t>
            </a:r>
            <a:r>
              <a:rPr lang="en-US" sz="1300" dirty="0" err="1" smtClean="0">
                <a:solidFill>
                  <a:schemeClr val="dk1"/>
                </a:solidFill>
              </a:rPr>
              <a:t>Laravel</a:t>
            </a:r>
            <a:r>
              <a:rPr lang="en-US" sz="1300" dirty="0" smtClean="0">
                <a:solidFill>
                  <a:schemeClr val="dk1"/>
                </a:solidFill>
              </a:rPr>
              <a:t> </a:t>
            </a:r>
            <a:r>
              <a:rPr lang="en-US" sz="1300" dirty="0" smtClean="0">
                <a:solidFill>
                  <a:schemeClr val="dk1"/>
                </a:solidFill>
              </a:rPr>
              <a:t>Eloquent</a:t>
            </a:r>
            <a:r>
              <a:rPr lang="bg-BG" sz="1300" dirty="0" smtClean="0">
                <a:solidFill>
                  <a:schemeClr val="dk1"/>
                </a:solidFill>
              </a:rPr>
              <a:t>. Отпечатайте курсовете, в които участва курсист с </a:t>
            </a:r>
            <a:r>
              <a:rPr lang="bg-BG" sz="1300" dirty="0" err="1" smtClean="0">
                <a:solidFill>
                  <a:schemeClr val="dk1"/>
                </a:solidFill>
              </a:rPr>
              <a:t>ид</a:t>
            </a:r>
            <a:r>
              <a:rPr lang="bg-BG" sz="1300" dirty="0" smtClean="0">
                <a:solidFill>
                  <a:schemeClr val="dk1"/>
                </a:solidFill>
              </a:rPr>
              <a:t>=1. /Един курсист може да участва в няколко курса/.</a:t>
            </a:r>
          </a:p>
          <a:p>
            <a:pPr marL="146050" lvl="0" indent="0">
              <a:buClr>
                <a:schemeClr val="dk1"/>
              </a:buClr>
              <a:buSzPts val="1300"/>
            </a:pPr>
            <a:endParaRPr lang="bg-BG" sz="1300" dirty="0">
              <a:solidFill>
                <a:schemeClr val="dk1"/>
              </a:solidFill>
            </a:endParaRPr>
          </a:p>
          <a:p>
            <a:pPr marL="146050" lvl="0" indent="0">
              <a:buClr>
                <a:schemeClr val="dk1"/>
              </a:buClr>
              <a:buSzPts val="1300"/>
            </a:pPr>
            <a:r>
              <a:rPr lang="bg-BG" sz="1300" i="1" dirty="0" smtClean="0">
                <a:solidFill>
                  <a:schemeClr val="dk1"/>
                </a:solidFill>
              </a:rPr>
              <a:t>*Забележка</a:t>
            </a:r>
            <a:r>
              <a:rPr lang="bg-BG" sz="1300" dirty="0" smtClean="0">
                <a:solidFill>
                  <a:schemeClr val="dk1"/>
                </a:solidFill>
              </a:rPr>
              <a:t> </a:t>
            </a:r>
            <a:r>
              <a:rPr lang="bg-BG" sz="1300" dirty="0">
                <a:solidFill>
                  <a:schemeClr val="dk1"/>
                </a:solidFill>
              </a:rPr>
              <a:t>Д</a:t>
            </a:r>
            <a:r>
              <a:rPr lang="bg-BG" sz="1300" dirty="0" smtClean="0">
                <a:solidFill>
                  <a:schemeClr val="dk1"/>
                </a:solidFill>
              </a:rPr>
              <a:t>анните въвеждайте ръчно в БД.</a:t>
            </a:r>
            <a:endParaRPr lang="bg-BG" sz="1300" dirty="0" smtClean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369" name="Google Shape;369;p5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912933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1264</Words>
  <Application>Microsoft Office PowerPoint</Application>
  <PresentationFormat>Презентация на цял екран (16:9)</PresentationFormat>
  <Paragraphs>195</Paragraphs>
  <Slides>30</Slides>
  <Notes>30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30</vt:i4>
      </vt:variant>
    </vt:vector>
  </HeadingPairs>
  <TitlesOfParts>
    <vt:vector size="35" baseType="lpstr">
      <vt:lpstr>Arial</vt:lpstr>
      <vt:lpstr>Wingdings</vt:lpstr>
      <vt:lpstr>Syncopate</vt:lpstr>
      <vt:lpstr>Calibri</vt:lpstr>
      <vt:lpstr>simple-light-2</vt:lpstr>
      <vt:lpstr>web разработка</vt:lpstr>
      <vt:lpstr>Презентация на PowerPoint</vt:lpstr>
      <vt:lpstr>Презентация на PowerPoint</vt:lpstr>
      <vt:lpstr> Laravel Eloquent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protected $fillable</vt:lpstr>
      <vt:lpstr>Презентация на PowerPoint</vt:lpstr>
      <vt:lpstr>Презентация на PowerPoint</vt:lpstr>
      <vt:lpstr>Eloquent Relationships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17</cp:revision>
  <dcterms:modified xsi:type="dcterms:W3CDTF">2019-10-06T13:08:24Z</dcterms:modified>
</cp:coreProperties>
</file>