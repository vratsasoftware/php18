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4"/>
  </p:notesMasterIdLst>
  <p:sldIdLst>
    <p:sldId id="256" r:id="rId2"/>
    <p:sldId id="257" r:id="rId3"/>
    <p:sldId id="258" r:id="rId4"/>
    <p:sldId id="277" r:id="rId5"/>
    <p:sldId id="278" r:id="rId6"/>
    <p:sldId id="279" r:id="rId7"/>
    <p:sldId id="280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  <p:sldId id="290" r:id="rId17"/>
    <p:sldId id="291" r:id="rId18"/>
    <p:sldId id="304" r:id="rId19"/>
    <p:sldId id="292" r:id="rId20"/>
    <p:sldId id="293" r:id="rId21"/>
    <p:sldId id="30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2" r:id="rId30"/>
    <p:sldId id="301" r:id="rId31"/>
    <p:sldId id="305" r:id="rId32"/>
    <p:sldId id="306" r:id="rId33"/>
  </p:sldIdLst>
  <p:sldSz cx="9144000" cy="5143500" type="screen16x9"/>
  <p:notesSz cx="6858000" cy="9144000"/>
  <p:embeddedFontLst>
    <p:embeddedFont>
      <p:font typeface="Syncopate" panose="020B0604020202020204" charset="0"/>
      <p:regular r:id="rId35"/>
      <p:bold r:id="rId36"/>
    </p:embeddedFont>
    <p:embeddedFont>
      <p:font typeface="Calibri" panose="020F0502020204030204" pitchFamily="3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riel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6" d="100"/>
          <a:sy n="116" d="100"/>
        </p:scale>
        <p:origin x="-413" y="5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-3096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635486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4e5cded1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" name="Google Shape;68;g24e5cded1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6e22502e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" name="Google Shape;209;g236e22502e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37403e67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37403e67d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36e22502e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36e22502e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37403e67d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9" name="Google Shape;249;g237403e67d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4df0a5d2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g24df0a5d2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236e22502e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" name="Google Shape;268;g236e22502e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36e22502e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g236e22502e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7403e67d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2" name="Google Shape;282;g237403e67d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6e22502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236e22502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6e22502e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236e22502e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36e22502e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g236e22502e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37403e67d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237403e67d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36e22502e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g236e22502e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37531641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7" name="Google Shape;317;g237531641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36e22502e_0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g236e22502e_0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37531641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1" name="Google Shape;331;g237531641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36e22502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g236e22502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237531641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5" name="Google Shape;345;g237531641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37531641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2" name="Google Shape;352;g237531641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375316413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g2375316413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7403e67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6" name="Google Shape;366;g237403e67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599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8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7999" cy="7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7999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4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199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4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199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21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/>
          </p:nvPr>
        </p:nvSpPr>
        <p:spPr>
          <a:xfrm>
            <a:off x="311700" y="1106125"/>
            <a:ext cx="8520599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2pPr>
            <a:lvl3pPr lvl="2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3pPr>
            <a:lvl4pPr lvl="3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4pPr>
            <a:lvl5pPr lvl="4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5pPr>
            <a:lvl6pPr lvl="5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6pPr>
            <a:lvl7pPr lvl="6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7pPr>
            <a:lvl8pPr lvl="7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8pPr>
            <a:lvl9pPr lvl="8" indent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599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ctr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7" y="4663216"/>
            <a:ext cx="548699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4/database#configur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5/migration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laravel.com/docs/5.4/eloquent-relationships#many-to-many" TargetMode="External"/><Relationship Id="rId13" Type="http://schemas.openxmlformats.org/officeDocument/2006/relationships/hyperlink" Target="https://laravel.com/docs/5.5/eloquent-relationships#many-to-many-polymorphic-relations" TargetMode="External"/><Relationship Id="rId3" Type="http://schemas.openxmlformats.org/officeDocument/2006/relationships/hyperlink" Target="https://laravel.com/docs/5.5/eloquent-relationships#one-to-one" TargetMode="External"/><Relationship Id="rId7" Type="http://schemas.openxmlformats.org/officeDocument/2006/relationships/hyperlink" Target="https://laravel.com/docs/5.5/eloquent-relationships#many-to-many" TargetMode="External"/><Relationship Id="rId12" Type="http://schemas.openxmlformats.org/officeDocument/2006/relationships/hyperlink" Target="https://laravel.com/docs/5.4/eloquent-relationships#polymorphic-relation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aravel.com/docs/5.4/eloquent-relationships#one-to-many" TargetMode="External"/><Relationship Id="rId11" Type="http://schemas.openxmlformats.org/officeDocument/2006/relationships/hyperlink" Target="https://laravel.com/docs/5.5/eloquent-relationships#polymorphic-relations" TargetMode="External"/><Relationship Id="rId5" Type="http://schemas.openxmlformats.org/officeDocument/2006/relationships/hyperlink" Target="https://laravel.com/docs/5.5/eloquent-relationships#one-to-many" TargetMode="External"/><Relationship Id="rId10" Type="http://schemas.openxmlformats.org/officeDocument/2006/relationships/hyperlink" Target="https://laravel.com/docs/5.4/eloquent-relationships#has-many-through" TargetMode="External"/><Relationship Id="rId4" Type="http://schemas.openxmlformats.org/officeDocument/2006/relationships/hyperlink" Target="https://laravel.com/docs/5.4/eloquent-relationships#one-to-one" TargetMode="External"/><Relationship Id="rId9" Type="http://schemas.openxmlformats.org/officeDocument/2006/relationships/hyperlink" Target="https://laravel.com/docs/5.5/eloquent-relationships#has-many-through" TargetMode="External"/><Relationship Id="rId14" Type="http://schemas.openxmlformats.org/officeDocument/2006/relationships/hyperlink" Target="https://laravel.com/docs/5.4/eloquent-relationships#many-to-many-polymorphic-relations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aravel.com/docs/5.4/eloquent-relationships#updating-many-to-many-relationships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-24225" y="2850900"/>
            <a:ext cx="9168299" cy="22925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599" cy="20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Syncopate"/>
              <a:buNone/>
            </a:pPr>
            <a:r>
              <a:rPr lang="en" sz="3600" b="1" i="0" u="none" strike="noStrike" cap="none">
                <a:solidFill>
                  <a:srgbClr val="8BC34A"/>
                </a:solidFill>
                <a:latin typeface="Syncopate"/>
                <a:ea typeface="Syncopate"/>
                <a:cs typeface="Syncopate"/>
                <a:sym typeface="Syncopate"/>
              </a:rPr>
              <a:t>web разработка</a:t>
            </a:r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599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Models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3600" b="1" dirty="0" smtClean="0">
                <a:solidFill>
                  <a:srgbClr val="FFFFFF"/>
                </a:solidFill>
              </a:rPr>
              <a:t>Eloquent</a:t>
            </a:r>
            <a:endParaRPr sz="3600" b="1" dirty="0">
              <a:solidFill>
                <a:srgbClr val="FFFFFF"/>
              </a:solidFill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1362" y="497376"/>
            <a:ext cx="2981277" cy="12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-60750" y="4860300"/>
            <a:ext cx="9265500" cy="28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Font typeface="Arial"/>
              <a:buNone/>
            </a:pP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Милена Томова - НПО ВРАЦА СОФТУЕР ОБЩЕСТВО - КУРС Уеб Разработка- 11.201</a:t>
            </a:r>
            <a:r>
              <a:rPr lang="en" b="1">
                <a:solidFill>
                  <a:srgbClr val="CCCCCC"/>
                </a:solidFill>
              </a:rPr>
              <a:t>8</a:t>
            </a:r>
            <a:r>
              <a:rPr lang="en" sz="1400" b="1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 - ВЕРСИЯ </a:t>
            </a:r>
            <a:r>
              <a:rPr lang="en" b="1">
                <a:solidFill>
                  <a:srgbClr val="CCCCCC"/>
                </a:solidFill>
              </a:rPr>
              <a:t>6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Laravel </a:t>
            </a:r>
            <a:r>
              <a:rPr lang="en" dirty="0"/>
              <a:t>Eloquent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one-to-one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one-to-many</a:t>
            </a:r>
            <a:endParaRPr dirty="0"/>
          </a:p>
          <a:p>
            <a:pPr marL="0" marR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many-to-many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Съдържание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en" dirty="0">
                <a:solidFill>
                  <a:srgbClr val="0070C0"/>
                </a:solidFill>
              </a:rPr>
              <a:t>Направете проект на база данни за проекта </a:t>
            </a:r>
            <a:endParaRPr lang="en" dirty="0" smtClean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ⱱ"/>
            </a:pPr>
            <a:r>
              <a:rPr lang="bg-BG" dirty="0" smtClean="0">
                <a:solidFill>
                  <a:srgbClr val="0070C0"/>
                </a:solidFill>
              </a:rPr>
              <a:t>Добавете базата данни в </a:t>
            </a:r>
            <a:r>
              <a:rPr lang="en-US" dirty="0" err="1" smtClean="0">
                <a:solidFill>
                  <a:srgbClr val="0070C0"/>
                </a:solidFill>
              </a:rPr>
              <a:t>phpMyAdmin</a:t>
            </a:r>
            <a:endParaRPr dirty="0">
              <a:solidFill>
                <a:srgbClr val="0070C0"/>
              </a:solidFill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Създайте два вида потребители - Администратор и Ученик.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профила на потребителя на страница Профил.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Отпечатайте поставените теми за домашно, които Администраторът на сайта е добавил.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Добавете функционалност за регистрация/логин на потребителя.</a:t>
            </a:r>
            <a:endParaRPr dirty="0"/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dirty="0"/>
              <a:t>Всички потребители по подразбиране се добавят като ученици. Има един администратор на сайта, чиято роля е посочена директно в базата данни.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-1143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b="0" i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1155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/>
          </a:p>
        </p:txBody>
      </p:sp>
    </p:spTree>
  </p:cSld>
  <p:clrMapOvr>
    <a:masterClrMapping/>
  </p:clrMapOvr>
  <p:transition spd="slow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3AB7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4"/>
          <p:cNvSpPr txBox="1">
            <a:spLocks noGrp="1"/>
          </p:cNvSpPr>
          <p:nvPr>
            <p:ph type="title"/>
          </p:nvPr>
        </p:nvSpPr>
        <p:spPr>
          <a:xfrm>
            <a:off x="246350" y="1872342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Laravel Eloquent</a:t>
            </a: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endParaRPr sz="30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5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Eloquent ORM/object relational mapping/, включен в Ларавел, предоставя елегантен и лесен начин за работа с базата данни. 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Всяка таблица от базата данни притежава свой Модел, който се използва за взаимодействие с нея.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Моделите ви позволват да четете, променяте и добавяте нова информация в таблиците в БД.</a:t>
            </a: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Преди всичко се уверете, че сте конфигурирали връзката с базата данни в config/database.php. </a:t>
            </a:r>
            <a:endParaRPr sz="12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i="1" dirty="0">
                <a:solidFill>
                  <a:schemeClr val="dk1"/>
                </a:solidFill>
              </a:rPr>
              <a:t>За повече информация относно конфигурирането на вашата база данни направете справка с </a:t>
            </a:r>
            <a:r>
              <a:rPr lang="en" sz="1200" i="1" u="sng" dirty="0">
                <a:solidFill>
                  <a:schemeClr val="hlink"/>
                </a:solidFill>
                <a:hlinkClick r:id="rId3"/>
              </a:rPr>
              <a:t>документацията на Ларавел</a:t>
            </a:r>
            <a:r>
              <a:rPr lang="en" sz="1200" i="1" dirty="0">
                <a:solidFill>
                  <a:schemeClr val="dk1"/>
                </a:solidFill>
              </a:rPr>
              <a:t>.</a:t>
            </a:r>
            <a:r>
              <a:rPr lang="en" sz="1200" i="1" dirty="0">
                <a:solidFill>
                  <a:schemeClr val="dk1"/>
                </a:solidFill>
                <a:uFill>
                  <a:noFill/>
                </a:uFill>
                <a:hlinkClick r:id="rId3"/>
              </a:rPr>
              <a:t> </a:t>
            </a:r>
            <a:endParaRPr sz="1200" i="1" dirty="0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6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Като начало да създадем Eloquent модел.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Моделите обикновено се разполагат в директорията app.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Всички Eloquent модели наследяват lluminate\Database\Eloquent\Model class.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Най-лесния начин да създадете модел е чрез командата 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>
                <a:solidFill>
                  <a:srgbClr val="351C75"/>
                </a:solidFill>
              </a:rPr>
              <a:t>php artisan make:model ИметоНаМодела</a:t>
            </a:r>
            <a:endParaRPr sz="1400" b="1">
              <a:solidFill>
                <a:srgbClr val="351C75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212" name="Google Shape;212;p3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7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Ако искате да генерирате и файл миграция за базата данни, може да добавите опцията --migration или -m option: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rgbClr val="674EA7"/>
                </a:solidFill>
              </a:rPr>
              <a:t>php artisan make:model ИметоНаМодела --migration</a:t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/>
            </a:r>
            <a:br>
              <a:rPr lang="en" sz="1400" b="1" dirty="0">
                <a:solidFill>
                  <a:srgbClr val="674EA7"/>
                </a:solidFill>
              </a:rPr>
            </a:br>
            <a:r>
              <a:rPr lang="en" sz="1400" b="1" dirty="0">
                <a:solidFill>
                  <a:srgbClr val="674EA7"/>
                </a:solidFill>
              </a:rPr>
              <a:t>php artisan make:model ИметоНаМодела -m</a:t>
            </a:r>
            <a:endParaRPr sz="1400" b="1" dirty="0">
              <a:solidFill>
                <a:srgbClr val="674EA7"/>
              </a:solidFill>
            </a:endParaRPr>
          </a:p>
          <a:p>
            <a:pPr marL="0" lvl="0" indent="0">
              <a:spcBef>
                <a:spcPts val="1600"/>
              </a:spcBef>
              <a:buClr>
                <a:schemeClr val="dk1"/>
              </a:buClr>
              <a:buSzPts val="1100"/>
            </a:pPr>
            <a:r>
              <a:rPr lang="en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За допълнителна информация - </a:t>
            </a:r>
            <a:r>
              <a:rPr lang="en-US" sz="14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https://laravel.com/docs/5.5/eloquent</a:t>
            </a:r>
            <a:endParaRPr sz="14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19" name="Google Shape;219;p3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Laravel Eloquent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Като използвате вашия проект за база данни на приложението, създайте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 и миграция Lecture, Homework и Profile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Добавете в миграцията нужните колони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Мигрирайте таблицата в базата данни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</a:rPr>
              <a:t>За описание на колоните в миграцията следвайте написаното в CreateUsersTable </a:t>
            </a:r>
            <a:r>
              <a:rPr lang="en" sz="1100" dirty="0" smtClean="0">
                <a:solidFill>
                  <a:schemeClr val="dk1"/>
                </a:solidFill>
              </a:rPr>
              <a:t>миграц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я-файл </a:t>
            </a:r>
            <a:r>
              <a:rPr lang="en" sz="1100" dirty="0">
                <a:solidFill>
                  <a:schemeClr val="dk1"/>
                </a:solidFill>
              </a:rPr>
              <a:t>и правете справка с </a:t>
            </a:r>
            <a:endParaRPr sz="1100" dirty="0">
              <a:solidFill>
                <a:schemeClr val="dk1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-US" sz="1100" u="sng" dirty="0">
                <a:solidFill>
                  <a:schemeClr val="hlink"/>
                </a:solidFill>
                <a:hlinkClick r:id="rId3"/>
              </a:rPr>
              <a:t>https://</a:t>
            </a:r>
            <a:r>
              <a:rPr lang="en-US" sz="1100" u="sng" dirty="0" smtClean="0">
                <a:solidFill>
                  <a:schemeClr val="hlink"/>
                </a:solidFill>
                <a:hlinkClick r:id="rId3"/>
              </a:rPr>
              <a:t>laravel.com/docs/5.5/migrations</a:t>
            </a:r>
            <a:endParaRPr lang="bg-BG" sz="1100" u="sng" dirty="0" smtClean="0">
              <a:solidFill>
                <a:schemeClr val="hlink"/>
              </a:solidFill>
            </a:endParaRPr>
          </a:p>
          <a:p>
            <a:pPr marL="0" lvl="0" indent="0">
              <a:spcBef>
                <a:spcPts val="1600"/>
              </a:spcBef>
            </a:pPr>
            <a:r>
              <a:rPr lang="en" dirty="0" smtClean="0">
                <a:solidFill>
                  <a:schemeClr val="dk1"/>
                </a:solidFill>
              </a:rPr>
              <a:t>Available </a:t>
            </a:r>
            <a:r>
              <a:rPr lang="en" dirty="0">
                <a:solidFill>
                  <a:schemeClr val="dk1"/>
                </a:solidFill>
              </a:rPr>
              <a:t>Column Types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Column Modifiers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Creating Indexes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 dirty="0">
                <a:solidFill>
                  <a:schemeClr val="dk1"/>
                </a:solidFill>
              </a:rPr>
              <a:t>Foreign Key Constraints</a:t>
            </a:r>
            <a:endParaRPr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33" name="Google Shape;233;p3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3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17D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599" cy="572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Всеки модел има свойство $fillable.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Ако искаме да разрешим на потребителя да работи със записите в определени колони въвеждаме имената на колоните като масив.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Например в модела Users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protected </a:t>
            </a:r>
            <a:r>
              <a:rPr lang="en" dirty="0">
                <a:solidFill>
                  <a:srgbClr val="00717D"/>
                </a:solidFill>
              </a:rPr>
              <a:t>$fillable</a:t>
            </a:r>
            <a:r>
              <a:rPr lang="en" dirty="0"/>
              <a:t> = [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    	</a:t>
            </a:r>
            <a:r>
              <a:rPr lang="en" dirty="0">
                <a:solidFill>
                  <a:srgbClr val="00717D"/>
                </a:solidFill>
              </a:rPr>
              <a:t>'name', 'email', 'password',</a:t>
            </a:r>
            <a:endParaRPr dirty="0">
              <a:solidFill>
                <a:srgbClr val="00717D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	];</a:t>
            </a:r>
            <a:endParaRPr dirty="0"/>
          </a:p>
        </p:txBody>
      </p:sp>
      <p:sp>
        <p:nvSpPr>
          <p:cNvPr id="245" name="Google Shape;245;p41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00717D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rgbClr val="FFFFFF"/>
                </a:solidFill>
              </a:rPr>
              <a:t>Protected $fillable</a:t>
            </a:r>
            <a:endParaRPr sz="2400" b="1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2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dk1"/>
                </a:solidFill>
              </a:rPr>
              <a:t>Добавете </a:t>
            </a:r>
            <a:r>
              <a:rPr lang="en" sz="1100" dirty="0"/>
              <a:t>protected </a:t>
            </a:r>
            <a:r>
              <a:rPr lang="en" sz="1100" dirty="0">
                <a:solidFill>
                  <a:srgbClr val="00717D"/>
                </a:solidFill>
              </a:rPr>
              <a:t>$fillable</a:t>
            </a:r>
            <a:r>
              <a:rPr lang="en" sz="1100" dirty="0"/>
              <a:t> </a:t>
            </a:r>
            <a:r>
              <a:rPr lang="bg-BG" sz="1100" dirty="0" smtClean="0"/>
              <a:t>свойство в създадените от вас модели. </a:t>
            </a:r>
            <a:endParaRPr lang="bg-BG" sz="1100" dirty="0"/>
          </a:p>
          <a:p>
            <a:pPr marL="0" lvl="0" indent="0">
              <a:spcBef>
                <a:spcPts val="1600"/>
              </a:spcBef>
            </a:pPr>
            <a:r>
              <a:rPr lang="bg-BG" sz="11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Задайте стойности според това, в кои от колоните на съответните таблици ще записвате или променяте данни.</a:t>
            </a:r>
            <a:endParaRPr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2" name="Google Shape;252;p4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933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3"/>
          <p:cNvSpPr txBox="1">
            <a:spLocks noGrp="1"/>
          </p:cNvSpPr>
          <p:nvPr>
            <p:ph type="title"/>
          </p:nvPr>
        </p:nvSpPr>
        <p:spPr>
          <a:xfrm>
            <a:off x="311700" y="207105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4"/>
          <p:cNvSpPr/>
          <p:nvPr/>
        </p:nvSpPr>
        <p:spPr>
          <a:xfrm>
            <a:off x="0" y="0"/>
            <a:ext cx="9144000" cy="7643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599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Таблиците в базите данни много често са свързани по между си. 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i="1" dirty="0" smtClean="0">
                <a:solidFill>
                  <a:schemeClr val="dk1"/>
                </a:solidFill>
              </a:rPr>
              <a:t>Един </a:t>
            </a:r>
            <a:r>
              <a:rPr lang="en" sz="1400" i="1" dirty="0" smtClean="0">
                <a:solidFill>
                  <a:schemeClr val="dk1"/>
                </a:solidFill>
              </a:rPr>
              <a:t>пост </a:t>
            </a:r>
            <a:r>
              <a:rPr lang="en" sz="1400" i="1" dirty="0">
                <a:solidFill>
                  <a:schemeClr val="dk1"/>
                </a:solidFill>
              </a:rPr>
              <a:t>може да има много коментарии, или една поръчка е свързана с потребителя, който я е направил.</a:t>
            </a:r>
            <a:endParaRPr sz="1400" i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dk1"/>
                </a:solidFill>
              </a:rPr>
              <a:t>Eloquent прави работата със свързаните таблици много лесна и поддържа различните видове връзки -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3"/>
              </a:rPr>
              <a:t>One To One</a:t>
            </a:r>
            <a:endParaRPr sz="1400" u="sng" dirty="0">
              <a:solidFill>
                <a:schemeClr val="hlink"/>
              </a:solidFill>
              <a:hlinkClick r:id="rId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5"/>
              </a:rPr>
              <a:t>One To Many</a:t>
            </a:r>
            <a:endParaRPr sz="1400" u="sng" dirty="0">
              <a:solidFill>
                <a:schemeClr val="hlink"/>
              </a:solidFill>
              <a:hlinkClick r:id="rId6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7"/>
              </a:rPr>
              <a:t>Many To Many</a:t>
            </a:r>
            <a:endParaRPr sz="1400" u="sng" dirty="0">
              <a:solidFill>
                <a:schemeClr val="hlink"/>
              </a:solidFill>
              <a:hlinkClick r:id="rId8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9"/>
              </a:rPr>
              <a:t>Has Many Through</a:t>
            </a:r>
            <a:endParaRPr sz="1400" u="sng" dirty="0">
              <a:solidFill>
                <a:schemeClr val="hlink"/>
              </a:solidFill>
              <a:hlinkClick r:id="rId10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1"/>
              </a:rPr>
              <a:t>Polymorphic Relations</a:t>
            </a:r>
            <a:endParaRPr sz="1400" u="sng" dirty="0">
              <a:solidFill>
                <a:schemeClr val="hlink"/>
              </a:solidFill>
              <a:hlinkClick r:id="rId12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u="sng" dirty="0">
                <a:solidFill>
                  <a:schemeClr val="hlink"/>
                </a:solidFill>
                <a:hlinkClick r:id="rId13"/>
              </a:rPr>
              <a:t>Many To Many Polymorphic Relations</a:t>
            </a:r>
            <a:endParaRPr sz="1400" u="sng" dirty="0">
              <a:solidFill>
                <a:schemeClr val="hlink"/>
              </a:solidFill>
              <a:hlinkClick r:id="rId1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</p:txBody>
      </p:sp>
      <p:sp>
        <p:nvSpPr>
          <p:cNvPr id="265" name="Google Shape;265;p44"/>
          <p:cNvSpPr txBox="1"/>
          <p:nvPr/>
        </p:nvSpPr>
        <p:spPr>
          <a:xfrm>
            <a:off x="0" y="30300"/>
            <a:ext cx="6805500" cy="703799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4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Връзките се декларират като методи в класовете на Eloquent model. 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chemeClr val="tx1">
                    <a:lumMod val="75000"/>
                    <a:lumOff val="25000"/>
                  </a:schemeClr>
                </a:solidFill>
              </a:rPr>
              <a:t>Също както и моделите, тези връзки са мощно средство за генериране на заявки към базата данни. Дефинирането на връзките като методи ни позволява и да навързваме методи - да прилагаме метод върху резултата от предишния метод във веригата.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rgbClr val="9933FF"/>
                </a:solidFill>
              </a:rPr>
              <a:t>$user-&gt;posts()-&gt;where('active', 1)-&gt;get();</a:t>
            </a:r>
            <a:endParaRPr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//кодът ще върне постовете на конкретния потребител, за които стойността в колоната active е 1</a:t>
            </a:r>
            <a:endParaRPr dirty="0">
              <a:solidFill>
                <a:srgbClr val="434343"/>
              </a:solidFill>
            </a:endParaRPr>
          </a:p>
        </p:txBody>
      </p:sp>
      <p:sp>
        <p:nvSpPr>
          <p:cNvPr id="272" name="Google Shape;272;p4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434343"/>
                </a:solidFill>
              </a:rPr>
              <a:t>One To One</a:t>
            </a:r>
            <a:endParaRPr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Пример за такава връзка в нашето приложение е - всеки потребител има по един профил. 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Информацията е разпределена в две таблици - Users и Profile.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users_id в Profile отговаря на id в Users.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За да дефинираме тази връзка разполагаме </a:t>
            </a:r>
            <a:r>
              <a:rPr lang="en" sz="1400" b="1" dirty="0">
                <a:solidFill>
                  <a:srgbClr val="6600FF"/>
                </a:solidFill>
              </a:rPr>
              <a:t>profile()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метод в модела User Методът profile() тряба да извика </a:t>
            </a:r>
            <a:r>
              <a:rPr lang="en" sz="1400" b="1" dirty="0">
                <a:solidFill>
                  <a:srgbClr val="6600FF"/>
                </a:solidFill>
              </a:rPr>
              <a:t>hasOne</a:t>
            </a:r>
            <a:r>
              <a:rPr lang="en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функцията и да върне резултатът от нея.</a:t>
            </a:r>
            <a:endParaRPr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434343"/>
              </a:solidFill>
            </a:endParaRPr>
          </a:p>
        </p:txBody>
      </p:sp>
      <p:sp>
        <p:nvSpPr>
          <p:cNvPr id="279" name="Google Shape;279;p4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User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profile record associated with the user.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</a:t>
            </a:r>
            <a:r>
              <a:rPr lang="en" sz="1400" b="1">
                <a:solidFill>
                  <a:srgbClr val="674EA7"/>
                </a:solidFill>
              </a:rPr>
              <a:t>profile</a:t>
            </a:r>
            <a:r>
              <a:rPr lang="en" sz="1400">
                <a:solidFill>
                  <a:schemeClr val="dk1"/>
                </a:solidFill>
              </a:rPr>
              <a:t>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$this-&gt;hasOne('</a:t>
            </a:r>
            <a:r>
              <a:rPr lang="en" sz="1400" b="1">
                <a:solidFill>
                  <a:srgbClr val="8E7CC3"/>
                </a:solidFill>
              </a:rPr>
              <a:t>App\Profile</a:t>
            </a:r>
            <a:r>
              <a:rPr lang="en" sz="1400">
                <a:solidFill>
                  <a:schemeClr val="dk1"/>
                </a:solidFill>
              </a:rPr>
              <a:t>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286" name="Google Shape;286;p4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Аргументът подаден на hasOne е името на свързания модел.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След като връзката между моделите е дефинирана извикваме съответния </a:t>
            </a:r>
            <a:r>
              <a:rPr lang="en" dirty="0" smtClean="0">
                <a:solidFill>
                  <a:srgbClr val="666666"/>
                </a:solidFill>
              </a:rPr>
              <a:t>запи</a:t>
            </a:r>
            <a:r>
              <a:rPr lang="bg-BG" dirty="0" smtClean="0">
                <a:solidFill>
                  <a:srgbClr val="666666"/>
                </a:solidFill>
              </a:rPr>
              <a:t>с</a:t>
            </a: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dirty="0">
                <a:solidFill>
                  <a:srgbClr val="666666"/>
                </a:solidFill>
              </a:rPr>
              <a:t>от базата данни, използвайки динамичните свойства на Eloquent.</a:t>
            </a: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Тези динамични свойства позволяват да извикваме методите </a:t>
            </a:r>
            <a:r>
              <a:rPr lang="en" dirty="0" smtClean="0">
                <a:solidFill>
                  <a:srgbClr val="666666"/>
                </a:solidFill>
              </a:rPr>
              <a:t>като</a:t>
            </a:r>
            <a:endParaRPr lang="bg-BG" dirty="0" smtClean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 smtClean="0">
                <a:solidFill>
                  <a:srgbClr val="666666"/>
                </a:solidFill>
              </a:rPr>
              <a:t> </a:t>
            </a:r>
            <a:r>
              <a:rPr lang="en" i="1" dirty="0">
                <a:solidFill>
                  <a:srgbClr val="666666"/>
                </a:solidFill>
              </a:rPr>
              <a:t>свойства </a:t>
            </a:r>
            <a:r>
              <a:rPr lang="en" i="1" dirty="0" smtClean="0">
                <a:solidFill>
                  <a:srgbClr val="666666"/>
                </a:solidFill>
              </a:rPr>
              <a:t>дек</a:t>
            </a:r>
            <a:r>
              <a:rPr lang="bg-BG" i="1" dirty="0" smtClean="0">
                <a:solidFill>
                  <a:srgbClr val="666666"/>
                </a:solidFill>
              </a:rPr>
              <a:t>л</a:t>
            </a:r>
            <a:r>
              <a:rPr lang="en" i="1" dirty="0" smtClean="0">
                <a:solidFill>
                  <a:srgbClr val="666666"/>
                </a:solidFill>
              </a:rPr>
              <a:t>арирани </a:t>
            </a:r>
            <a:r>
              <a:rPr lang="en" i="1" dirty="0">
                <a:solidFill>
                  <a:srgbClr val="666666"/>
                </a:solidFill>
              </a:rPr>
              <a:t>в съответния модел.</a:t>
            </a:r>
            <a:endParaRPr i="1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$profile = User::find(1)-&gt;profile</a:t>
            </a:r>
            <a:r>
              <a:rPr lang="en" dirty="0" smtClean="0">
                <a:solidFill>
                  <a:srgbClr val="666666"/>
                </a:solidFill>
              </a:rPr>
              <a:t>; //</a:t>
            </a:r>
            <a:r>
              <a:rPr lang="bg-BG" dirty="0" smtClean="0">
                <a:solidFill>
                  <a:srgbClr val="666666"/>
                </a:solidFill>
              </a:rPr>
              <a:t>обект от клас </a:t>
            </a:r>
            <a:r>
              <a:rPr lang="en-US" dirty="0" smtClean="0">
                <a:solidFill>
                  <a:srgbClr val="666666"/>
                </a:solidFill>
              </a:rPr>
              <a:t>… </a:t>
            </a:r>
            <a:r>
              <a:rPr lang="bg-BG" dirty="0" smtClean="0">
                <a:solidFill>
                  <a:srgbClr val="666666"/>
                </a:solidFill>
              </a:rPr>
              <a:t>да проверим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bg-BG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</p:txBody>
      </p:sp>
      <p:sp>
        <p:nvSpPr>
          <p:cNvPr id="293" name="Google Shape;293;p4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dirty="0" smtClean="0">
                <a:solidFill>
                  <a:srgbClr val="666666"/>
                </a:solidFill>
              </a:rPr>
              <a:t>Или извикан като метод </a:t>
            </a:r>
            <a:r>
              <a:rPr lang="en-US" dirty="0" smtClean="0">
                <a:solidFill>
                  <a:srgbClr val="666666"/>
                </a:solidFill>
              </a:rPr>
              <a:t>profile()</a:t>
            </a:r>
            <a:r>
              <a:rPr lang="bg-BG" dirty="0" smtClean="0">
                <a:solidFill>
                  <a:srgbClr val="666666"/>
                </a:solidFill>
              </a:rPr>
              <a:t> – да </a:t>
            </a:r>
            <a:r>
              <a:rPr lang="bg-BG" dirty="0" err="1" smtClean="0">
                <a:solidFill>
                  <a:srgbClr val="666666"/>
                </a:solidFill>
              </a:rPr>
              <a:t>достъпим</a:t>
            </a:r>
            <a:r>
              <a:rPr lang="bg-BG" dirty="0" smtClean="0">
                <a:solidFill>
                  <a:srgbClr val="666666"/>
                </a:solidFill>
              </a:rPr>
              <a:t> свойствата на свързания клас </a:t>
            </a:r>
            <a:r>
              <a:rPr lang="en-US" dirty="0" smtClean="0">
                <a:solidFill>
                  <a:srgbClr val="666666"/>
                </a:solidFill>
              </a:rPr>
              <a:t>Profile.</a:t>
            </a:r>
            <a:endParaRPr i="1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666666"/>
                </a:solidFill>
              </a:rPr>
              <a:t>$profile = User::find(1)-&gt;</a:t>
            </a:r>
            <a:r>
              <a:rPr lang="en" dirty="0" smtClean="0">
                <a:solidFill>
                  <a:srgbClr val="666666"/>
                </a:solidFill>
              </a:rPr>
              <a:t>profile</a:t>
            </a:r>
            <a:r>
              <a:rPr lang="en-US" dirty="0" smtClean="0">
                <a:solidFill>
                  <a:srgbClr val="666666"/>
                </a:solidFill>
              </a:rPr>
              <a:t>()-&gt;</a:t>
            </a:r>
            <a:r>
              <a:rPr lang="en-US" dirty="0" err="1" smtClean="0">
                <a:solidFill>
                  <a:srgbClr val="666666"/>
                </a:solidFill>
              </a:rPr>
              <a:t>first_name</a:t>
            </a:r>
            <a:r>
              <a:rPr lang="en" dirty="0" smtClean="0">
                <a:solidFill>
                  <a:srgbClr val="666666"/>
                </a:solidFill>
              </a:rPr>
              <a:t>;</a:t>
            </a:r>
            <a:endParaRPr lang="bg-BG"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dirty="0">
              <a:solidFill>
                <a:srgbClr val="666666"/>
              </a:solidFill>
            </a:endParaRPr>
          </a:p>
        </p:txBody>
      </p:sp>
      <p:sp>
        <p:nvSpPr>
          <p:cNvPr id="293" name="Google Shape;293;p4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243181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Дефиниране на обратната връзка между моделите</a:t>
            </a: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Съществува възможност 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да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достъпим профила на конкретния потребител /например, който е логнат в приложението/. </a:t>
            </a:r>
            <a:endParaRPr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bg-BG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За целта нека</a:t>
            </a:r>
            <a:r>
              <a:rPr lang="en" sz="1400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дефинираме и връзка в </a:t>
            </a:r>
            <a:r>
              <a:rPr lang="en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Profile</a:t>
            </a:r>
            <a:r>
              <a:rPr lang="en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модела, която да сочи към потребителя, който притежава този профил</a:t>
            </a:r>
            <a:r>
              <a:rPr lang="en" sz="1400" dirty="0">
                <a:solidFill>
                  <a:schemeClr val="dk1"/>
                </a:solidFill>
              </a:rPr>
              <a:t>. </a:t>
            </a:r>
            <a:endParaRPr sz="14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 dirty="0">
              <a:solidFill>
                <a:schemeClr val="dk1"/>
              </a:solidFill>
            </a:endParaRPr>
          </a:p>
        </p:txBody>
      </p:sp>
      <p:sp>
        <p:nvSpPr>
          <p:cNvPr id="300" name="Google Shape;300;p4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Дефинираме обратната връзка чрез методът </a:t>
            </a:r>
            <a:r>
              <a:rPr lang="en" sz="1400">
                <a:solidFill>
                  <a:srgbClr val="9933FF"/>
                </a:solidFill>
              </a:rPr>
              <a:t>belongsTo</a:t>
            </a:r>
            <a:r>
              <a:rPr lang="en" sz="1400">
                <a:solidFill>
                  <a:schemeClr val="dk1"/>
                </a:solidFill>
              </a:rPr>
              <a:t>: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dk1"/>
                </a:solidFill>
              </a:rPr>
              <a:t>namespace App;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use Illuminate\Database\Eloquent\Model;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/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class Profile extends Model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/**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 Get the user that owns the profile.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*/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public function user()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{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    return $this-&gt;belongsTo('App\User');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    }</a:t>
            </a:r>
            <a:br>
              <a:rPr lang="en" sz="1400">
                <a:solidFill>
                  <a:schemeClr val="dk1"/>
                </a:solidFill>
              </a:rPr>
            </a:br>
            <a:r>
              <a:rPr lang="en" sz="1400">
                <a:solidFill>
                  <a:schemeClr val="dk1"/>
                </a:solidFill>
              </a:rPr>
              <a:t>}</a:t>
            </a:r>
            <a:endParaRPr sz="14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b="1">
              <a:solidFill>
                <a:schemeClr val="dk1"/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0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smtClean="0">
                <a:solidFill>
                  <a:schemeClr val="dk1"/>
                </a:solidFill>
              </a:rPr>
              <a:t>Получаваме възможност да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profile_user</a:t>
            </a:r>
            <a:r>
              <a:rPr lang="en-US" sz="1400" dirty="0" smtClean="0">
                <a:solidFill>
                  <a:srgbClr val="6600FF"/>
                </a:solidFill>
              </a:rPr>
              <a:t> = Profile::find($id)-&gt;user()-&gt;username;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dk1"/>
                </a:solidFill>
              </a:rPr>
              <a:t>достъпим</a:t>
            </a:r>
            <a:r>
              <a:rPr lang="bg-BG" sz="1400" dirty="0" smtClean="0">
                <a:solidFill>
                  <a:schemeClr val="dk1"/>
                </a:solidFill>
              </a:rPr>
              <a:t> всяко от свойствата на класа обекта от клас </a:t>
            </a:r>
            <a:r>
              <a:rPr lang="en-US" sz="1400" dirty="0" smtClean="0">
                <a:solidFill>
                  <a:schemeClr val="dk1"/>
                </a:solidFill>
              </a:rPr>
              <a:t>User </a:t>
            </a:r>
            <a:r>
              <a:rPr lang="bg-BG" sz="1400" dirty="0" smtClean="0">
                <a:solidFill>
                  <a:schemeClr val="dk1"/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dk1"/>
                </a:solidFill>
              </a:rPr>
              <a:t>Profile.</a:t>
            </a:r>
            <a:r>
              <a:rPr lang="bg-BG" sz="1400" dirty="0" smtClean="0">
                <a:solidFill>
                  <a:schemeClr val="dk1"/>
                </a:solidFill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-US" sz="1400" dirty="0" smtClean="0">
                <a:solidFill>
                  <a:srgbClr val="6600FF"/>
                </a:solidFill>
              </a:rPr>
              <a:t>$</a:t>
            </a:r>
            <a:r>
              <a:rPr lang="en-US" sz="1400" dirty="0" err="1" smtClean="0">
                <a:solidFill>
                  <a:srgbClr val="6600FF"/>
                </a:solidFill>
              </a:rPr>
              <a:t>user_first_name</a:t>
            </a:r>
            <a:r>
              <a:rPr lang="en-US" sz="1400" dirty="0" smtClean="0">
                <a:solidFill>
                  <a:srgbClr val="6600FF"/>
                </a:solidFill>
              </a:rPr>
              <a:t> = User::find($id)-&gt;profile()-&gt;</a:t>
            </a:r>
            <a:r>
              <a:rPr lang="en-US" sz="1400" dirty="0" err="1" smtClean="0">
                <a:solidFill>
                  <a:srgbClr val="6600FF"/>
                </a:solidFill>
              </a:rPr>
              <a:t>first_name</a:t>
            </a:r>
            <a:endParaRPr lang="bg-BG" sz="1400" dirty="0" smtClean="0">
              <a:solidFill>
                <a:srgbClr val="6600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400" dirty="0" err="1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Достъпим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 всяко от свойствата на обекта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Profile </a:t>
            </a:r>
            <a:r>
              <a:rPr lang="bg-BG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през свързания обект от клас </a:t>
            </a:r>
            <a:r>
              <a:rPr 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</a:rPr>
              <a:t>User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en-US"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07" name="Google Shape;307;p50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8434236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1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b="1" i="1" dirty="0">
                <a:solidFill>
                  <a:srgbClr val="434343"/>
                </a:solidFill>
              </a:rPr>
              <a:t>One To </a:t>
            </a:r>
            <a:r>
              <a:rPr lang="en" sz="1400" b="1" i="1" dirty="0" smtClean="0">
                <a:solidFill>
                  <a:srgbClr val="434343"/>
                </a:solidFill>
              </a:rPr>
              <a:t>Many</a:t>
            </a: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b="1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Един модел е свързан/притежава/ неограничен брой други модели.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Например </a:t>
            </a:r>
            <a:r>
              <a:rPr lang="en" sz="1400" dirty="0" smtClean="0">
                <a:solidFill>
                  <a:srgbClr val="434343"/>
                </a:solidFill>
              </a:rPr>
              <a:t>–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 smtClean="0">
                <a:solidFill>
                  <a:srgbClr val="434343"/>
                </a:solidFill>
              </a:rPr>
              <a:t>Eдин </a:t>
            </a:r>
            <a:r>
              <a:rPr lang="en" sz="1400" dirty="0">
                <a:solidFill>
                  <a:srgbClr val="434343"/>
                </a:solidFill>
              </a:rPr>
              <a:t>пост има неограничен брой коментари. </a:t>
            </a: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 dirty="0">
                <a:solidFill>
                  <a:srgbClr val="434343"/>
                </a:solidFill>
              </a:rPr>
              <a:t>Една </a:t>
            </a:r>
            <a:r>
              <a:rPr lang="en" sz="1400" dirty="0" smtClean="0">
                <a:solidFill>
                  <a:srgbClr val="434343"/>
                </a:solidFill>
              </a:rPr>
              <a:t>лекция </a:t>
            </a:r>
            <a:r>
              <a:rPr lang="en" sz="1400" dirty="0">
                <a:solidFill>
                  <a:srgbClr val="434343"/>
                </a:solidFill>
              </a:rPr>
              <a:t>има много домашни.</a:t>
            </a:r>
            <a:endParaRPr sz="1400" dirty="0">
              <a:solidFill>
                <a:srgbClr val="434343"/>
              </a:solidFill>
            </a:endParaRPr>
          </a:p>
        </p:txBody>
      </p:sp>
      <p:sp>
        <p:nvSpPr>
          <p:cNvPr id="314" name="Google Shape;314;p51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2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52"/>
          <p:cNvSpPr txBox="1">
            <a:spLocks noGrp="1"/>
          </p:cNvSpPr>
          <p:nvPr>
            <p:ph type="body" idx="1"/>
          </p:nvPr>
        </p:nvSpPr>
        <p:spPr>
          <a:xfrm>
            <a:off x="311700" y="11347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434343"/>
                </a:solidFill>
              </a:rPr>
              <a:t>Дефинираме връзката чрез съответната функция в модела </a:t>
            </a:r>
            <a:r>
              <a:rPr lang="en" sz="1100" i="1" dirty="0" smtClean="0">
                <a:solidFill>
                  <a:srgbClr val="434343"/>
                </a:solidFill>
              </a:rPr>
              <a:t>- </a:t>
            </a: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i="1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class Lecture extends Model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/**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 Get the homeworks for the lecture.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*/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public function homework</a:t>
            </a:r>
            <a:r>
              <a:rPr lang="en" sz="1100" dirty="0">
                <a:solidFill>
                  <a:srgbClr val="FF0000"/>
                </a:solidFill>
              </a:rPr>
              <a:t>s</a:t>
            </a:r>
            <a:r>
              <a:rPr lang="en" sz="1100" dirty="0">
                <a:solidFill>
                  <a:srgbClr val="434343"/>
                </a:solidFill>
              </a:rPr>
              <a:t>()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{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    return $this-&gt;</a:t>
            </a:r>
            <a:r>
              <a:rPr lang="en" sz="1100" b="1" dirty="0">
                <a:solidFill>
                  <a:srgbClr val="9933FF"/>
                </a:solidFill>
              </a:rPr>
              <a:t>hasMany('App\Homework')</a:t>
            </a:r>
            <a:r>
              <a:rPr lang="en" sz="1100" dirty="0">
                <a:solidFill>
                  <a:srgbClr val="434343"/>
                </a:solidFill>
              </a:rPr>
              <a:t>;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    }</a:t>
            </a:r>
            <a:br>
              <a:rPr lang="en" sz="1100" dirty="0">
                <a:solidFill>
                  <a:srgbClr val="434343"/>
                </a:solidFill>
              </a:rPr>
            </a:br>
            <a:r>
              <a:rPr lang="en" sz="1100" dirty="0">
                <a:solidFill>
                  <a:srgbClr val="434343"/>
                </a:solidFill>
              </a:rPr>
              <a:t>}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Запомнете -</a:t>
            </a:r>
            <a:r>
              <a:rPr lang="en" sz="1100" dirty="0">
                <a:solidFill>
                  <a:srgbClr val="434343"/>
                </a:solidFill>
              </a:rPr>
              <a:t> Eloquent автоматично ще определи колоната с външен ключ в модела Homework. По конвенция, Eloquent ще </a:t>
            </a:r>
            <a:r>
              <a:rPr lang="bg-BG" sz="1100" dirty="0" smtClean="0">
                <a:solidFill>
                  <a:srgbClr val="434343"/>
                </a:solidFill>
              </a:rPr>
              <a:t>вземе </a:t>
            </a:r>
            <a:r>
              <a:rPr lang="en" sz="1100" dirty="0" smtClean="0">
                <a:solidFill>
                  <a:srgbClr val="434343"/>
                </a:solidFill>
              </a:rPr>
              <a:t>името </a:t>
            </a:r>
            <a:r>
              <a:rPr lang="en" sz="1100" dirty="0">
                <a:solidFill>
                  <a:srgbClr val="434343"/>
                </a:solidFill>
              </a:rPr>
              <a:t>на съотвения модели </a:t>
            </a:r>
            <a:r>
              <a:rPr lang="bg-BG" sz="1100" dirty="0" smtClean="0">
                <a:solidFill>
                  <a:srgbClr val="434343"/>
                </a:solidFill>
              </a:rPr>
              <a:t>и </a:t>
            </a:r>
            <a:r>
              <a:rPr lang="en" sz="1100" dirty="0" smtClean="0">
                <a:solidFill>
                  <a:srgbClr val="434343"/>
                </a:solidFill>
              </a:rPr>
              <a:t>ще </a:t>
            </a:r>
            <a:r>
              <a:rPr lang="en" sz="1100" dirty="0">
                <a:solidFill>
                  <a:srgbClr val="434343"/>
                </a:solidFill>
              </a:rPr>
              <a:t>добави _id </a:t>
            </a:r>
            <a:r>
              <a:rPr lang="bg-BG" sz="1100" dirty="0" smtClean="0">
                <a:solidFill>
                  <a:srgbClr val="434343"/>
                </a:solidFill>
              </a:rPr>
              <a:t>-</a:t>
            </a:r>
            <a:r>
              <a:rPr lang="en" sz="1100" dirty="0" smtClean="0">
                <a:solidFill>
                  <a:srgbClr val="434343"/>
                </a:solidFill>
              </a:rPr>
              <a:t> </a:t>
            </a:r>
            <a:r>
              <a:rPr lang="en" sz="1100" dirty="0">
                <a:solidFill>
                  <a:srgbClr val="434343"/>
                </a:solidFill>
              </a:rPr>
              <a:t>ще търси </a:t>
            </a:r>
            <a:r>
              <a:rPr lang="en" sz="1100" dirty="0" smtClean="0">
                <a:solidFill>
                  <a:srgbClr val="434343"/>
                </a:solidFill>
              </a:rPr>
              <a:t>колона </a:t>
            </a:r>
            <a:r>
              <a:rPr lang="bg-BG" sz="1100" dirty="0" smtClean="0">
                <a:solidFill>
                  <a:srgbClr val="434343"/>
                </a:solidFill>
              </a:rPr>
              <a:t>с такова име </a:t>
            </a:r>
            <a:r>
              <a:rPr lang="en" sz="1100" dirty="0" smtClean="0">
                <a:solidFill>
                  <a:srgbClr val="434343"/>
                </a:solidFill>
              </a:rPr>
              <a:t>за </a:t>
            </a:r>
            <a:r>
              <a:rPr lang="en" sz="1100" dirty="0">
                <a:solidFill>
                  <a:srgbClr val="434343"/>
                </a:solidFill>
              </a:rPr>
              <a:t>външен ключ. 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rgbClr val="434343"/>
                </a:solidFill>
              </a:rPr>
              <a:t>В нашия случай ще търси колоната </a:t>
            </a:r>
            <a:r>
              <a:rPr lang="en" sz="1100" b="1" dirty="0">
                <a:solidFill>
                  <a:srgbClr val="9933FF"/>
                </a:solidFill>
              </a:rPr>
              <a:t>homework_id</a:t>
            </a:r>
            <a:r>
              <a:rPr lang="en" sz="1100" dirty="0">
                <a:solidFill>
                  <a:srgbClr val="434343"/>
                </a:solidFill>
              </a:rPr>
              <a:t>.</a:t>
            </a: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rgbClr val="434343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 dirty="0">
                <a:solidFill>
                  <a:srgbClr val="9933FF"/>
                </a:solidFill>
              </a:rPr>
              <a:t>Ако се налага да използвате имена на колони и таблици, различни от тези по подразбиране, направете справка с документацията как да направите това, така че Eloquent да разбере правилно различията!</a:t>
            </a:r>
            <a:endParaRPr sz="1100" i="1" dirty="0">
              <a:solidFill>
                <a:srgbClr val="9933FF"/>
              </a:solidFill>
            </a:endParaRPr>
          </a:p>
        </p:txBody>
      </p:sp>
      <p:sp>
        <p:nvSpPr>
          <p:cNvPr id="321" name="Google Shape;321;p52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3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След като сме дефинирали връзката, можем да достъпим колекцията от домашни чрез </a:t>
            </a:r>
            <a:r>
              <a:rPr lang="en" sz="1300" b="1">
                <a:solidFill>
                  <a:srgbClr val="9933FF"/>
                </a:solidFill>
              </a:rPr>
              <a:t>homeworks </a:t>
            </a:r>
            <a:r>
              <a:rPr lang="en" sz="1300">
                <a:solidFill>
                  <a:srgbClr val="434343"/>
                </a:solidFill>
              </a:rPr>
              <a:t>свойството на модела.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434343"/>
                </a:solidFill>
              </a:rPr>
              <a:t>Благодарение на динамичните свойства на Eloquent - достъпваме методите, дефиниращи връзката като свойства на съответните модели.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rgbClr val="9933FF"/>
                </a:solidFill>
              </a:rPr>
              <a:t>$homeworks = App\Lecture::find(1)-&gt;homeworks;</a:t>
            </a: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/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foreach ($homeworks as $homework) {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   //</a:t>
            </a:r>
            <a:br>
              <a:rPr lang="en" sz="1300">
                <a:solidFill>
                  <a:srgbClr val="434343"/>
                </a:solidFill>
              </a:rPr>
            </a:br>
            <a:r>
              <a:rPr lang="en" sz="1300">
                <a:solidFill>
                  <a:srgbClr val="434343"/>
                </a:solidFill>
              </a:rPr>
              <a:t>}</a:t>
            </a: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>
              <a:solidFill>
                <a:schemeClr val="dk1"/>
              </a:solidFill>
            </a:endParaRPr>
          </a:p>
        </p:txBody>
      </p:sp>
      <p:sp>
        <p:nvSpPr>
          <p:cNvPr id="328" name="Google Shape;328;p53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54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434343"/>
                </a:solidFill>
              </a:rPr>
              <a:t>И тъй като връзките между моделите служат за формиране на заявки, може да продължите веригата от функции като добавите ограничения към колекцията домашни, които искате да получите -</a:t>
            </a: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rgbClr val="9933FF"/>
                </a:solidFill>
              </a:rPr>
              <a:t>$homeworks = App\Lecture::find(1)-&gt;homeworks()-&gt;where('column_name', 'foo')-&gt;first();</a:t>
            </a:r>
            <a:endParaRPr sz="1300" b="1" dirty="0">
              <a:solidFill>
                <a:srgbClr val="9933F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300" b="1" dirty="0">
                <a:solidFill>
                  <a:schemeClr val="dk1"/>
                </a:solidFill>
              </a:rPr>
              <a:t>//</a:t>
            </a:r>
            <a:r>
              <a:rPr lang="en" sz="1300" dirty="0">
                <a:solidFill>
                  <a:srgbClr val="434343"/>
                </a:solidFill>
              </a:rPr>
              <a:t>where('column_name', 'foo') съответства на  where </a:t>
            </a:r>
            <a:r>
              <a:rPr lang="en" sz="1300" dirty="0" smtClean="0">
                <a:solidFill>
                  <a:srgbClr val="434343"/>
                </a:solidFill>
              </a:rPr>
              <a:t>column_name=foo</a:t>
            </a:r>
            <a:endParaRPr lang="bg-BG" sz="1300" dirty="0" smtClean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lang="bg-BG" sz="1300" b="1" dirty="0">
              <a:solidFill>
                <a:srgbClr val="434343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bg-BG" sz="1300" dirty="0" smtClean="0">
                <a:solidFill>
                  <a:srgbClr val="434343"/>
                </a:solidFill>
              </a:rPr>
              <a:t>//</a:t>
            </a:r>
            <a:r>
              <a:rPr lang="en-US" sz="1300" dirty="0" smtClean="0">
                <a:solidFill>
                  <a:srgbClr val="434343"/>
                </a:solidFill>
              </a:rPr>
              <a:t>first() </a:t>
            </a:r>
            <a:r>
              <a:rPr lang="bg-BG" sz="1300" dirty="0" smtClean="0">
                <a:solidFill>
                  <a:srgbClr val="434343"/>
                </a:solidFill>
              </a:rPr>
              <a:t>съответства на </a:t>
            </a:r>
            <a:r>
              <a:rPr lang="en-US" sz="1300" dirty="0" smtClean="0">
                <a:solidFill>
                  <a:srgbClr val="434343"/>
                </a:solidFill>
              </a:rPr>
              <a:t>LIMIT 1</a:t>
            </a: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35" name="Google Shape;335;p54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55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55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One To Many (обратна връзка)</a:t>
            </a:r>
            <a:endParaRPr sz="13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Вече имаме достъп до домашните на всяка лекция. Следва да дефинираме обратната връзка - да позволим достъпа до лекцията, към която всяко домашно е свързано.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За да дефинираме обратната на hasMany връзка, извикваме метода belongsTo в модела, който искаме да свържем /Homework/: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2" name="Google Shape;342;p55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6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56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namespace App;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use Illuminate\Database\Eloquent\Model;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class Homework extends Model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/**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 Get the lecture that owns the homework.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*/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public function </a:t>
            </a:r>
            <a:r>
              <a:rPr lang="en" sz="1100" dirty="0">
                <a:solidFill>
                  <a:srgbClr val="FF0000"/>
                </a:solidFill>
              </a:rPr>
              <a:t>lecture()//в единствено число!!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{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    return $this-&gt;belongsTo(</a:t>
            </a:r>
            <a:r>
              <a:rPr lang="en" sz="1100" dirty="0" smtClean="0">
                <a:solidFill>
                  <a:schemeClr val="dk1"/>
                </a:solidFill>
              </a:rPr>
              <a:t>'App\Lecture');</a:t>
            </a: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    }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}</a:t>
            </a:r>
            <a:endParaRPr sz="11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</p:txBody>
      </p:sp>
      <p:sp>
        <p:nvSpPr>
          <p:cNvPr id="349" name="Google Shape;349;p56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57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Сега </a:t>
            </a:r>
            <a:r>
              <a:rPr lang="en" sz="1100" dirty="0" smtClean="0">
                <a:solidFill>
                  <a:schemeClr val="dk1"/>
                </a:solidFill>
              </a:rPr>
              <a:t>имаме достъп </a:t>
            </a:r>
            <a:r>
              <a:rPr lang="bg-BG" sz="1100" dirty="0" smtClean="0">
                <a:solidFill>
                  <a:schemeClr val="dk1"/>
                </a:solidFill>
              </a:rPr>
              <a:t>и</a:t>
            </a:r>
            <a:r>
              <a:rPr lang="en" sz="1100" dirty="0" smtClean="0">
                <a:solidFill>
                  <a:schemeClr val="dk1"/>
                </a:solidFill>
              </a:rPr>
              <a:t> </a:t>
            </a:r>
            <a:r>
              <a:rPr lang="en" sz="1100" dirty="0">
                <a:solidFill>
                  <a:schemeClr val="dk1"/>
                </a:solidFill>
              </a:rPr>
              <a:t>до лекцията, чрез lecture динамичното свойство на homework.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$homework = App\Homework::find(1);</a:t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/>
            </a:r>
            <a:br>
              <a:rPr lang="en" sz="1100" dirty="0">
                <a:solidFill>
                  <a:schemeClr val="dk1"/>
                </a:solidFill>
              </a:rPr>
            </a:br>
            <a:r>
              <a:rPr lang="en" sz="1100" dirty="0">
                <a:solidFill>
                  <a:schemeClr val="dk1"/>
                </a:solidFill>
              </a:rPr>
              <a:t>echo $homework-&gt;</a:t>
            </a:r>
            <a:r>
              <a:rPr lang="en" sz="1100" dirty="0" smtClean="0">
                <a:solidFill>
                  <a:schemeClr val="dk1"/>
                </a:solidFill>
              </a:rPr>
              <a:t>lecture</a:t>
            </a:r>
            <a:r>
              <a:rPr lang="en-US" sz="1100" dirty="0" smtClean="0">
                <a:solidFill>
                  <a:schemeClr val="dk1"/>
                </a:solidFill>
              </a:rPr>
              <a:t>()</a:t>
            </a:r>
            <a:r>
              <a:rPr lang="en" sz="1100" dirty="0" smtClean="0">
                <a:solidFill>
                  <a:schemeClr val="dk1"/>
                </a:solidFill>
              </a:rPr>
              <a:t>-&gt;</a:t>
            </a:r>
            <a:r>
              <a:rPr lang="en" sz="1100" dirty="0">
                <a:solidFill>
                  <a:schemeClr val="dk1"/>
                </a:solidFill>
              </a:rPr>
              <a:t>name;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ще свърже lecture_id от Homework модела с id от Lecture модела.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dirty="0">
                <a:solidFill>
                  <a:schemeClr val="dk1"/>
                </a:solidFill>
              </a:rPr>
              <a:t>Eloquent определя външния ключ като добавя към името на модела посочен във връзката-метод _id - 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b="1" dirty="0">
                <a:solidFill>
                  <a:srgbClr val="9933FF"/>
                </a:solidFill>
              </a:rPr>
              <a:t>Lecture -&gt; lecture + _id = lecture_id</a:t>
            </a:r>
            <a:endParaRPr sz="1100" b="1" dirty="0">
              <a:solidFill>
                <a:srgbClr val="9933FF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300" b="1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356" name="Google Shape;356;p57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Допълнете липсващите методи дефиниращи всички връзки между моделите 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User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Profile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Homework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L</a:t>
            </a:r>
            <a:r>
              <a:rPr lang="en" sz="1300" dirty="0" smtClean="0">
                <a:solidFill>
                  <a:schemeClr val="dk1"/>
                </a:solidFill>
              </a:rPr>
              <a:t>ecture</a:t>
            </a:r>
            <a:endParaRPr sz="1300" dirty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Разрешете колоните, в които потребителите ще работят със записите</a:t>
            </a:r>
            <a:r>
              <a:rPr lang="en" sz="1300" dirty="0" smtClean="0">
                <a:solidFill>
                  <a:schemeClr val="dk1"/>
                </a:solidFill>
              </a:rPr>
              <a:t>.</a:t>
            </a: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Приложението ви трябва да притежава страници 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домашни към всяка лекция</a:t>
            </a:r>
            <a:endParaRPr lang="bg-BG" sz="900" dirty="0">
              <a:solidFill>
                <a:schemeClr val="dk1"/>
              </a:solidFill>
            </a:endParaRP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dirty="0">
                <a:solidFill>
                  <a:schemeClr val="dk1"/>
                </a:solidFill>
              </a:rPr>
              <a:t>Допълнете липсващите </a:t>
            </a:r>
            <a:r>
              <a:rPr lang="bg-BG" dirty="0" err="1">
                <a:solidFill>
                  <a:schemeClr val="dk1"/>
                </a:solidFill>
              </a:rPr>
              <a:t>вюта</a:t>
            </a:r>
            <a:r>
              <a:rPr lang="bg-BG" dirty="0">
                <a:solidFill>
                  <a:schemeClr val="dk1"/>
                </a:solidFill>
              </a:rPr>
              <a:t> и методи в контролерите /ако има такива</a:t>
            </a:r>
            <a:r>
              <a:rPr lang="bg-BG" dirty="0" smtClean="0">
                <a:solidFill>
                  <a:schemeClr val="dk1"/>
                </a:solidFill>
              </a:rPr>
              <a:t>/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домашни към всяка лекция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8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58"/>
          <p:cNvSpPr txBox="1">
            <a:spLocks noGrp="1"/>
          </p:cNvSpPr>
          <p:nvPr>
            <p:ph type="body" idx="1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r>
              <a:rPr lang="en" sz="1100" u="sng">
                <a:solidFill>
                  <a:schemeClr val="hlink"/>
                </a:solidFill>
                <a:hlinkClick r:id="rId3"/>
              </a:rPr>
              <a:t>Many-to-many </a:t>
            </a:r>
            <a:endParaRPr sz="13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</p:txBody>
      </p:sp>
      <p:sp>
        <p:nvSpPr>
          <p:cNvPr id="363" name="Google Shape;363;p58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solidFill>
            <a:srgbClr val="9933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Calibri"/>
              <a:buNone/>
            </a:pPr>
            <a:r>
              <a:rPr lang="en" sz="3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Eloquent Relationships</a:t>
            </a:r>
            <a:endParaRPr sz="30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endParaRPr sz="3600" b="1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Допълнете липсващите методи дефиниращи всички връзки между моделите 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User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Profile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Homework</a:t>
            </a:r>
            <a:endParaRPr sz="1300" dirty="0">
              <a:solidFill>
                <a:schemeClr val="dk1"/>
              </a:solidFill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lphaLcPeriod"/>
            </a:pPr>
            <a:r>
              <a:rPr lang="en" sz="1300" dirty="0">
                <a:solidFill>
                  <a:schemeClr val="dk1"/>
                </a:solidFill>
              </a:rPr>
              <a:t>L</a:t>
            </a:r>
            <a:r>
              <a:rPr lang="en" sz="1300" dirty="0" smtClean="0">
                <a:solidFill>
                  <a:schemeClr val="dk1"/>
                </a:solidFill>
              </a:rPr>
              <a:t>ecture</a:t>
            </a:r>
            <a:endParaRPr sz="1300" dirty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" sz="1300" dirty="0">
                <a:solidFill>
                  <a:schemeClr val="dk1"/>
                </a:solidFill>
              </a:rPr>
              <a:t>Разрешете колоните, в които потребителите ще работят със записите</a:t>
            </a:r>
            <a:r>
              <a:rPr lang="en" sz="1300" dirty="0" smtClean="0">
                <a:solidFill>
                  <a:schemeClr val="dk1"/>
                </a:solidFill>
              </a:rPr>
              <a:t>.</a:t>
            </a: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Приложението ви трябва да притежава страници 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sz="1200" dirty="0">
                <a:solidFill>
                  <a:schemeClr val="dk1"/>
                </a:solidFill>
              </a:rPr>
              <a:t>Списък с домашни към всяка лекция</a:t>
            </a:r>
            <a:endParaRPr lang="bg-BG" sz="900" dirty="0">
              <a:solidFill>
                <a:schemeClr val="dk1"/>
              </a:solidFill>
            </a:endParaRP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dirty="0">
                <a:solidFill>
                  <a:schemeClr val="dk1"/>
                </a:solidFill>
              </a:rPr>
              <a:t>Допълнете липсващите </a:t>
            </a:r>
            <a:r>
              <a:rPr lang="bg-BG" dirty="0" err="1">
                <a:solidFill>
                  <a:schemeClr val="dk1"/>
                </a:solidFill>
              </a:rPr>
              <a:t>вюта</a:t>
            </a:r>
            <a:r>
              <a:rPr lang="bg-BG" dirty="0">
                <a:solidFill>
                  <a:schemeClr val="dk1"/>
                </a:solidFill>
              </a:rPr>
              <a:t> и методи в контролерите /ако има такива</a:t>
            </a:r>
            <a:r>
              <a:rPr lang="bg-BG" dirty="0" smtClean="0">
                <a:solidFill>
                  <a:schemeClr val="dk1"/>
                </a:solidFill>
              </a:rPr>
              <a:t>/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bg-BG" sz="1300" dirty="0" smtClean="0">
                <a:solidFill>
                  <a:schemeClr val="dk1"/>
                </a:solidFill>
              </a:rPr>
              <a:t>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домашни към всяка лекция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744589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9"/>
          <p:cNvSpPr txBox="1">
            <a:spLocks noGrp="1"/>
          </p:cNvSpPr>
          <p:nvPr>
            <p:ph type="body" idx="1"/>
          </p:nvPr>
        </p:nvSpPr>
        <p:spPr>
          <a:xfrm>
            <a:off x="1095825" y="960375"/>
            <a:ext cx="7576200" cy="3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4. Отпечатайте информация на съответните страници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Профил на потребителя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лекции</a:t>
            </a: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Font typeface="Wingdings" panose="05000000000000000000" pitchFamily="2" charset="2"/>
              <a:buChar char="§"/>
            </a:pPr>
            <a:r>
              <a:rPr lang="bg-BG" dirty="0">
                <a:solidFill>
                  <a:schemeClr val="dk1"/>
                </a:solidFill>
              </a:rPr>
              <a:t>Списък с домашни към всяка </a:t>
            </a:r>
            <a:r>
              <a:rPr lang="bg-BG" dirty="0" smtClean="0">
                <a:solidFill>
                  <a:schemeClr val="dk1"/>
                </a:solidFill>
              </a:rPr>
              <a:t>лекция</a:t>
            </a:r>
          </a:p>
          <a:p>
            <a:pPr marL="603250" lvl="1" indent="0">
              <a:spcBef>
                <a:spcPts val="0"/>
              </a:spcBef>
              <a:buClr>
                <a:schemeClr val="dk1"/>
              </a:buClr>
              <a:buSzPts val="1300"/>
            </a:pPr>
            <a:r>
              <a:rPr lang="bg-BG" i="1" u="sng" dirty="0" smtClean="0">
                <a:solidFill>
                  <a:schemeClr val="dk1"/>
                </a:solidFill>
              </a:rPr>
              <a:t>Домашно</a:t>
            </a:r>
            <a:endParaRPr lang="bg-BG" i="1" u="sng" dirty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5. Създайте клас Модул/Ниво</a:t>
            </a:r>
            <a:r>
              <a:rPr lang="en-US" sz="1300" dirty="0" smtClean="0">
                <a:solidFill>
                  <a:schemeClr val="dk1"/>
                </a:solidFill>
              </a:rPr>
              <a:t> </a:t>
            </a:r>
            <a:r>
              <a:rPr lang="bg-BG" sz="1300" dirty="0" smtClean="0">
                <a:solidFill>
                  <a:schemeClr val="dk1"/>
                </a:solidFill>
              </a:rPr>
              <a:t>със свойства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>
                <a:solidFill>
                  <a:schemeClr val="dk1"/>
                </a:solidFill>
              </a:rPr>
              <a:t>	</a:t>
            </a:r>
            <a:r>
              <a:rPr lang="bg-BG" sz="1300" dirty="0" smtClean="0">
                <a:solidFill>
                  <a:schemeClr val="dk1"/>
                </a:solidFill>
              </a:rPr>
              <a:t>- име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>
                <a:solidFill>
                  <a:schemeClr val="dk1"/>
                </a:solidFill>
              </a:rPr>
              <a:t>	</a:t>
            </a:r>
            <a:r>
              <a:rPr lang="bg-BG" sz="1300" dirty="0" smtClean="0">
                <a:solidFill>
                  <a:schemeClr val="dk1"/>
                </a:solidFill>
              </a:rPr>
              <a:t>- лекции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>
                <a:solidFill>
                  <a:schemeClr val="dk1"/>
                </a:solidFill>
              </a:rPr>
              <a:t>	</a:t>
            </a:r>
            <a:r>
              <a:rPr lang="bg-BG" sz="1300" dirty="0" smtClean="0">
                <a:solidFill>
                  <a:schemeClr val="dk1"/>
                </a:solidFill>
              </a:rPr>
              <a:t>- курсисти, записани в нивото</a:t>
            </a:r>
            <a:endParaRPr lang="en-US" sz="1300" dirty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en-US" sz="1300" dirty="0" smtClean="0">
                <a:solidFill>
                  <a:schemeClr val="dk1"/>
                </a:solidFill>
              </a:rPr>
              <a:t>6. </a:t>
            </a:r>
            <a:r>
              <a:rPr lang="bg-BG" sz="1300" dirty="0" smtClean="0">
                <a:solidFill>
                  <a:schemeClr val="dk1"/>
                </a:solidFill>
              </a:rPr>
              <a:t>Каква е връзката ниво-курсист. Дефинирайте в съответните модели с помощта на </a:t>
            </a:r>
            <a:r>
              <a:rPr lang="en-US" sz="1300" dirty="0" err="1" smtClean="0">
                <a:solidFill>
                  <a:schemeClr val="dk1"/>
                </a:solidFill>
              </a:rPr>
              <a:t>Laravel</a:t>
            </a:r>
            <a:r>
              <a:rPr lang="en-US" sz="1300" dirty="0" smtClean="0">
                <a:solidFill>
                  <a:schemeClr val="dk1"/>
                </a:solidFill>
              </a:rPr>
              <a:t> Eloquent</a:t>
            </a:r>
            <a:endParaRPr lang="bg-BG" sz="1300" dirty="0" smtClean="0">
              <a:solidFill>
                <a:schemeClr val="dk1"/>
              </a:solidFill>
            </a:endParaRP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en-US" sz="1300" dirty="0" smtClean="0">
                <a:solidFill>
                  <a:schemeClr val="dk1"/>
                </a:solidFill>
              </a:rPr>
              <a:t>7. </a:t>
            </a:r>
            <a:r>
              <a:rPr lang="bg-BG" sz="1300" dirty="0" smtClean="0">
                <a:solidFill>
                  <a:schemeClr val="dk1"/>
                </a:solidFill>
              </a:rPr>
              <a:t>Създайте контролер, вю, миграции за Модул/Ниво</a:t>
            </a:r>
          </a:p>
          <a:p>
            <a:pPr marL="146050" lvl="0" indent="0">
              <a:buClr>
                <a:schemeClr val="dk1"/>
              </a:buClr>
              <a:buSzPts val="1300"/>
            </a:pPr>
            <a:r>
              <a:rPr lang="bg-BG" sz="1300" dirty="0" smtClean="0">
                <a:solidFill>
                  <a:schemeClr val="dk1"/>
                </a:solidFill>
              </a:rPr>
              <a:t>8. Създайте методи и ги поставете в подходящите контролери за отпечатване на списък от модули/нива, за отпечатване на курсистите, записани във всеки модул/ниво</a:t>
            </a:r>
          </a:p>
          <a:p>
            <a:pPr marL="146050" lvl="0" indent="0">
              <a:buClr>
                <a:schemeClr val="dk1"/>
              </a:buClr>
              <a:buSzPts val="1300"/>
            </a:pPr>
            <a:endParaRPr lang="bg-BG" dirty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lang="bg-BG" sz="900" dirty="0" smtClean="0">
              <a:solidFill>
                <a:schemeClr val="dk1"/>
              </a:solidFill>
            </a:endParaRPr>
          </a:p>
          <a:p>
            <a:pPr lvl="1" indent="-311150">
              <a:spcBef>
                <a:spcPts val="0"/>
              </a:spcBef>
              <a:buClr>
                <a:schemeClr val="dk1"/>
              </a:buClr>
              <a:buSzPts val="1300"/>
              <a:buAutoNum type="arabicPeriod"/>
            </a:pPr>
            <a:endParaRPr sz="9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369" name="Google Shape;369;p59"/>
          <p:cNvSpPr/>
          <p:nvPr/>
        </p:nvSpPr>
        <p:spPr>
          <a:xfrm>
            <a:off x="0" y="0"/>
            <a:ext cx="9144000" cy="764400"/>
          </a:xfrm>
          <a:prstGeom prst="rect">
            <a:avLst/>
          </a:prstGeom>
          <a:solidFill>
            <a:srgbClr val="741B4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59"/>
          <p:cNvSpPr txBox="1"/>
          <p:nvPr/>
        </p:nvSpPr>
        <p:spPr>
          <a:xfrm>
            <a:off x="0" y="30300"/>
            <a:ext cx="6805500" cy="70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None/>
            </a:pPr>
            <a:r>
              <a:rPr lang="en" sz="3600" b="1">
                <a:solidFill>
                  <a:srgbClr val="FFFFFF"/>
                </a:solidFill>
              </a:rPr>
              <a:t>Задача</a:t>
            </a:r>
            <a:endParaRPr sz="36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912933"/>
      </p:ext>
    </p:extLst>
  </p:cSld>
  <p:clrMapOvr>
    <a:masterClrMapping/>
  </p:clrMapOvr>
  <p:transition spd="slow"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-light-2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1245</Words>
  <Application>Microsoft Office PowerPoint</Application>
  <PresentationFormat>Презентация на цял екран (16:9)</PresentationFormat>
  <Paragraphs>220</Paragraphs>
  <Slides>32</Slides>
  <Notes>32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32</vt:i4>
      </vt:variant>
    </vt:vector>
  </HeadingPairs>
  <TitlesOfParts>
    <vt:vector size="37" baseType="lpstr">
      <vt:lpstr>Arial</vt:lpstr>
      <vt:lpstr>Syncopate</vt:lpstr>
      <vt:lpstr>Wingdings</vt:lpstr>
      <vt:lpstr>Calibri</vt:lpstr>
      <vt:lpstr>simple-light-2</vt:lpstr>
      <vt:lpstr>web разработка</vt:lpstr>
      <vt:lpstr>Презентация на PowerPoint</vt:lpstr>
      <vt:lpstr>Презентация на PowerPoint</vt:lpstr>
      <vt:lpstr> Laravel Eloquent 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protected $fillable</vt:lpstr>
      <vt:lpstr>Презентация на PowerPoint</vt:lpstr>
      <vt:lpstr>Презентация на PowerPoint</vt:lpstr>
      <vt:lpstr>Eloquent Relationships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разработка</dc:title>
  <cp:lastModifiedBy>Ariel</cp:lastModifiedBy>
  <cp:revision>12</cp:revision>
  <dcterms:modified xsi:type="dcterms:W3CDTF">2019-10-06T10:35:38Z</dcterms:modified>
</cp:coreProperties>
</file>