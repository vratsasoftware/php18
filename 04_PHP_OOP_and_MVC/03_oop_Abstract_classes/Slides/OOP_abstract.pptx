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5143500" cx="9144000"/>
  <p:notesSz cx="6858000" cy="9144000"/>
  <p:embeddedFontLst>
    <p:embeddedFont>
      <p:font typeface="Syncopate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25" roundtripDataSignature="AMtx7mhofbslHHL/8oRVawwWObE23WO9K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Syncopate-bold.fntdata"/><Relationship Id="rId23" Type="http://schemas.openxmlformats.org/officeDocument/2006/relationships/font" Target="fonts/Syncopate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3:notes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7:notes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13:notes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14:notes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/>
          <p:nvPr>
            <p:ph type="ctrTitle"/>
          </p:nvPr>
        </p:nvSpPr>
        <p:spPr>
          <a:xfrm>
            <a:off x="311708" y="744575"/>
            <a:ext cx="8520599" cy="20525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5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p20"/>
          <p:cNvSpPr txBox="1"/>
          <p:nvPr>
            <p:ph idx="1" type="subTitle"/>
          </p:nvPr>
        </p:nvSpPr>
        <p:spPr>
          <a:xfrm>
            <a:off x="311700" y="2834125"/>
            <a:ext cx="8520599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0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1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" name="Google Shape;15;p21"/>
          <p:cNvSpPr txBox="1"/>
          <p:nvPr>
            <p:ph idx="1" type="body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21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 poin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" name="Google Shape;19;p22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3"/>
          <p:cNvSpPr txBox="1"/>
          <p:nvPr>
            <p:ph type="title"/>
          </p:nvPr>
        </p:nvSpPr>
        <p:spPr>
          <a:xfrm>
            <a:off x="311700" y="2150850"/>
            <a:ext cx="8520599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" name="Google Shape;22;p23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" name="Google Shape;25;p24"/>
          <p:cNvSpPr txBox="1"/>
          <p:nvPr>
            <p:ph idx="1" type="body"/>
          </p:nvPr>
        </p:nvSpPr>
        <p:spPr>
          <a:xfrm>
            <a:off x="311700" y="1152475"/>
            <a:ext cx="3999899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24"/>
          <p:cNvSpPr txBox="1"/>
          <p:nvPr>
            <p:ph idx="2" type="body"/>
          </p:nvPr>
        </p:nvSpPr>
        <p:spPr>
          <a:xfrm>
            <a:off x="4832400" y="1152475"/>
            <a:ext cx="3999899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24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5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" name="Google Shape;30;p25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 column 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6"/>
          <p:cNvSpPr txBox="1"/>
          <p:nvPr>
            <p:ph type="title"/>
          </p:nvPr>
        </p:nvSpPr>
        <p:spPr>
          <a:xfrm>
            <a:off x="311700" y="555600"/>
            <a:ext cx="2807999" cy="7556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" name="Google Shape;33;p26"/>
          <p:cNvSpPr txBox="1"/>
          <p:nvPr>
            <p:ph idx="1" type="body"/>
          </p:nvPr>
        </p:nvSpPr>
        <p:spPr>
          <a:xfrm>
            <a:off x="311700" y="1389600"/>
            <a:ext cx="2807999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26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 title and 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7"/>
          <p:cNvSpPr/>
          <p:nvPr/>
        </p:nvSpPr>
        <p:spPr>
          <a:xfrm>
            <a:off x="4572000" y="-125"/>
            <a:ext cx="4572000" cy="514349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7"/>
          <p:cNvSpPr txBox="1"/>
          <p:nvPr>
            <p:ph type="title"/>
          </p:nvPr>
        </p:nvSpPr>
        <p:spPr>
          <a:xfrm>
            <a:off x="265500" y="1233175"/>
            <a:ext cx="4045199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4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" name="Google Shape;38;p27"/>
          <p:cNvSpPr txBox="1"/>
          <p:nvPr>
            <p:ph idx="1" type="subTitle"/>
          </p:nvPr>
        </p:nvSpPr>
        <p:spPr>
          <a:xfrm>
            <a:off x="265500" y="2803075"/>
            <a:ext cx="4045199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27"/>
          <p:cNvSpPr txBox="1"/>
          <p:nvPr>
            <p:ph idx="2" type="body"/>
          </p:nvPr>
        </p:nvSpPr>
        <p:spPr>
          <a:xfrm>
            <a:off x="4939500" y="724075"/>
            <a:ext cx="3837000" cy="369509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27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28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 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9"/>
          <p:cNvSpPr txBox="1"/>
          <p:nvPr>
            <p:ph type="title"/>
          </p:nvPr>
        </p:nvSpPr>
        <p:spPr>
          <a:xfrm>
            <a:off x="311700" y="1106125"/>
            <a:ext cx="8520599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6" name="Google Shape;46;p29"/>
          <p:cNvSpPr txBox="1"/>
          <p:nvPr>
            <p:ph idx="1" type="body"/>
          </p:nvPr>
        </p:nvSpPr>
        <p:spPr>
          <a:xfrm>
            <a:off x="311700" y="3152225"/>
            <a:ext cx="8520599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29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0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/>
          <p:nvPr/>
        </p:nvSpPr>
        <p:spPr>
          <a:xfrm>
            <a:off x="-24225" y="2850900"/>
            <a:ext cx="9168299" cy="2292599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 txBox="1"/>
          <p:nvPr>
            <p:ph type="ctrTitle"/>
          </p:nvPr>
        </p:nvSpPr>
        <p:spPr>
          <a:xfrm>
            <a:off x="311708" y="744575"/>
            <a:ext cx="8520599" cy="20525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yncopate"/>
              <a:buNone/>
            </a:pPr>
            <a:r>
              <a:rPr b="1" i="0" lang="en" sz="2400" u="none" cap="none" strike="noStrike">
                <a:solidFill>
                  <a:srgbClr val="8BC34A"/>
                </a:solidFill>
                <a:latin typeface="Syncopate"/>
                <a:ea typeface="Syncopate"/>
                <a:cs typeface="Syncopate"/>
                <a:sym typeface="Syncopate"/>
              </a:rPr>
              <a:t>web разработка</a:t>
            </a:r>
            <a:endParaRPr sz="2400"/>
          </a:p>
        </p:txBody>
      </p:sp>
      <p:sp>
        <p:nvSpPr>
          <p:cNvPr id="56" name="Google Shape;56;p1"/>
          <p:cNvSpPr txBox="1"/>
          <p:nvPr>
            <p:ph idx="1" type="subTitle"/>
          </p:nvPr>
        </p:nvSpPr>
        <p:spPr>
          <a:xfrm>
            <a:off x="311700" y="2834125"/>
            <a:ext cx="8520599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b="1" lang="en" sz="3000">
                <a:solidFill>
                  <a:srgbClr val="FFFFFF"/>
                </a:solidFill>
              </a:rPr>
              <a:t>ООП</a:t>
            </a:r>
            <a:r>
              <a:rPr b="1" i="0" lang="en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3000">
                <a:solidFill>
                  <a:srgbClr val="FFFFFF"/>
                </a:solidFill>
              </a:rPr>
              <a:t>Полиморфизъм</a:t>
            </a:r>
            <a:endParaRPr b="1" sz="3000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b="1" lang="en" sz="3000">
                <a:solidFill>
                  <a:srgbClr val="FFFFFF"/>
                </a:solidFill>
              </a:rPr>
              <a:t>Абстрактни класове</a:t>
            </a:r>
            <a:endParaRPr b="1" sz="3000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b="1" lang="en" sz="3000">
                <a:solidFill>
                  <a:srgbClr val="FFFFFF"/>
                </a:solidFill>
              </a:rPr>
              <a:t>Интерфейси</a:t>
            </a:r>
            <a:endParaRPr b="1" sz="3000">
              <a:solidFill>
                <a:srgbClr val="FFFFFF"/>
              </a:solidFill>
            </a:endParaRPr>
          </a:p>
        </p:txBody>
      </p:sp>
      <p:pic>
        <p:nvPicPr>
          <p:cNvPr id="57" name="Google Shape;5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81362" y="497376"/>
            <a:ext cx="2981277" cy="1249626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"/>
          <p:cNvSpPr txBox="1"/>
          <p:nvPr/>
        </p:nvSpPr>
        <p:spPr>
          <a:xfrm>
            <a:off x="-60750" y="4860300"/>
            <a:ext cx="92655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Милена Томова - НПО ВРАЦА СОФТУЕР ОБЩЕСТВО - КУРС Уеб Разработка- 11.201</a:t>
            </a:r>
            <a:r>
              <a:rPr b="1" lang="en">
                <a:solidFill>
                  <a:srgbClr val="CCCCCC"/>
                </a:solidFill>
              </a:rPr>
              <a:t>8</a:t>
            </a:r>
            <a:r>
              <a:rPr b="1" i="0" lang="en" sz="14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 - ВЕРСИЯ </a:t>
            </a:r>
            <a:r>
              <a:rPr b="1" lang="en">
                <a:solidFill>
                  <a:srgbClr val="CCCCCC"/>
                </a:solidFill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"/>
          <p:cNvSpPr txBox="1"/>
          <p:nvPr>
            <p:ph idx="1" type="body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90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</a:pPr>
            <a:r>
              <a:rPr lang="en" sz="1200"/>
              <a:t>isA, hasA - връзки между класовете - </a:t>
            </a:r>
            <a:r>
              <a:rPr i="1" lang="en" sz="1200">
                <a:solidFill>
                  <a:srgbClr val="007700"/>
                </a:solidFill>
              </a:rPr>
              <a:t>преговор</a:t>
            </a:r>
            <a:endParaRPr i="1" sz="1200">
              <a:solidFill>
                <a:srgbClr val="007700"/>
              </a:solidFill>
            </a:endParaRPr>
          </a:p>
          <a:p>
            <a:pPr indent="-190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</a:pPr>
            <a:r>
              <a:rPr lang="en" sz="1200"/>
              <a:t>Спесификаторите за достъп при наследяване - </a:t>
            </a:r>
            <a:r>
              <a:rPr i="1" lang="en" sz="1200">
                <a:solidFill>
                  <a:srgbClr val="007700"/>
                </a:solidFill>
              </a:rPr>
              <a:t>преговор</a:t>
            </a:r>
            <a:endParaRPr i="1" sz="1200">
              <a:solidFill>
                <a:srgbClr val="007700"/>
              </a:solidFill>
            </a:endParaRPr>
          </a:p>
          <a:p>
            <a:pPr indent="-190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</a:pPr>
            <a:r>
              <a:rPr lang="en" sz="1200"/>
              <a:t>Final</a:t>
            </a:r>
            <a:endParaRPr sz="1200"/>
          </a:p>
          <a:p>
            <a:pPr indent="-190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</a:pPr>
            <a:r>
              <a:rPr lang="en" sz="1200"/>
              <a:t>Абстрактни класове и методи</a:t>
            </a:r>
            <a:endParaRPr sz="1200"/>
          </a:p>
          <a:p>
            <a:pPr indent="-190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</a:pPr>
            <a:r>
              <a:rPr lang="en" sz="1200"/>
              <a:t>Интерфейси</a:t>
            </a:r>
            <a:endParaRPr sz="12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11430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0" y="0"/>
            <a:ext cx="9144000" cy="764399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2"/>
          <p:cNvSpPr txBox="1"/>
          <p:nvPr/>
        </p:nvSpPr>
        <p:spPr>
          <a:xfrm>
            <a:off x="0" y="30300"/>
            <a:ext cx="6805500" cy="7037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Съдържание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CC4125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"/>
          <p:cNvSpPr txBox="1"/>
          <p:nvPr>
            <p:ph type="title"/>
          </p:nvPr>
        </p:nvSpPr>
        <p:spPr>
          <a:xfrm>
            <a:off x="311700" y="1767300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lang="en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final</a:t>
            </a:r>
            <a:endParaRPr b="1" i="0" sz="3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"/>
          <p:cNvSpPr txBox="1"/>
          <p:nvPr>
            <p:ph idx="1" type="body"/>
          </p:nvPr>
        </p:nvSpPr>
        <p:spPr>
          <a:xfrm>
            <a:off x="347425" y="1125675"/>
            <a:ext cx="3804900" cy="3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Когато декларацията на метод започва с ключовата дума </a:t>
            </a:r>
            <a:r>
              <a:rPr b="1" lang="en" sz="1400">
                <a:solidFill>
                  <a:srgbClr val="FF5722"/>
                </a:solidFill>
              </a:rPr>
              <a:t>final</a:t>
            </a:r>
            <a:r>
              <a:rPr lang="en" sz="1400">
                <a:solidFill>
                  <a:schemeClr val="dk1"/>
                </a:solidFill>
              </a:rPr>
              <a:t>, този метод не може да бъде предефиниран в класовете наследници.</a:t>
            </a:r>
            <a:endParaRPr sz="1400"/>
          </a:p>
        </p:txBody>
      </p:sp>
      <p:sp>
        <p:nvSpPr>
          <p:cNvPr id="76" name="Google Shape;76;p4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CC41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4"/>
          <p:cNvSpPr txBox="1"/>
          <p:nvPr/>
        </p:nvSpPr>
        <p:spPr>
          <a:xfrm>
            <a:off x="0" y="30300"/>
            <a:ext cx="7844100" cy="734100"/>
          </a:xfrm>
          <a:prstGeom prst="rect">
            <a:avLst/>
          </a:prstGeom>
          <a:solidFill>
            <a:srgbClr val="CC4125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final</a:t>
            </a:r>
            <a:endParaRPr b="1" i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4"/>
          <p:cNvSpPr txBox="1"/>
          <p:nvPr>
            <p:ph idx="1" type="body"/>
          </p:nvPr>
        </p:nvSpPr>
        <p:spPr>
          <a:xfrm>
            <a:off x="4803925" y="1287000"/>
            <a:ext cx="3804900" cy="3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007700"/>
                </a:solidFill>
              </a:rPr>
              <a:t>class Test {</a:t>
            </a:r>
            <a:endParaRPr sz="1100">
              <a:solidFill>
                <a:srgbClr val="007700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007700"/>
                </a:solidFill>
              </a:rPr>
              <a:t>….</a:t>
            </a:r>
            <a:endParaRPr sz="1100">
              <a:solidFill>
                <a:srgbClr val="007700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007700"/>
                </a:solidFill>
              </a:rPr>
              <a:t> </a:t>
            </a:r>
            <a:r>
              <a:rPr b="1" lang="en" sz="1100">
                <a:solidFill>
                  <a:srgbClr val="007700"/>
                </a:solidFill>
              </a:rPr>
              <a:t>final </a:t>
            </a:r>
            <a:r>
              <a:rPr lang="en" sz="1100">
                <a:solidFill>
                  <a:srgbClr val="0000FF"/>
                </a:solidFill>
              </a:rPr>
              <a:t>public function</a:t>
            </a:r>
            <a:r>
              <a:rPr lang="en" sz="1100">
                <a:solidFill>
                  <a:srgbClr val="007700"/>
                </a:solidFill>
              </a:rPr>
              <a:t> </a:t>
            </a:r>
            <a:r>
              <a:rPr lang="en" sz="1100">
                <a:solidFill>
                  <a:srgbClr val="0000BB"/>
                </a:solidFill>
              </a:rPr>
              <a:t>moreTesting</a:t>
            </a:r>
            <a:r>
              <a:rPr lang="en" sz="1100">
                <a:solidFill>
                  <a:srgbClr val="007700"/>
                </a:solidFill>
              </a:rPr>
              <a:t>() {</a:t>
            </a:r>
            <a:endParaRPr sz="1100">
              <a:solidFill>
                <a:srgbClr val="007700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007700"/>
                </a:solidFill>
              </a:rPr>
              <a:t>       echo </a:t>
            </a:r>
            <a:r>
              <a:rPr lang="en" sz="1100">
                <a:solidFill>
                  <a:srgbClr val="DD0000"/>
                </a:solidFill>
              </a:rPr>
              <a:t>"I am a final method and cannot be overriden!"</a:t>
            </a:r>
            <a:r>
              <a:rPr lang="en" sz="1100">
                <a:solidFill>
                  <a:srgbClr val="007700"/>
                </a:solidFill>
              </a:rPr>
              <a:t>;</a:t>
            </a:r>
            <a:endParaRPr sz="1100">
              <a:solidFill>
                <a:srgbClr val="007700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en" sz="1100">
                <a:solidFill>
                  <a:srgbClr val="007700"/>
                </a:solidFill>
              </a:rPr>
              <a:t>   }</a:t>
            </a:r>
            <a:endParaRPr sz="1100">
              <a:solidFill>
                <a:srgbClr val="007700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en" sz="1100">
                <a:solidFill>
                  <a:srgbClr val="007700"/>
                </a:solidFill>
              </a:rPr>
              <a:t>...</a:t>
            </a:r>
            <a:endParaRPr sz="1100">
              <a:solidFill>
                <a:srgbClr val="007700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en" sz="1100">
                <a:solidFill>
                  <a:srgbClr val="007700"/>
                </a:solidFill>
              </a:rPr>
              <a:t>}</a:t>
            </a:r>
            <a:endParaRPr sz="1100">
              <a:solidFill>
                <a:srgbClr val="007700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t/>
            </a:r>
            <a:endParaRPr sz="1100">
              <a:solidFill>
                <a:srgbClr val="007700"/>
              </a:solidFill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"/>
          <p:cNvSpPr txBox="1"/>
          <p:nvPr>
            <p:ph idx="1" type="body"/>
          </p:nvPr>
        </p:nvSpPr>
        <p:spPr>
          <a:xfrm>
            <a:off x="347425" y="1125675"/>
            <a:ext cx="7957200" cy="3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Когато клас е означен като </a:t>
            </a:r>
            <a:r>
              <a:rPr b="1" lang="en" sz="1400">
                <a:solidFill>
                  <a:srgbClr val="FF5722"/>
                </a:solidFill>
              </a:rPr>
              <a:t>final</a:t>
            </a:r>
            <a:r>
              <a:rPr lang="en" sz="1400">
                <a:solidFill>
                  <a:schemeClr val="dk1"/>
                </a:solidFill>
              </a:rPr>
              <a:t> - не може да бъде наследяван.</a:t>
            </a:r>
            <a:endParaRPr sz="14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CC41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5"/>
          <p:cNvSpPr txBox="1"/>
          <p:nvPr/>
        </p:nvSpPr>
        <p:spPr>
          <a:xfrm>
            <a:off x="0" y="30300"/>
            <a:ext cx="7844100" cy="734100"/>
          </a:xfrm>
          <a:prstGeom prst="rect">
            <a:avLst/>
          </a:prstGeom>
          <a:solidFill>
            <a:srgbClr val="CC4125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final</a:t>
            </a:r>
            <a:endParaRPr b="1" i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"/>
          <p:cNvSpPr txBox="1"/>
          <p:nvPr>
            <p:ph idx="1" type="body"/>
          </p:nvPr>
        </p:nvSpPr>
        <p:spPr>
          <a:xfrm>
            <a:off x="347425" y="1125675"/>
            <a:ext cx="3804900" cy="3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007700"/>
                </a:solidFill>
              </a:rPr>
              <a:t>final class </a:t>
            </a:r>
            <a:r>
              <a:rPr lang="en" sz="1100">
                <a:solidFill>
                  <a:srgbClr val="0000BB"/>
                </a:solidFill>
              </a:rPr>
              <a:t>BaseClass </a:t>
            </a:r>
            <a:r>
              <a:rPr lang="en" sz="1100">
                <a:solidFill>
                  <a:srgbClr val="007700"/>
                </a:solidFill>
              </a:rPr>
              <a:t>{</a:t>
            </a:r>
            <a:endParaRPr sz="1100">
              <a:solidFill>
                <a:srgbClr val="0077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007700"/>
                </a:solidFill>
              </a:rPr>
              <a:t>   public function </a:t>
            </a:r>
            <a:r>
              <a:rPr lang="en" sz="1100">
                <a:solidFill>
                  <a:srgbClr val="0000BB"/>
                </a:solidFill>
              </a:rPr>
              <a:t>test</a:t>
            </a:r>
            <a:r>
              <a:rPr lang="en" sz="1100">
                <a:solidFill>
                  <a:srgbClr val="007700"/>
                </a:solidFill>
              </a:rPr>
              <a:t>() {</a:t>
            </a:r>
            <a:endParaRPr sz="1100">
              <a:solidFill>
                <a:srgbClr val="0077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007700"/>
                </a:solidFill>
              </a:rPr>
              <a:t>      //</a:t>
            </a:r>
            <a:endParaRPr sz="1100">
              <a:solidFill>
                <a:srgbClr val="0077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007700"/>
                </a:solidFill>
              </a:rPr>
              <a:t>   }</a:t>
            </a:r>
            <a:endParaRPr sz="1100">
              <a:solidFill>
                <a:srgbClr val="0077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0077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007700"/>
                </a:solidFill>
              </a:rPr>
              <a:t>   </a:t>
            </a:r>
            <a:r>
              <a:rPr lang="en" sz="1100">
                <a:solidFill>
                  <a:srgbClr val="FF8000"/>
                </a:solidFill>
              </a:rPr>
              <a:t>// Here it doesn't matter if you specify the function as final or not</a:t>
            </a:r>
            <a:endParaRPr sz="1100">
              <a:solidFill>
                <a:srgbClr val="FF8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FF8000"/>
                </a:solidFill>
              </a:rPr>
              <a:t>   </a:t>
            </a:r>
            <a:r>
              <a:rPr lang="en" sz="1100">
                <a:solidFill>
                  <a:srgbClr val="007700"/>
                </a:solidFill>
              </a:rPr>
              <a:t>final public function </a:t>
            </a:r>
            <a:r>
              <a:rPr lang="en" sz="1100">
                <a:solidFill>
                  <a:srgbClr val="0000BB"/>
                </a:solidFill>
              </a:rPr>
              <a:t>moreTesting</a:t>
            </a:r>
            <a:r>
              <a:rPr lang="en" sz="1100">
                <a:solidFill>
                  <a:srgbClr val="007700"/>
                </a:solidFill>
              </a:rPr>
              <a:t>() {</a:t>
            </a:r>
            <a:endParaRPr sz="1100">
              <a:solidFill>
                <a:srgbClr val="0077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007700"/>
                </a:solidFill>
              </a:rPr>
              <a:t>     //</a:t>
            </a:r>
            <a:endParaRPr sz="1100">
              <a:solidFill>
                <a:srgbClr val="0077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007700"/>
                </a:solidFill>
              </a:rPr>
              <a:t>   }</a:t>
            </a:r>
            <a:endParaRPr sz="1100">
              <a:solidFill>
                <a:srgbClr val="0077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007700"/>
                </a:solidFill>
              </a:rPr>
              <a:t>}</a:t>
            </a:r>
            <a:endParaRPr sz="1100">
              <a:solidFill>
                <a:srgbClr val="007700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t/>
            </a:r>
            <a:endParaRPr sz="1100">
              <a:solidFill>
                <a:srgbClr val="007700"/>
              </a:solidFill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CC41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6"/>
          <p:cNvSpPr txBox="1"/>
          <p:nvPr/>
        </p:nvSpPr>
        <p:spPr>
          <a:xfrm>
            <a:off x="0" y="30300"/>
            <a:ext cx="7844100" cy="734100"/>
          </a:xfrm>
          <a:prstGeom prst="rect">
            <a:avLst/>
          </a:prstGeom>
          <a:solidFill>
            <a:srgbClr val="CC4125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final</a:t>
            </a:r>
            <a:endParaRPr b="1" i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6"/>
          <p:cNvSpPr txBox="1"/>
          <p:nvPr>
            <p:ph idx="1" type="body"/>
          </p:nvPr>
        </p:nvSpPr>
        <p:spPr>
          <a:xfrm>
            <a:off x="4803925" y="1287000"/>
            <a:ext cx="3804900" cy="3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007700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007700"/>
                </a:solidFill>
              </a:rPr>
              <a:t>class </a:t>
            </a:r>
            <a:r>
              <a:rPr lang="en" sz="1100">
                <a:solidFill>
                  <a:srgbClr val="0000BB"/>
                </a:solidFill>
              </a:rPr>
              <a:t>ChildClass </a:t>
            </a:r>
            <a:r>
              <a:rPr lang="en" sz="1100">
                <a:solidFill>
                  <a:srgbClr val="007700"/>
                </a:solidFill>
              </a:rPr>
              <a:t>extends </a:t>
            </a:r>
            <a:r>
              <a:rPr lang="en" sz="1100">
                <a:solidFill>
                  <a:srgbClr val="0000BB"/>
                </a:solidFill>
              </a:rPr>
              <a:t>BaseClass </a:t>
            </a:r>
            <a:r>
              <a:rPr lang="en" sz="1100">
                <a:solidFill>
                  <a:srgbClr val="007700"/>
                </a:solidFill>
              </a:rPr>
              <a:t>{</a:t>
            </a:r>
            <a:endParaRPr sz="1100">
              <a:solidFill>
                <a:srgbClr val="007700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007700"/>
                </a:solidFill>
              </a:rPr>
              <a:t>}</a:t>
            </a:r>
            <a:endParaRPr sz="1100">
              <a:solidFill>
                <a:srgbClr val="007700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en" sz="1100">
                <a:solidFill>
                  <a:srgbClr val="FF8000"/>
                </a:solidFill>
              </a:rPr>
              <a:t>// Results in Fatal error: Class ChildClass may not inherit from final class (BaseClass)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FF5722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"/>
          <p:cNvSpPr txBox="1"/>
          <p:nvPr>
            <p:ph type="title"/>
          </p:nvPr>
        </p:nvSpPr>
        <p:spPr>
          <a:xfrm>
            <a:off x="311700" y="1843325"/>
            <a:ext cx="85206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lang="en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Абстрактни класове и методи</a:t>
            </a:r>
            <a:endParaRPr b="1" i="0" sz="3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"/>
          <p:cNvSpPr txBox="1"/>
          <p:nvPr>
            <p:ph idx="1" type="body"/>
          </p:nvPr>
        </p:nvSpPr>
        <p:spPr>
          <a:xfrm>
            <a:off x="495217" y="1131600"/>
            <a:ext cx="8337000" cy="3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en" sz="1400"/>
              <a:t>Логиката, която се съдържа в група класове на приложението, може да бъде отделена в абстрактен клас, който да бъде наследяван от тези класове. </a:t>
            </a:r>
            <a:endParaRPr sz="1400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en" sz="1400"/>
              <a:t>Условието е - </a:t>
            </a:r>
            <a:r>
              <a:rPr i="1" lang="en" sz="1400" u="sng">
                <a:solidFill>
                  <a:srgbClr val="FF5722"/>
                </a:solidFill>
              </a:rPr>
              <a:t>от абстрактния клас не можем да създаваме обекти</a:t>
            </a:r>
            <a:r>
              <a:rPr lang="en" sz="1400"/>
              <a:t>. 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en" sz="1400"/>
              <a:t>Абстрактния клас може да бъде чисто описателен - да посочим какви методи съдържа. Конкретната имплементация на методите реализираме в класа наследник, когато е различна за различните наследници. </a:t>
            </a:r>
            <a:endParaRPr i="1" sz="1400">
              <a:solidFill>
                <a:srgbClr val="FF5722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i="1" lang="en" sz="1400">
                <a:solidFill>
                  <a:srgbClr val="FF5722"/>
                </a:solidFill>
              </a:rPr>
              <a:t>...С абстрактния клас правим скица на обект, чийто точен чертеж се реализира в класовете наследници...</a:t>
            </a:r>
            <a:endParaRPr i="1" sz="1400">
              <a:solidFill>
                <a:srgbClr val="FF5722"/>
              </a:solidFill>
            </a:endParaRPr>
          </a:p>
        </p:txBody>
      </p:sp>
      <p:sp>
        <p:nvSpPr>
          <p:cNvPr id="104" name="Google Shape;104;p8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8"/>
          <p:cNvSpPr txBox="1"/>
          <p:nvPr/>
        </p:nvSpPr>
        <p:spPr>
          <a:xfrm>
            <a:off x="0" y="30300"/>
            <a:ext cx="9144000" cy="703800"/>
          </a:xfrm>
          <a:prstGeom prst="rect">
            <a:avLst/>
          </a:prstGeom>
          <a:solidFill>
            <a:srgbClr val="FF5722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Абстрактни класове и методи</a:t>
            </a:r>
            <a:endParaRPr b="1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9"/>
          <p:cNvSpPr txBox="1"/>
          <p:nvPr>
            <p:ph idx="1" type="body"/>
          </p:nvPr>
        </p:nvSpPr>
        <p:spPr>
          <a:xfrm>
            <a:off x="495217" y="1131600"/>
            <a:ext cx="8337000" cy="3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b="1" lang="en" sz="1200">
                <a:solidFill>
                  <a:srgbClr val="FF5722"/>
                </a:solidFill>
              </a:rPr>
              <a:t>abstract</a:t>
            </a:r>
            <a:r>
              <a:rPr lang="en" sz="1200"/>
              <a:t> class AUser {</a:t>
            </a:r>
            <a:endParaRPr sz="1200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en" sz="1200"/>
              <a:t>	public function get_user(){</a:t>
            </a:r>
            <a:endParaRPr sz="1200"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i="1" lang="en" sz="1200">
                <a:solidFill>
                  <a:srgbClr val="FF5722"/>
                </a:solidFill>
              </a:rPr>
              <a:t>//описваме функционалността на метода, ако ще бъде една и съща за всички класове наследници</a:t>
            </a:r>
            <a:endParaRPr i="1" sz="1200">
              <a:solidFill>
                <a:srgbClr val="FF5722"/>
              </a:solidFill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en" sz="1200"/>
              <a:t>}</a:t>
            </a:r>
            <a:endParaRPr sz="1200"/>
          </a:p>
          <a:p>
            <a:pPr indent="45720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en" sz="1200"/>
              <a:t>public function get_role(){</a:t>
            </a:r>
            <a:endParaRPr sz="1200"/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i="1" lang="en" sz="1200">
                <a:solidFill>
                  <a:srgbClr val="FF5722"/>
                </a:solidFill>
              </a:rPr>
              <a:t>//описваме функционалността на метода, ако ще бъде една и съща за всички класове наследници</a:t>
            </a:r>
            <a:endParaRPr sz="1200"/>
          </a:p>
          <a:p>
            <a:pPr indent="45720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en" sz="1200"/>
              <a:t>}</a:t>
            </a:r>
            <a:endParaRPr sz="1200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en" sz="1200"/>
              <a:t>}</a:t>
            </a:r>
            <a:endParaRPr i="1" sz="1200">
              <a:solidFill>
                <a:srgbClr val="FF5722"/>
              </a:solidFill>
            </a:endParaRPr>
          </a:p>
        </p:txBody>
      </p:sp>
      <p:sp>
        <p:nvSpPr>
          <p:cNvPr id="111" name="Google Shape;111;p9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9"/>
          <p:cNvSpPr txBox="1"/>
          <p:nvPr/>
        </p:nvSpPr>
        <p:spPr>
          <a:xfrm>
            <a:off x="0" y="30300"/>
            <a:ext cx="9144000" cy="703800"/>
          </a:xfrm>
          <a:prstGeom prst="rect">
            <a:avLst/>
          </a:prstGeom>
          <a:solidFill>
            <a:srgbClr val="FF5722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Абстрактни класове и методи - 2</a:t>
            </a:r>
            <a:endParaRPr b="1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0"/>
          <p:cNvSpPr txBox="1"/>
          <p:nvPr>
            <p:ph idx="1" type="body"/>
          </p:nvPr>
        </p:nvSpPr>
        <p:spPr>
          <a:xfrm>
            <a:off x="495217" y="1131600"/>
            <a:ext cx="8337000" cy="3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en" sz="1200"/>
              <a:t>class User extends AUser {</a:t>
            </a:r>
            <a:endParaRPr sz="1200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en" sz="1200"/>
              <a:t>	public function get(){</a:t>
            </a:r>
            <a:endParaRPr sz="1200"/>
          </a:p>
          <a:p>
            <a:pPr indent="45720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i="1" lang="en" sz="1200">
                <a:solidFill>
                  <a:srgbClr val="FF5722"/>
                </a:solidFill>
              </a:rPr>
              <a:t>//ако get_user() е описана в абстрактния AUser, </a:t>
            </a:r>
            <a:endParaRPr i="1" sz="1200">
              <a:solidFill>
                <a:srgbClr val="FF5722"/>
              </a:solidFill>
            </a:endParaRPr>
          </a:p>
          <a:p>
            <a:pPr indent="45720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i="1" lang="en" sz="1200">
                <a:solidFill>
                  <a:srgbClr val="FF5722"/>
                </a:solidFill>
              </a:rPr>
              <a:t>//предефинираме метода, при необходимост</a:t>
            </a:r>
            <a:endParaRPr i="1" sz="1200">
              <a:solidFill>
                <a:srgbClr val="FF5722"/>
              </a:solidFill>
            </a:endParaRPr>
          </a:p>
          <a:p>
            <a:pPr indent="45720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en" sz="1200"/>
              <a:t>return $this-&gt;get_user();</a:t>
            </a:r>
            <a:endParaRPr sz="1200"/>
          </a:p>
          <a:p>
            <a:pPr indent="45720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en" sz="1200"/>
              <a:t>}</a:t>
            </a:r>
            <a:endParaRPr sz="1200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en" sz="1200"/>
              <a:t>}</a:t>
            </a:r>
            <a:endParaRPr i="1" sz="1200">
              <a:solidFill>
                <a:srgbClr val="FF5722"/>
              </a:solidFill>
            </a:endParaRPr>
          </a:p>
        </p:txBody>
      </p:sp>
      <p:sp>
        <p:nvSpPr>
          <p:cNvPr id="118" name="Google Shape;118;p10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0"/>
          <p:cNvSpPr txBox="1"/>
          <p:nvPr/>
        </p:nvSpPr>
        <p:spPr>
          <a:xfrm>
            <a:off x="0" y="30300"/>
            <a:ext cx="9144000" cy="703800"/>
          </a:xfrm>
          <a:prstGeom prst="rect">
            <a:avLst/>
          </a:prstGeom>
          <a:solidFill>
            <a:srgbClr val="FF5722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Абстрактни класове и методи - 3</a:t>
            </a:r>
            <a:endParaRPr b="1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1"/>
          <p:cNvSpPr txBox="1"/>
          <p:nvPr>
            <p:ph idx="1" type="body"/>
          </p:nvPr>
        </p:nvSpPr>
        <p:spPr>
          <a:xfrm>
            <a:off x="495217" y="1131600"/>
            <a:ext cx="8337000" cy="3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en" sz="1200"/>
              <a:t>Абстрактния клас може да съдържа абстрактни методи.</a:t>
            </a:r>
            <a:endParaRPr sz="1200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b="1" lang="en" sz="1200">
                <a:solidFill>
                  <a:srgbClr val="FF5722"/>
                </a:solidFill>
              </a:rPr>
              <a:t>abstract</a:t>
            </a:r>
            <a:r>
              <a:rPr lang="en" sz="1200"/>
              <a:t> class AUser {</a:t>
            </a:r>
            <a:endParaRPr sz="1200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en" sz="1200"/>
              <a:t>….</a:t>
            </a:r>
            <a:endParaRPr sz="1200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en" sz="1200"/>
              <a:t>abstract function can();    </a:t>
            </a:r>
            <a:r>
              <a:rPr lang="en" sz="1200">
                <a:solidFill>
                  <a:srgbClr val="FF5722"/>
                </a:solidFill>
              </a:rPr>
              <a:t> //няма описание на метода, защото е абстрактен и </a:t>
            </a:r>
            <a:endParaRPr sz="1200">
              <a:solidFill>
                <a:srgbClr val="FF5722"/>
              </a:solidFill>
            </a:endParaRPr>
          </a:p>
          <a:p>
            <a:pPr indent="457200" lvl="0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en" sz="1200">
                <a:solidFill>
                  <a:srgbClr val="FF5722"/>
                </a:solidFill>
              </a:rPr>
              <a:t>//ще бъде описан в класа/класовете наследник/наследници</a:t>
            </a:r>
            <a:endParaRPr sz="1200">
              <a:solidFill>
                <a:srgbClr val="FF5722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en" sz="1200"/>
              <a:t>…….</a:t>
            </a:r>
            <a:endParaRPr sz="1200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en" sz="1200"/>
              <a:t>}</a:t>
            </a:r>
            <a:endParaRPr sz="1200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t/>
            </a:r>
            <a:endParaRPr sz="1200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t/>
            </a:r>
            <a:endParaRPr sz="1200"/>
          </a:p>
        </p:txBody>
      </p:sp>
      <p:sp>
        <p:nvSpPr>
          <p:cNvPr id="125" name="Google Shape;125;p11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1"/>
          <p:cNvSpPr txBox="1"/>
          <p:nvPr/>
        </p:nvSpPr>
        <p:spPr>
          <a:xfrm>
            <a:off x="0" y="30300"/>
            <a:ext cx="9144000" cy="703800"/>
          </a:xfrm>
          <a:prstGeom prst="rect">
            <a:avLst/>
          </a:prstGeom>
          <a:solidFill>
            <a:srgbClr val="FF5722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Абстрактни класове и методи - 4</a:t>
            </a:r>
            <a:endParaRPr b="1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2"/>
          <p:cNvSpPr txBox="1"/>
          <p:nvPr>
            <p:ph idx="1" type="body"/>
          </p:nvPr>
        </p:nvSpPr>
        <p:spPr>
          <a:xfrm>
            <a:off x="495217" y="1131600"/>
            <a:ext cx="8337000" cy="3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en" sz="1200"/>
              <a:t>Абстрактни методи - предназначение - </a:t>
            </a:r>
            <a:endParaRPr sz="1200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en" sz="1200"/>
              <a:t>При проектиране на приложението, все още не е ясна конкретната реализация на даден метод, но е ясно че той трябва да присъства. Ще бъде описан в наследниците на абстрактния метод.</a:t>
            </a:r>
            <a:endParaRPr sz="1200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t/>
            </a:r>
            <a:endParaRPr sz="1200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b="1" lang="en" sz="1200" u="sng">
                <a:solidFill>
                  <a:srgbClr val="FF5722"/>
                </a:solidFill>
              </a:rPr>
              <a:t>Абстрактният клас</a:t>
            </a:r>
            <a:r>
              <a:rPr lang="en" sz="1200"/>
              <a:t> може да съдържа или не абстрактни методи.</a:t>
            </a:r>
            <a:endParaRPr sz="1200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en" sz="1200"/>
              <a:t>Но </a:t>
            </a:r>
            <a:r>
              <a:rPr b="1" lang="en" sz="1200" u="sng">
                <a:solidFill>
                  <a:srgbClr val="FF5722"/>
                </a:solidFill>
              </a:rPr>
              <a:t>ако съдържа абстрактен метод</a:t>
            </a:r>
            <a:r>
              <a:rPr lang="en" sz="1200"/>
              <a:t>, </a:t>
            </a:r>
            <a:r>
              <a:rPr b="1" lang="en" sz="1200" u="sng">
                <a:solidFill>
                  <a:srgbClr val="FF5722"/>
                </a:solidFill>
              </a:rPr>
              <a:t>класът задължително е абстрактен.</a:t>
            </a:r>
            <a:endParaRPr b="1" sz="1200" u="sng">
              <a:solidFill>
                <a:srgbClr val="FF5722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t/>
            </a:r>
            <a:endParaRPr sz="1200" u="sng">
              <a:solidFill>
                <a:srgbClr val="FF5722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t/>
            </a:r>
            <a:endParaRPr sz="1200"/>
          </a:p>
        </p:txBody>
      </p:sp>
      <p:sp>
        <p:nvSpPr>
          <p:cNvPr id="132" name="Google Shape;132;p12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2"/>
          <p:cNvSpPr txBox="1"/>
          <p:nvPr/>
        </p:nvSpPr>
        <p:spPr>
          <a:xfrm>
            <a:off x="0" y="30300"/>
            <a:ext cx="9144000" cy="703800"/>
          </a:xfrm>
          <a:prstGeom prst="rect">
            <a:avLst/>
          </a:prstGeom>
          <a:solidFill>
            <a:srgbClr val="FF5722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Абстрактни класове и методи - 5</a:t>
            </a:r>
            <a:endParaRPr b="1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A77BA8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3"/>
          <p:cNvSpPr txBox="1"/>
          <p:nvPr>
            <p:ph type="title"/>
          </p:nvPr>
        </p:nvSpPr>
        <p:spPr>
          <a:xfrm>
            <a:off x="311700" y="18435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lang="en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Интерфейси</a:t>
            </a:r>
            <a:endParaRPr b="1" i="0" sz="3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4"/>
          <p:cNvSpPr txBox="1"/>
          <p:nvPr>
            <p:ph idx="1" type="body"/>
          </p:nvPr>
        </p:nvSpPr>
        <p:spPr>
          <a:xfrm>
            <a:off x="477551" y="1131600"/>
            <a:ext cx="8354700" cy="3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en"/>
              <a:t>Абстрактен клас, който съдържа само абстрактни методи. 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en"/>
              <a:t>В него няма свойства.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4"/>
          <p:cNvSpPr txBox="1"/>
          <p:nvPr/>
        </p:nvSpPr>
        <p:spPr>
          <a:xfrm>
            <a:off x="0" y="-41317"/>
            <a:ext cx="9144000" cy="703800"/>
          </a:xfrm>
          <a:prstGeom prst="rect">
            <a:avLst/>
          </a:prstGeom>
          <a:solidFill>
            <a:srgbClr val="A77BA8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Интерфейс</a:t>
            </a:r>
            <a:endParaRPr b="1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"/>
          <p:cNvSpPr txBox="1"/>
          <p:nvPr>
            <p:ph idx="1" type="body"/>
          </p:nvPr>
        </p:nvSpPr>
        <p:spPr>
          <a:xfrm>
            <a:off x="477551" y="1131600"/>
            <a:ext cx="8354700" cy="3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en"/>
              <a:t>interface iUser {</a:t>
            </a:r>
            <a:endParaRPr/>
          </a:p>
          <a:p>
            <a:pPr indent="45720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en"/>
              <a:t>public function get_user();</a:t>
            </a:r>
            <a:endParaRPr/>
          </a:p>
          <a:p>
            <a:pPr indent="45720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en"/>
              <a:t>public function get_role();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en"/>
              <a:t>}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b="1" lang="en">
                <a:solidFill>
                  <a:srgbClr val="A77BA8"/>
                </a:solidFill>
              </a:rPr>
              <a:t>*</a:t>
            </a:r>
            <a:r>
              <a:rPr b="1" i="1" lang="en">
                <a:solidFill>
                  <a:srgbClr val="A77BA8"/>
                </a:solidFill>
              </a:rPr>
              <a:t>В името, като добра практика поставяме i</a:t>
            </a:r>
            <a:endParaRPr b="1" i="1">
              <a:solidFill>
                <a:srgbClr val="A77BA8"/>
              </a:solidFill>
            </a:endParaRPr>
          </a:p>
        </p:txBody>
      </p:sp>
      <p:sp>
        <p:nvSpPr>
          <p:cNvPr id="150" name="Google Shape;150;p15"/>
          <p:cNvSpPr txBox="1"/>
          <p:nvPr/>
        </p:nvSpPr>
        <p:spPr>
          <a:xfrm>
            <a:off x="0" y="-41317"/>
            <a:ext cx="9144000" cy="703800"/>
          </a:xfrm>
          <a:prstGeom prst="rect">
            <a:avLst/>
          </a:prstGeom>
          <a:solidFill>
            <a:srgbClr val="A77BA8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Интерфейс - 2</a:t>
            </a:r>
            <a:endParaRPr b="1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6"/>
          <p:cNvSpPr txBox="1"/>
          <p:nvPr>
            <p:ph idx="1" type="body"/>
          </p:nvPr>
        </p:nvSpPr>
        <p:spPr>
          <a:xfrm>
            <a:off x="477551" y="1131600"/>
            <a:ext cx="8354700" cy="3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en"/>
              <a:t>Интерфейсът задължително се </a:t>
            </a:r>
            <a:r>
              <a:rPr i="1" lang="en"/>
              <a:t>наследява</a:t>
            </a:r>
            <a:r>
              <a:rPr lang="en"/>
              <a:t>*, но с ключовата дума </a:t>
            </a:r>
            <a:r>
              <a:rPr b="1" i="1" lang="en">
                <a:solidFill>
                  <a:srgbClr val="A77BA8"/>
                </a:solidFill>
              </a:rPr>
              <a:t>implements.</a:t>
            </a:r>
            <a:endParaRPr b="1" i="1">
              <a:solidFill>
                <a:srgbClr val="A77BA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en"/>
              <a:t> class User implements iUser {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en"/>
              <a:t>}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i="1" lang="en" sz="1400"/>
              <a:t>*в смисъла на по-скоро </a:t>
            </a:r>
            <a:r>
              <a:rPr i="1" lang="en" sz="1400" u="sng"/>
              <a:t>присвояване</a:t>
            </a:r>
            <a:r>
              <a:rPr i="1" lang="en" sz="1400"/>
              <a:t> на описаната в интерфейса функционалност, от даден клас</a:t>
            </a:r>
            <a:endParaRPr i="1" sz="1400"/>
          </a:p>
        </p:txBody>
      </p:sp>
      <p:sp>
        <p:nvSpPr>
          <p:cNvPr id="156" name="Google Shape;156;p16"/>
          <p:cNvSpPr txBox="1"/>
          <p:nvPr/>
        </p:nvSpPr>
        <p:spPr>
          <a:xfrm>
            <a:off x="0" y="-41317"/>
            <a:ext cx="9144000" cy="703800"/>
          </a:xfrm>
          <a:prstGeom prst="rect">
            <a:avLst/>
          </a:prstGeom>
          <a:solidFill>
            <a:srgbClr val="A77BA8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Интерфейс - 3</a:t>
            </a:r>
            <a:endParaRPr b="1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"/>
          <p:cNvSpPr txBox="1"/>
          <p:nvPr>
            <p:ph idx="1" type="body"/>
          </p:nvPr>
        </p:nvSpPr>
        <p:spPr>
          <a:xfrm>
            <a:off x="477551" y="1131600"/>
            <a:ext cx="8354700" cy="3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Класът, който използва интерфейса трябва задължително да опише метода, деклариран в интерфейса.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В описанието на метода трябва задължително да фигурират параметрите, които са посочени в интерфейса.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В интерфейса не трябва да присъстват private и protected методи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Интерфейс може да наследява друг интерфейс с ключовата дума extends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0" y="-41317"/>
            <a:ext cx="9144000" cy="703800"/>
          </a:xfrm>
          <a:prstGeom prst="rect">
            <a:avLst/>
          </a:prstGeom>
          <a:solidFill>
            <a:srgbClr val="A77BA8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Интерфейс - 3</a:t>
            </a:r>
            <a:endParaRPr b="1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8"/>
          <p:cNvSpPr txBox="1"/>
          <p:nvPr>
            <p:ph idx="1" type="body"/>
          </p:nvPr>
        </p:nvSpPr>
        <p:spPr>
          <a:xfrm>
            <a:off x="477551" y="1131600"/>
            <a:ext cx="8354700" cy="3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/>
              <a:t>Един клас може да използва </a:t>
            </a:r>
            <a:r>
              <a:rPr i="1" lang="en" u="sng"/>
              <a:t>няколко интерфейса**</a:t>
            </a:r>
            <a:r>
              <a:rPr lang="en"/>
              <a:t>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/>
              <a:t>class User implements iUser, iAdmin … {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/>
              <a:t>}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i="1" lang="en" sz="1400"/>
              <a:t>**докато клас може да наследява само един клас</a:t>
            </a:r>
            <a:endParaRPr i="1" sz="1400"/>
          </a:p>
        </p:txBody>
      </p:sp>
      <p:sp>
        <p:nvSpPr>
          <p:cNvPr id="168" name="Google Shape;168;p18"/>
          <p:cNvSpPr txBox="1"/>
          <p:nvPr/>
        </p:nvSpPr>
        <p:spPr>
          <a:xfrm>
            <a:off x="0" y="-41317"/>
            <a:ext cx="9144000" cy="703800"/>
          </a:xfrm>
          <a:prstGeom prst="rect">
            <a:avLst/>
          </a:prstGeom>
          <a:solidFill>
            <a:srgbClr val="A77BA8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Интерфейс - 4</a:t>
            </a:r>
            <a:endParaRPr b="1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theme/theme1.xml><?xml version="1.0" encoding="utf-8"?>
<a:theme xmlns:a="http://schemas.openxmlformats.org/drawingml/2006/main" xmlns:r="http://schemas.openxmlformats.org/officeDocument/2006/relationships" name="simple-light-2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